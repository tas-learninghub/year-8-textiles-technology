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c5a29259e644f3" /><Relationship Type="http://schemas.openxmlformats.org/officeDocument/2006/relationships/extended-properties" Target="/docProps/app.xml" Id="Ra00a6a55853f44a3" /><Relationship Type="http://schemas.openxmlformats.org/officeDocument/2006/relationships/officeDocument" Target="/ppt/presentation.xml" Id="Rda92baea07c14d19" /></Relationships>
</file>

<file path=ppt/presentation.xml><?xml version="1.0" encoding="utf-8"?>
<p:presentation xmlns:p="http://schemas.openxmlformats.org/presentationml/2006/main">
  <p:sldMasterIdLst>
    <p:sldMasterId xmlns:r="http://schemas.openxmlformats.org/officeDocument/2006/relationships" id="2147483648" r:id="Rccd1a657ce264eea"/>
  </p:sldMasterIdLst>
  <p:notesMasterIdLst>
    <p:notesMasterId xmlns:r="http://schemas.openxmlformats.org/officeDocument/2006/relationships" r:id="R3da9958af0124d2c"/>
  </p:notesMasterIdLst>
  <p:sldIdLst>
    <p:sldId xmlns:r="http://schemas.openxmlformats.org/officeDocument/2006/relationships" id="256" r:id="R882b831bf81a4cf6"/>
    <p:sldId xmlns:r="http://schemas.openxmlformats.org/officeDocument/2006/relationships" id="257" r:id="Rc2d6a4caab8f46e3"/>
    <p:sldId xmlns:r="http://schemas.openxmlformats.org/officeDocument/2006/relationships" id="258" r:id="Re791cadf0ca04d6b"/>
    <p:sldId xmlns:r="http://schemas.openxmlformats.org/officeDocument/2006/relationships" id="259" r:id="R026be0b83743409d"/>
    <p:sldId xmlns:r="http://schemas.openxmlformats.org/officeDocument/2006/relationships" id="260" r:id="R6460deeb14694979"/>
    <p:sldId xmlns:r="http://schemas.openxmlformats.org/officeDocument/2006/relationships" id="261" r:id="R94a7e7bec22e4822"/>
    <p:sldId xmlns:r="http://schemas.openxmlformats.org/officeDocument/2006/relationships" id="262" r:id="Rc6f66de484704718"/>
    <p:sldId xmlns:r="http://schemas.openxmlformats.org/officeDocument/2006/relationships" id="263" r:id="R935a8766856143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57df96f57b4c67" /><Relationship Type="http://schemas.openxmlformats.org/officeDocument/2006/relationships/slideMaster" Target="/ppt/slideMasters/slideMaster1.xml" Id="Rccd1a657ce264eea" /><Relationship Type="http://schemas.openxmlformats.org/officeDocument/2006/relationships/notesMaster" Target="/ppt/notesMasters/notesMaster1.xml" Id="R3da9958af0124d2c" /><Relationship Type="http://schemas.openxmlformats.org/officeDocument/2006/relationships/presProps" Target="/ppt/presProps.xml" Id="Rbfa26cc69b6d4440" /><Relationship Type="http://schemas.openxmlformats.org/officeDocument/2006/relationships/tableStyles" Target="/ppt/tableStyles.xml" Id="Rf1391d6015f94521" /><Relationship Type="http://schemas.openxmlformats.org/officeDocument/2006/relationships/slide" Target="/ppt/slides/slide1.xml" Id="R882b831bf81a4cf6" /><Relationship Type="http://schemas.openxmlformats.org/officeDocument/2006/relationships/slide" Target="/ppt/slides/slide2.xml" Id="Rc2d6a4caab8f46e3" /><Relationship Type="http://schemas.openxmlformats.org/officeDocument/2006/relationships/slide" Target="/ppt/slides/slide3.xml" Id="Re791cadf0ca04d6b" /><Relationship Type="http://schemas.openxmlformats.org/officeDocument/2006/relationships/slide" Target="/ppt/slides/slide4.xml" Id="R026be0b83743409d" /><Relationship Type="http://schemas.openxmlformats.org/officeDocument/2006/relationships/slide" Target="/ppt/slides/slide5.xml" Id="R6460deeb14694979" /><Relationship Type="http://schemas.openxmlformats.org/officeDocument/2006/relationships/slide" Target="/ppt/slides/slide6.xml" Id="R94a7e7bec22e4822" /><Relationship Type="http://schemas.openxmlformats.org/officeDocument/2006/relationships/slide" Target="/ppt/slides/slide7.xml" Id="Rc6f66de484704718" /><Relationship Type="http://schemas.openxmlformats.org/officeDocument/2006/relationships/slide" Target="/ppt/slides/slide8.xml" Id="R935a8766856143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0456c76ddb47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9ee5c276c34ab7" /><Relationship Type="http://schemas.openxmlformats.org/officeDocument/2006/relationships/notesMaster" Target="/ppt/notesMasters/notesMaster1.xml" Id="R1b389563b44f40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882f86f8c84a2a" /><Relationship Type="http://schemas.openxmlformats.org/officeDocument/2006/relationships/notesMaster" Target="/ppt/notesMasters/notesMaster1.xml" Id="R99dbc0b1bb1b4b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47504d3d714100" /><Relationship Type="http://schemas.openxmlformats.org/officeDocument/2006/relationships/notesMaster" Target="/ppt/notesMasters/notesMaster1.xml" Id="R96bfcc0969754e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c7c65602fb4438" /><Relationship Type="http://schemas.openxmlformats.org/officeDocument/2006/relationships/notesMaster" Target="/ppt/notesMasters/notesMaster1.xml" Id="Rb8e9d9e0675849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9ab0f392704c46" /><Relationship Type="http://schemas.openxmlformats.org/officeDocument/2006/relationships/notesMaster" Target="/ppt/notesMasters/notesMaster1.xml" Id="R5bba163e953747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754bd3fe504c14" /><Relationship Type="http://schemas.openxmlformats.org/officeDocument/2006/relationships/notesMaster" Target="/ppt/notesMasters/notesMaster1.xml" Id="Ra9225337c5c147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f8b66c5444403d" /><Relationship Type="http://schemas.openxmlformats.org/officeDocument/2006/relationships/notesMaster" Target="/ppt/notesMasters/notesMaster1.xml" Id="R34e1a968fa7d43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8ec34359b5422c" /><Relationship Type="http://schemas.openxmlformats.org/officeDocument/2006/relationships/notesMaster" Target="/ppt/notesMasters/notesMaster1.xml" Id="Rbe3e05958dd943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Introduce Pincushion Project as a connected set of three ideas, not three isolated worksheets.</a:t>
            </a:r>
          </a:p>
          <a:p xmlns:a="http://schemas.openxmlformats.org/drawingml/2006/main">
            <a:r>
              <a:t>- Read the outcome aloud and link it to the current project stage.</a:t>
            </a:r>
          </a:p>
          <a:p xmlns:a="http://schemas.openxmlformats.org/drawingml/2006/main">
            <a:r>
              <a:t>- Keep local machine, pattern, safety and assessment details within the current teacher demonstration and authorised class documents.</a:t>
            </a:r>
          </a:p>
          <a:p xmlns:a="http://schemas.openxmlformats.org/drawingml/2006/main">
            <a:r>
              <a:t/>
            </a:r>
          </a:p>
          <a:p xmlns:a="http://schemas.openxmlformats.org/drawingml/2006/main">
            <a:r>
              <a:t>Prompt: Which word in the outcome tells us what evidence we need to produce?</a:t>
            </a:r>
          </a:p>
          <a:p xmlns:a="http://schemas.openxmlformats.org/drawingml/2006/main">
            <a:r>
              <a:t>Likely misconception: Finishing a slide deck is the evidence; the evidence is the student's explanation and project decision.</a:t>
            </a:r>
          </a:p>
          <a:p xmlns:a="http://schemas.openxmlformats.org/drawingml/2006/main">
            <a:r>
              <a:t>Transition: Preview the three ideas and activate prior knowledge.</a:t>
            </a:r>
          </a:p>
          <a:p xmlns:a="http://schemas.openxmlformats.org/drawingml/2006/main">
            <a:r>
              <a:t/>
            </a:r>
          </a:p>
          <a:p xmlns:a="http://schemas.openxmlformats.org/drawingml/2006/main">
            <a:r>
              <a:t>[Sources]</a:t>
            </a:r>
          </a:p>
          <a:p xmlns:a="http://schemas.openxmlformats.org/drawingml/2006/main">
            <a:r>
              <a:t>- Course sequence: WWHS Year 8 Accessories and Shorts Textiles Technology Program 2024, as bounded by source map v1.0.</a:t>
            </a:r>
          </a:p>
          <a:p xmlns:a="http://schemas.openxmlformats.org/drawingml/2006/main">
            <a:r>
              <a:t>- Curriculum: NESA Textiles Technology 7–10 Syllabus (2025), https://curriculum.nsw.edu.au/learning-areas/tas/textiles-technology-7-10-2025/overview/course</a:t>
            </a:r>
          </a:p>
          <a:p xmlns:a="http://schemas.openxmlformats.org/drawingml/2006/main">
            <a:r>
              <a:t>- Visual: Stage 08 approved module asset module-03-pincushion-project.png;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Name all three substantive sections using the exact module language.</a:t>
            </a:r>
          </a:p>
          <a:p xmlns:a="http://schemas.openxmlformats.org/drawingml/2006/main">
            <a:r>
              <a:t>- Ask students to predict where the ideas connect to current project work.</a:t>
            </a:r>
          </a:p>
          <a:p xmlns:a="http://schemas.openxmlformats.org/drawingml/2006/main">
            <a:r>
              <a:t>- Accept a tentative response, but ask what evidence supports it.</a:t>
            </a:r>
          </a:p>
          <a:p xmlns:a="http://schemas.openxmlformats.org/drawingml/2006/main">
            <a:r>
              <a:t/>
            </a:r>
          </a:p>
          <a:p xmlns:a="http://schemas.openxmlformats.org/drawingml/2006/main">
            <a:r>
              <a:t>Prompt: Which idea is most likely to change a practical or design decision today?</a:t>
            </a:r>
          </a:p>
          <a:p xmlns:a="http://schemas.openxmlformats.org/drawingml/2006/main">
            <a:r>
              <a:t>Likely misconception: The sequence means students can forget idea one after moving to idea two; the ideas need to remain connected.</a:t>
            </a:r>
          </a:p>
          <a:p xmlns:a="http://schemas.openxmlformats.org/drawingml/2006/main">
            <a:r>
              <a:t>Transition: Begin with Brief and success criteria.</a:t>
            </a:r>
          </a:p>
          <a:p xmlns:a="http://schemas.openxmlformats.org/drawingml/2006/main">
            <a:r>
              <a:t/>
            </a:r>
          </a:p>
          <a:p xmlns:a="http://schemas.openxmlformats.org/drawingml/2006/main">
            <a:r>
              <a:t>[Sources]</a:t>
            </a:r>
          </a:p>
          <a:p xmlns:a="http://schemas.openxmlformats.org/drawingml/2006/main">
            <a:r>
              <a:t>- Named section sequence: frozen Stage 01 course inventory and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Teach students to interpret the authorised pincushion project as a design problem and create measurable practice criteria without inventing specifications.</a:t>
            </a:r>
          </a:p>
          <a:p xmlns:a="http://schemas.openxmlformats.org/drawingml/2006/main">
            <a:r>
              <a:t>- Emphasise: A brief identifies the product, user, purpose and confirmed constraints.</a:t>
            </a:r>
          </a:p>
          <a:p xmlns:a="http://schemas.openxmlformats.org/drawingml/2006/main">
            <a:r>
              <a:t>- Connect the image to the decision: Show an annotated brief moving into separate facts, constraints, questions, criteria and evidence plans.</a:t>
            </a:r>
          </a:p>
          <a:p xmlns:a="http://schemas.openxmlformats.org/drawingml/2006/main">
            <a:r>
              <a:t/>
            </a:r>
          </a:p>
          <a:p xmlns:a="http://schemas.openxmlformats.org/drawingml/2006/main">
            <a:r>
              <a:t>Prompt: Justify three criteria by linking each one to a confirmed need in the brief and a suitable method of gathering evidence.</a:t>
            </a:r>
          </a:p>
          <a:p xmlns:a="http://schemas.openxmlformats.org/drawingml/2006/main">
            <a:r>
              <a:t>Likely misconception: A brief tells the designer exactly what the product should look like. Correction: A brief frames the problem and limits; designers still develop and justify possible responses.</a:t>
            </a:r>
          </a:p>
          <a:p xmlns:a="http://schemas.openxmlformats.org/drawingml/2006/main">
            <a:r>
              <a:t>Transition: Carry this decision into Plan, materials and technique sample.</a:t>
            </a:r>
          </a:p>
          <a:p xmlns:a="http://schemas.openxmlformats.org/drawingml/2006/main">
            <a:r>
              <a:t/>
            </a:r>
          </a:p>
          <a:p xmlns:a="http://schemas.openxmlformats.org/drawingml/2006/main">
            <a:r>
              <a:t>[Sources]</a:t>
            </a:r>
          </a:p>
          <a:p xmlns:a="http://schemas.openxmlformats.org/drawingml/2006/main">
            <a:r>
              <a:t>- Content: Year 8 Textiles theory package v1.0; source domains pincushion project identity; design brief; criteria and evidence planning.</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m03-s01-pincushion-criteria.png;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Develop source-safe planning, material justification and sampling for the pincushion project before final construction.</a:t>
            </a:r>
          </a:p>
          <a:p xmlns:a="http://schemas.openxmlformats.org/drawingml/2006/main">
            <a:r>
              <a:t>- Emphasise: Material choices should connect properties and evidence to confirmed product needs.</a:t>
            </a:r>
          </a:p>
          <a:p xmlns:a="http://schemas.openxmlformats.org/drawingml/2006/main">
            <a:r>
              <a:t>- Connect the image to the decision: Show a planning pathway linking material choice, dependencies, checkpoints, one-variable sampling and a recorded decision.</a:t>
            </a:r>
          </a:p>
          <a:p xmlns:a="http://schemas.openxmlformats.org/drawingml/2006/main">
            <a:r>
              <a:t/>
            </a:r>
          </a:p>
          <a:p xmlns:a="http://schemas.openxmlformats.org/drawingml/2006/main">
            <a:r>
              <a:t>Prompt: Explain how the selected material and one technique sample respond to confirmed criteria, including what evidence supports the next-step decision.</a:t>
            </a:r>
          </a:p>
          <a:p xmlns:a="http://schemas.openxmlformats.org/drawingml/2006/main">
            <a:r>
              <a:t>Likely misconception: A production plan is just a numbered list copied from instructions. Correction: A useful plan also shows resources, dependencies, checks, evidence and places where approval or adjustment may be needed.</a:t>
            </a:r>
          </a:p>
          <a:p xmlns:a="http://schemas.openxmlformats.org/drawingml/2006/main">
            <a:r>
              <a:t>Transition: Carry this decision into Make, evaluate and improve.</a:t>
            </a:r>
          </a:p>
          <a:p xmlns:a="http://schemas.openxmlformats.org/drawingml/2006/main">
            <a:r>
              <a:t/>
            </a:r>
          </a:p>
          <a:p xmlns:a="http://schemas.openxmlformats.org/drawingml/2006/main">
            <a:r>
              <a:t>[Sources]</a:t>
            </a:r>
          </a:p>
          <a:p xmlns:a="http://schemas.openxmlformats.org/drawingml/2006/main">
            <a:r>
              <a:t>- Content: Year 8 Textiles theory package v1.0; source domains pincushion planning; material selection; design experimentation.</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m03-s02-pincushion-plan.png;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Teach students to monitor a small project against criteria, use evidence to evaluate the result and identify a realistic improvement.</a:t>
            </a:r>
          </a:p>
          <a:p xmlns:a="http://schemas.openxmlformats.org/drawingml/2006/main">
            <a:r>
              <a:t>- Emphasise: Quality control happens at planned stages while useful change may still be possible.</a:t>
            </a:r>
          </a:p>
          <a:p xmlns:a="http://schemas.openxmlformats.org/drawingml/2006/main">
            <a:r>
              <a:t>- Connect the image to the decision: Show a project timeline with progress checkpoints, evidence capture, authorised adjustment and criterion-based final evaluation.</a:t>
            </a:r>
          </a:p>
          <a:p xmlns:a="http://schemas.openxmlformats.org/drawingml/2006/main">
            <a:r>
              <a:t/>
            </a:r>
          </a:p>
          <a:p xmlns:a="http://schemas.openxmlformats.org/drawingml/2006/main">
            <a:r>
              <a:t>Prompt: Evaluate one pincushion criterion using progress and final evidence, explain any trade-off and justify one realistic improvement.</a:t>
            </a:r>
          </a:p>
          <a:p xmlns:a="http://schemas.openxmlformats.org/drawingml/2006/main">
            <a:r>
              <a:t>Likely misconception: Evaluation begins after the product is finished. Correction: Ongoing evaluation begins during planning and continues through checkpoints, production and final review.</a:t>
            </a:r>
          </a:p>
          <a:p xmlns:a="http://schemas.openxmlformats.org/drawingml/2006/main">
            <a:r>
              <a:t>Transition: Pause for retrieval before students construct evidence.</a:t>
            </a:r>
          </a:p>
          <a:p xmlns:a="http://schemas.openxmlformats.org/drawingml/2006/main">
            <a:r>
              <a:t/>
            </a:r>
          </a:p>
          <a:p xmlns:a="http://schemas.openxmlformats.org/drawingml/2006/main">
            <a:r>
              <a:t>[Sources]</a:t>
            </a:r>
          </a:p>
          <a:p xmlns:a="http://schemas.openxmlformats.org/drawingml/2006/main">
            <a:r>
              <a:t>- Content: Year 8 Textiles theory package v1.0; source domains pincushion project; ongoing evaluation; quality and improvement.</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m03-s03-pincushion-evaluate.png;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Give silent thinking time before taking answers.</a:t>
            </a:r>
          </a:p>
          <a:p xmlns:a="http://schemas.openxmlformats.org/drawingml/2006/main">
            <a:r>
              <a:t>- Require students to correct the claim, not only label it true or false.</a:t>
            </a:r>
          </a:p>
          <a:p xmlns:a="http://schemas.openxmlformats.org/drawingml/2006/main">
            <a:r>
              <a:t>- Ask a follow-up: What evidence from slides 3–5 supports that correction?</a:t>
            </a:r>
          </a:p>
          <a:p xmlns:a="http://schemas.openxmlformats.org/drawingml/2006/main">
            <a:r>
              <a:t/>
            </a:r>
          </a:p>
          <a:p xmlns:a="http://schemas.openxmlformats.org/drawingml/2006/main">
            <a:r>
              <a:t>Prompt: Which correction becomes stronger when you use an example from your own project?</a:t>
            </a:r>
          </a:p>
          <a:p xmlns:a="http://schemas.openxmlformats.org/drawingml/2006/main">
            <a:r>
              <a:t>Likely misconception: Retrieval is guessing; retrieval should reconstruct the idea and its evidence.</a:t>
            </a:r>
          </a:p>
          <a:p xmlns:a="http://schemas.openxmlformats.org/drawingml/2006/main">
            <a:r>
              <a:t>Transition: Use the corrected ideas to build one longer piece of evidence.</a:t>
            </a:r>
          </a:p>
          <a:p xmlns:a="http://schemas.openxmlformats.org/drawingml/2006/main">
            <a:r>
              <a:t/>
            </a:r>
          </a:p>
          <a:p xmlns:a="http://schemas.openxmlformats.org/drawingml/2006/main">
            <a:r>
              <a:t>[Sources]</a:t>
            </a:r>
          </a:p>
          <a:p xmlns:a="http://schemas.openxmlformats.org/drawingml/2006/main">
            <a:r>
              <a:t>- Retrieval claims: misconceptions and corrections in the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Model the four moves with one brief example, then remove the example from view.</a:t>
            </a:r>
          </a:p>
          <a:p xmlns:a="http://schemas.openxmlformats.org/drawingml/2006/main">
            <a:r>
              <a:t>- The selected evidence must answer the exact context, not merely repeat a definition.</a:t>
            </a:r>
          </a:p>
          <a:p xmlns:a="http://schemas.openxmlformats.org/drawingml/2006/main">
            <a:r>
              <a:t>- Use the sentence support as a starting structure; students may improve it in their own words.</a:t>
            </a:r>
          </a:p>
          <a:p xmlns:a="http://schemas.openxmlformats.org/drawingml/2006/main">
            <a:r>
              <a:t/>
            </a:r>
          </a:p>
          <a:p xmlns:a="http://schemas.openxmlformats.org/drawingml/2006/main">
            <a:r>
              <a:t>Prompt: Which evidence is most relevant, and which tempting detail should be left out?</a:t>
            </a:r>
          </a:p>
          <a:p xmlns:a="http://schemas.openxmlformats.org/drawingml/2006/main">
            <a:r>
              <a:t>Likely misconception: A longer response is automatically stronger; relevance and explanation matter more than length.</a:t>
            </a:r>
          </a:p>
          <a:p xmlns:a="http://schemas.openxmlformats.org/drawingml/2006/main">
            <a:r>
              <a:t>Transition: Students now save the response in the matching module learning package.</a:t>
            </a:r>
          </a:p>
          <a:p xmlns:a="http://schemas.openxmlformats.org/drawingml/2006/main">
            <a:r>
              <a:t/>
            </a:r>
          </a:p>
          <a:p xmlns:a="http://schemas.openxmlformats.org/drawingml/2006/main">
            <a:r>
              <a:t>[Sources]</a:t>
            </a:r>
          </a:p>
          <a:p xmlns:a="http://schemas.openxmlformats.org/drawingml/2006/main">
            <a:r>
              <a:t>- Guided response: evidence prompt for m03-s03 in the Year 8 Textiles theory package v1.0.</a:t>
            </a:r>
          </a:p>
          <a:p xmlns:a="http://schemas.openxmlformats.org/drawingml/2006/main">
            <a:r>
              <a:t>- Curriculum context: NESA Textiles Technology 7–10 Syllabus (2025), https://curriculum.nsw.edu.au/learning-areas/tas/textiles-technology-7-10-2025/outcomes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Use the three-part exit ticket as a quick verbal or written check.</a:t>
            </a:r>
          </a:p>
          <a:p xmlns:a="http://schemas.openxmlformats.org/drawingml/2006/main">
            <a:r>
              <a:t>- Direct students to the module page so the evidence is saved in the correct learning package.</a:t>
            </a:r>
          </a:p>
          <a:p xmlns:a="http://schemas.openxmlformats.org/drawingml/2006/main">
            <a:r>
              <a:t>- Preview the connection to Sewing Bag Project.</a:t>
            </a:r>
          </a:p>
          <a:p xmlns:a="http://schemas.openxmlformats.org/drawingml/2006/main">
            <a:r>
              <a:t/>
            </a:r>
          </a:p>
          <a:p xmlns:a="http://schemas.openxmlformats.org/drawingml/2006/main">
            <a:r>
              <a:t>Prompt: Which answer would you be willing to improve after receiving feedback?</a:t>
            </a:r>
          </a:p>
          <a:p xmlns:a="http://schemas.openxmlformats.org/drawingml/2006/main">
            <a:r>
              <a:t>Likely misconception: Saving work means it is finished; saved evidence can still be reviewed and improved.</a:t>
            </a:r>
          </a:p>
          <a:p xmlns:a="http://schemas.openxmlformats.org/drawingml/2006/main">
            <a:r>
              <a:t>Transition: Continue to Sewing Bag Project when the class sequence is ready.</a:t>
            </a:r>
          </a:p>
          <a:p xmlns:a="http://schemas.openxmlformats.org/drawingml/2006/main">
            <a:r>
              <a:t/>
            </a:r>
          </a:p>
          <a:p xmlns:a="http://schemas.openxmlformats.org/drawingml/2006/main">
            <a:r>
              <a:t>[Sources]</a:t>
            </a:r>
          </a:p>
          <a:p xmlns:a="http://schemas.openxmlformats.org/drawingml/2006/main">
            <a:r>
              <a:t>- Evidence destination: frozen family learning-package contract and local autosave workflow.</a:t>
            </a:r>
          </a:p>
          <a:p xmlns:a="http://schemas.openxmlformats.org/drawingml/2006/main">
            <a:r>
              <a:t>- Module sequence: WWHS Year 8 Accessories and Shorts Textiles Technology Program 2024, as bounded by source map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434e8e074a4a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d73ee3adcb4d3b" /><Relationship Type="http://schemas.openxmlformats.org/officeDocument/2006/relationships/slideLayout" Target="/ppt/slideLayouts/slideLayout1.xml" Id="R2b697099039a4d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697099039a4d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c592cc73c2482a" /><Relationship Type="http://schemas.openxmlformats.org/officeDocument/2006/relationships/image" Target="/ppt/media/image.png" Id="R70ce6c2e778c4ed2" /><Relationship Type="http://schemas.openxmlformats.org/officeDocument/2006/relationships/notesSlide" Target="/ppt/notesSlides/notesSlide1.xml" Id="Rc573e02bc15f46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91d2d05e36430d" /><Relationship Type="http://schemas.openxmlformats.org/officeDocument/2006/relationships/notesSlide" Target="/ppt/notesSlides/notesSlide2.xml" Id="Rc228b1b9af5b4c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1640056ac6428f" /><Relationship Type="http://schemas.openxmlformats.org/officeDocument/2006/relationships/image" Target="/ppt/media/image2.png" Id="Rebd8c8b183344269" /><Relationship Type="http://schemas.openxmlformats.org/officeDocument/2006/relationships/notesSlide" Target="/ppt/notesSlides/notesSlide3.xml" Id="R30fac827505949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4ded9c2d2d453e" /><Relationship Type="http://schemas.openxmlformats.org/officeDocument/2006/relationships/image" Target="/ppt/media/image3.png" Id="R04247866104a4e86" /><Relationship Type="http://schemas.openxmlformats.org/officeDocument/2006/relationships/notesSlide" Target="/ppt/notesSlides/notesSlide4.xml" Id="R21de7c57bbbf41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2d017a09aa4581" /><Relationship Type="http://schemas.openxmlformats.org/officeDocument/2006/relationships/image" Target="/ppt/media/image4.png" Id="R97f1a069ceed4847" /><Relationship Type="http://schemas.openxmlformats.org/officeDocument/2006/relationships/notesSlide" Target="/ppt/notesSlides/notesSlide5.xml" Id="Re98bb6071f0f4b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d29baaba5f482c" /><Relationship Type="http://schemas.openxmlformats.org/officeDocument/2006/relationships/notesSlide" Target="/ppt/notesSlides/notesSlide6.xml" Id="R7587e87e60bb45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ff0fccf8bad4d2e" /><Relationship Type="http://schemas.openxmlformats.org/officeDocument/2006/relationships/notesSlide" Target="/ppt/notesSlides/notesSlide7.xml" Id="R66f4f6532cdb47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d16ad2c8b34305" /><Relationship Type="http://schemas.openxmlformats.org/officeDocument/2006/relationships/notesSlide" Target="/ppt/notesSlides/notesSlide8.xml" Id="R2ba43284dc2a46ec" /></Relationships>
</file>

<file path=ppt/slides/slide1.xml><?xml version="1.0" encoding="utf-8"?>
<p:sld xmlns:p="http://schemas.openxmlformats.org/presentationml/2006/main">
  <p:cSld>
    <p:bg>
      <p:bgPr>
        <a:solidFill xmlns:a="http://schemas.openxmlformats.org/drawingml/2006/main">
          <a:srgbClr val="2A101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0ce6c2e778c4ed2"/>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title-panel">
            <a:extLst xmlns:a="http://schemas.openxmlformats.org/drawingml/2006/main">
              <a:ext uri="{FF2B5EF4-FFF2-40B4-BE49-F238E27FC236}">
                <a16:creationId xmlns:a16="http://schemas.microsoft.com/office/drawing/2014/main" id="{7640D2EA-9AB4-4535-90DF-DDE1FA4D0616}"/>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2A101C"/>
          </a:solidFill>
          <a:ln xmlns:a="http://schemas.openxmlformats.org/drawingml/2006/main" w="0">
            <a:noFill/>
            <a:prstDash val="solid"/>
          </a:ln>
        </p:spPr>
      </p:sp>
      <p:sp>
        <p:nvSpPr>
          <p:cNvPr id="3" name="title-accent">
            <a:extLst xmlns:a="http://schemas.openxmlformats.org/drawingml/2006/main">
              <a:ext uri="{FF2B5EF4-FFF2-40B4-BE49-F238E27FC236}">
                <a16:creationId xmlns:a16="http://schemas.microsoft.com/office/drawing/2014/main" id="{07106D54-740C-4A04-B35E-B092F229690E}"/>
              </a:ext>
            </a:extLst>
          </p:cNvPr>
          <p:cNvSpPr>
            <a:spLocks xmlns:a="http://schemas.openxmlformats.org/drawingml/2006/main" noGrp="1"/>
          </p:cNvSpPr>
          <p:nvPr/>
        </p:nvSpPr>
        <p:spPr>
          <a:xfrm xmlns:a="http://schemas.openxmlformats.org/drawingml/2006/main">
            <a:off x="5619750" y="0"/>
            <a:ext cx="133350" cy="68580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4" name="module-label">
            <a:extLst xmlns:a="http://schemas.openxmlformats.org/drawingml/2006/main">
              <a:ext uri="{FF2B5EF4-FFF2-40B4-BE49-F238E27FC236}">
                <a16:creationId xmlns:a16="http://schemas.microsoft.com/office/drawing/2014/main" id="{242A235D-ED9B-4EF6-BC2F-112898122A98}"/>
              </a:ext>
            </a:extLst>
          </p:cNvPr>
          <p:cNvSpPr>
            <a:spLocks xmlns:a="http://schemas.openxmlformats.org/drawingml/2006/main" noGrp="1"/>
          </p:cNvSpPr>
          <p:nvPr/>
        </p:nvSpPr>
        <p:spPr>
          <a:xfrm xmlns:a="http://schemas.openxmlformats.org/drawingml/2006/main">
            <a:off x="647700" y="7048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A238"/>
                </a:solidFill>
              </a:defRPr>
            </a:pPr>
            <a:r>
              <a:rPr sz="1275" b="1">
                <a:solidFill>
                  <a:srgbClr val="D6A238"/>
                </a:solidFill>
              </a:rPr>
              <a:t>MODULE 03 · WEEK 4</a:t>
            </a:r>
          </a:p>
        </p:txBody>
      </p:sp>
      <p:sp>
        <p:nvSpPr>
          <p:cNvPr id="5" name="deck-title">
            <a:extLst xmlns:a="http://schemas.openxmlformats.org/drawingml/2006/main">
              <a:ext uri="{FF2B5EF4-FFF2-40B4-BE49-F238E27FC236}">
                <a16:creationId xmlns:a16="http://schemas.microsoft.com/office/drawing/2014/main" id="{5C179BFF-CCFD-4720-BE83-B4F43B32D422}"/>
              </a:ext>
            </a:extLst>
          </p:cNvPr>
          <p:cNvSpPr>
            <a:spLocks xmlns:a="http://schemas.openxmlformats.org/drawingml/2006/main" noGrp="1"/>
          </p:cNvSpPr>
          <p:nvPr/>
        </p:nvSpPr>
        <p:spPr>
          <a:xfrm xmlns:a="http://schemas.openxmlformats.org/drawingml/2006/main">
            <a:off x="647700" y="1752600"/>
            <a:ext cx="4619625"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Pincushion Project</a:t>
            </a:r>
          </a:p>
        </p:txBody>
      </p:sp>
      <p:sp>
        <p:nvSpPr>
          <p:cNvPr id="6" name="module-outcome">
            <a:extLst xmlns:a="http://schemas.openxmlformats.org/drawingml/2006/main">
              <a:ext uri="{FF2B5EF4-FFF2-40B4-BE49-F238E27FC236}">
                <a16:creationId xmlns:a16="http://schemas.microsoft.com/office/drawing/2014/main" id="{956F28E2-6E69-4122-8B61-A2B7A43AAABE}"/>
              </a:ext>
            </a:extLst>
          </p:cNvPr>
          <p:cNvSpPr>
            <a:spLocks xmlns:a="http://schemas.openxmlformats.org/drawingml/2006/main" noGrp="1"/>
          </p:cNvSpPr>
          <p:nvPr/>
        </p:nvSpPr>
        <p:spPr>
          <a:xfrm xmlns:a="http://schemas.openxmlformats.org/drawingml/2006/main">
            <a:off x="647700" y="3857625"/>
            <a:ext cx="4476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7EAF0"/>
                </a:solidFill>
              </a:defRPr>
            </a:pPr>
            <a:r>
              <a:rPr sz="1800" b="0">
                <a:solidFill>
                  <a:srgbClr val="F7EAF0"/>
                </a:solidFill>
              </a:rPr>
              <a:t>Plan, make and evaluate a pincushion against clear success criteria.</a:t>
            </a:r>
          </a:p>
        </p:txBody>
      </p:sp>
      <p:sp>
        <p:nvSpPr>
          <p:cNvPr id="7" name="deck-context">
            <a:extLst xmlns:a="http://schemas.openxmlformats.org/drawingml/2006/main">
              <a:ext uri="{FF2B5EF4-FFF2-40B4-BE49-F238E27FC236}">
                <a16:creationId xmlns:a16="http://schemas.microsoft.com/office/drawing/2014/main" id="{95CB5D45-A6EB-48DE-B395-1D2A9A36B659}"/>
              </a:ext>
            </a:extLst>
          </p:cNvPr>
          <p:cNvSpPr>
            <a:spLocks xmlns:a="http://schemas.openxmlformats.org/drawingml/2006/main" noGrp="1"/>
          </p:cNvSpPr>
          <p:nvPr/>
        </p:nvSpPr>
        <p:spPr>
          <a:xfrm xmlns:a="http://schemas.openxmlformats.org/drawingml/2006/main">
            <a:off x="647700" y="60198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D5BCC6"/>
                </a:solidFill>
              </a:defRPr>
            </a:pPr>
            <a:r>
              <a:rPr sz="1125" b="0">
                <a:solidFill>
                  <a:srgbClr val="D5BCC6"/>
                </a:solidFill>
              </a:rPr>
              <a:t>Teacher-led classroom presentation</a:t>
            </a:r>
          </a:p>
        </p:txBody>
      </p:sp>
    </p:spTree>
    <p:extLst>
      <p:ext uri="{BB962C8B-B14F-4D97-AF65-F5344CB8AC3E}">
        <p14:creationId xmlns:p14="http://schemas.microsoft.com/office/powerpoint/2010/main" val="487401027"/>
      </p:ext>
    </p:extLst>
  </p:cSld>
</p:sld>
</file>

<file path=ppt/slides/slide2.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8" name="top-accent">
            <a:extLst xmlns:a="http://schemas.openxmlformats.org/drawingml/2006/main">
              <a:ext uri="{FF2B5EF4-FFF2-40B4-BE49-F238E27FC236}">
                <a16:creationId xmlns:a16="http://schemas.microsoft.com/office/drawing/2014/main" id="{60115296-A0D8-4806-AA12-D27B70E54EF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B2586161-2FB6-4C7D-AD05-BD1AE0D4B356}"/>
              </a:ext>
            </a:extLst>
          </p:cNvPr>
          <p:cNvSpPr>
            <a:spLocks xmlns:a="http://schemas.openxmlformats.org/drawingml/2006/main" noGrp="1"/>
          </p:cNvSpPr>
          <p:nvPr/>
        </p:nvSpPr>
        <p:spPr>
          <a:xfrm xmlns:a="http://schemas.openxmlformats.org/drawingml/2006/main">
            <a:off x="609600" y="55245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Three ideas, one connected decision</a:t>
            </a:r>
          </a:p>
        </p:txBody>
      </p:sp>
      <p:sp>
        <p:nvSpPr>
          <p:cNvPr id="3" name="learning-map-intro">
            <a:extLst xmlns:a="http://schemas.openxmlformats.org/drawingml/2006/main">
              <a:ext uri="{FF2B5EF4-FFF2-40B4-BE49-F238E27FC236}">
                <a16:creationId xmlns:a16="http://schemas.microsoft.com/office/drawing/2014/main" id="{E91CC68A-80AD-44BC-ABF6-E161984DEC98}"/>
              </a:ext>
            </a:extLst>
          </p:cNvPr>
          <p:cNvSpPr>
            <a:spLocks xmlns:a="http://schemas.openxmlformats.org/drawingml/2006/main" noGrp="1"/>
          </p:cNvSpPr>
          <p:nvPr/>
        </p:nvSpPr>
        <p:spPr>
          <a:xfrm xmlns:a="http://schemas.openxmlformats.org/drawingml/2006/main">
            <a:off x="609600" y="11430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C5357"/>
                </a:solidFill>
              </a:defRPr>
            </a:pPr>
            <a:r>
              <a:rPr sz="1575" b="0">
                <a:solidFill>
                  <a:srgbClr val="5C5357"/>
                </a:solidFill>
              </a:rPr>
              <a:t>Listen for the relationship between the ideas. Each one changes what you notice, choose or explain.</a:t>
            </a:r>
          </a:p>
        </p:txBody>
      </p:sp>
      <p:sp>
        <p:nvSpPr>
          <p:cNvPr id="4" name="path-number-1">
            <a:extLst xmlns:a="http://schemas.openxmlformats.org/drawingml/2006/main">
              <a:ext uri="{FF2B5EF4-FFF2-40B4-BE49-F238E27FC236}">
                <a16:creationId xmlns:a16="http://schemas.microsoft.com/office/drawing/2014/main" id="{12CB68A3-1F32-4884-9679-930AA6715C9E}"/>
              </a:ext>
            </a:extLst>
          </p:cNvPr>
          <p:cNvSpPr>
            <a:spLocks xmlns:a="http://schemas.openxmlformats.org/drawingml/2006/main" noGrp="1"/>
          </p:cNvSpPr>
          <p:nvPr/>
        </p:nvSpPr>
        <p:spPr>
          <a:xfrm xmlns:a="http://schemas.openxmlformats.org/drawingml/2006/main">
            <a:off x="70485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AC2254"/>
                </a:solidFill>
              </a:defRPr>
            </a:pPr>
            <a:r>
              <a:rPr sz="4650" b="1">
                <a:solidFill>
                  <a:srgbClr val="AC2254"/>
                </a:solidFill>
              </a:rPr>
              <a:t>1</a:t>
            </a:r>
          </a:p>
        </p:txBody>
      </p:sp>
      <p:sp>
        <p:nvSpPr>
          <p:cNvPr id="5" name="path-title-1">
            <a:extLst xmlns:a="http://schemas.openxmlformats.org/drawingml/2006/main">
              <a:ext uri="{FF2B5EF4-FFF2-40B4-BE49-F238E27FC236}">
                <a16:creationId xmlns:a16="http://schemas.microsoft.com/office/drawing/2014/main" id="{2C38562D-9FE3-4AE2-B92C-7B2E946A7DB5}"/>
              </a:ext>
            </a:extLst>
          </p:cNvPr>
          <p:cNvSpPr>
            <a:spLocks xmlns:a="http://schemas.openxmlformats.org/drawingml/2006/main" noGrp="1"/>
          </p:cNvSpPr>
          <p:nvPr/>
        </p:nvSpPr>
        <p:spPr>
          <a:xfrm xmlns:a="http://schemas.openxmlformats.org/drawingml/2006/main">
            <a:off x="70485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Brief and success criteria</a:t>
            </a:r>
          </a:p>
        </p:txBody>
      </p:sp>
      <p:sp>
        <p:nvSpPr>
          <p:cNvPr id="6" name="path-rule-1">
            <a:extLst xmlns:a="http://schemas.openxmlformats.org/drawingml/2006/main">
              <a:ext uri="{FF2B5EF4-FFF2-40B4-BE49-F238E27FC236}">
                <a16:creationId xmlns:a16="http://schemas.microsoft.com/office/drawing/2014/main" id="{47DB2C1F-A3F4-4085-A872-C91343CCF07B}"/>
              </a:ext>
            </a:extLst>
          </p:cNvPr>
          <p:cNvSpPr>
            <a:spLocks xmlns:a="http://schemas.openxmlformats.org/drawingml/2006/main" noGrp="1"/>
          </p:cNvSpPr>
          <p:nvPr/>
        </p:nvSpPr>
        <p:spPr>
          <a:xfrm xmlns:a="http://schemas.openxmlformats.org/drawingml/2006/main">
            <a:off x="704850" y="4171950"/>
            <a:ext cx="2724150" cy="47625"/>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7" name="path-number-2">
            <a:extLst xmlns:a="http://schemas.openxmlformats.org/drawingml/2006/main">
              <a:ext uri="{FF2B5EF4-FFF2-40B4-BE49-F238E27FC236}">
                <a16:creationId xmlns:a16="http://schemas.microsoft.com/office/drawing/2014/main" id="{51D5D1EB-77B1-442E-A96A-D3718A432BC7}"/>
              </a:ext>
            </a:extLst>
          </p:cNvPr>
          <p:cNvSpPr>
            <a:spLocks xmlns:a="http://schemas.openxmlformats.org/drawingml/2006/main" noGrp="1"/>
          </p:cNvSpPr>
          <p:nvPr/>
        </p:nvSpPr>
        <p:spPr>
          <a:xfrm xmlns:a="http://schemas.openxmlformats.org/drawingml/2006/main">
            <a:off x="4333875"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226A61"/>
                </a:solidFill>
              </a:defRPr>
            </a:pPr>
            <a:r>
              <a:rPr sz="4650" b="1">
                <a:solidFill>
                  <a:srgbClr val="226A61"/>
                </a:solidFill>
              </a:rPr>
              <a:t>2</a:t>
            </a:r>
          </a:p>
        </p:txBody>
      </p:sp>
      <p:sp>
        <p:nvSpPr>
          <p:cNvPr id="8" name="path-title-2">
            <a:extLst xmlns:a="http://schemas.openxmlformats.org/drawingml/2006/main">
              <a:ext uri="{FF2B5EF4-FFF2-40B4-BE49-F238E27FC236}">
                <a16:creationId xmlns:a16="http://schemas.microsoft.com/office/drawing/2014/main" id="{2A640602-2565-4B0C-AE2B-7E94C56D8220}"/>
              </a:ext>
            </a:extLst>
          </p:cNvPr>
          <p:cNvSpPr>
            <a:spLocks xmlns:a="http://schemas.openxmlformats.org/drawingml/2006/main" noGrp="1"/>
          </p:cNvSpPr>
          <p:nvPr/>
        </p:nvSpPr>
        <p:spPr>
          <a:xfrm xmlns:a="http://schemas.openxmlformats.org/drawingml/2006/main">
            <a:off x="4333875"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Plan, materials and technique sample</a:t>
            </a:r>
          </a:p>
        </p:txBody>
      </p:sp>
      <p:sp>
        <p:nvSpPr>
          <p:cNvPr id="9" name="path-rule-2">
            <a:extLst xmlns:a="http://schemas.openxmlformats.org/drawingml/2006/main">
              <a:ext uri="{FF2B5EF4-FFF2-40B4-BE49-F238E27FC236}">
                <a16:creationId xmlns:a16="http://schemas.microsoft.com/office/drawing/2014/main" id="{8A88C1F5-026E-4330-8870-6F858C04299A}"/>
              </a:ext>
            </a:extLst>
          </p:cNvPr>
          <p:cNvSpPr>
            <a:spLocks xmlns:a="http://schemas.openxmlformats.org/drawingml/2006/main" noGrp="1"/>
          </p:cNvSpPr>
          <p:nvPr/>
        </p:nvSpPr>
        <p:spPr>
          <a:xfrm xmlns:a="http://schemas.openxmlformats.org/drawingml/2006/main">
            <a:off x="4333875" y="4171950"/>
            <a:ext cx="2724150" cy="47625"/>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10" name="path-number-3">
            <a:extLst xmlns:a="http://schemas.openxmlformats.org/drawingml/2006/main">
              <a:ext uri="{FF2B5EF4-FFF2-40B4-BE49-F238E27FC236}">
                <a16:creationId xmlns:a16="http://schemas.microsoft.com/office/drawing/2014/main" id="{2FA72F2A-9CA2-4F3D-A035-1661B4BB974B}"/>
              </a:ext>
            </a:extLst>
          </p:cNvPr>
          <p:cNvSpPr>
            <a:spLocks xmlns:a="http://schemas.openxmlformats.org/drawingml/2006/main" noGrp="1"/>
          </p:cNvSpPr>
          <p:nvPr/>
        </p:nvSpPr>
        <p:spPr>
          <a:xfrm xmlns:a="http://schemas.openxmlformats.org/drawingml/2006/main">
            <a:off x="796290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C94C46"/>
                </a:solidFill>
              </a:defRPr>
            </a:pPr>
            <a:r>
              <a:rPr sz="4650" b="1">
                <a:solidFill>
                  <a:srgbClr val="C94C46"/>
                </a:solidFill>
              </a:rPr>
              <a:t>3</a:t>
            </a:r>
          </a:p>
        </p:txBody>
      </p:sp>
      <p:sp>
        <p:nvSpPr>
          <p:cNvPr id="11" name="path-title-3">
            <a:extLst xmlns:a="http://schemas.openxmlformats.org/drawingml/2006/main">
              <a:ext uri="{FF2B5EF4-FFF2-40B4-BE49-F238E27FC236}">
                <a16:creationId xmlns:a16="http://schemas.microsoft.com/office/drawing/2014/main" id="{1B99FD12-29AE-4402-8C82-44436E85396C}"/>
              </a:ext>
            </a:extLst>
          </p:cNvPr>
          <p:cNvSpPr>
            <a:spLocks xmlns:a="http://schemas.openxmlformats.org/drawingml/2006/main" noGrp="1"/>
          </p:cNvSpPr>
          <p:nvPr/>
        </p:nvSpPr>
        <p:spPr>
          <a:xfrm xmlns:a="http://schemas.openxmlformats.org/drawingml/2006/main">
            <a:off x="796290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Make, evaluate and improve</a:t>
            </a:r>
          </a:p>
        </p:txBody>
      </p:sp>
      <p:sp>
        <p:nvSpPr>
          <p:cNvPr id="12" name="path-rule-3">
            <a:extLst xmlns:a="http://schemas.openxmlformats.org/drawingml/2006/main">
              <a:ext uri="{FF2B5EF4-FFF2-40B4-BE49-F238E27FC236}">
                <a16:creationId xmlns:a16="http://schemas.microsoft.com/office/drawing/2014/main" id="{A83FD252-088D-4896-B4AC-47F2B2C45A37}"/>
              </a:ext>
            </a:extLst>
          </p:cNvPr>
          <p:cNvSpPr>
            <a:spLocks xmlns:a="http://schemas.openxmlformats.org/drawingml/2006/main" noGrp="1"/>
          </p:cNvSpPr>
          <p:nvPr/>
        </p:nvSpPr>
        <p:spPr>
          <a:xfrm xmlns:a="http://schemas.openxmlformats.org/drawingml/2006/main">
            <a:off x="7962900" y="4171950"/>
            <a:ext cx="2724150" cy="47625"/>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13" name="retrieval-strip">
            <a:extLst xmlns:a="http://schemas.openxmlformats.org/drawingml/2006/main">
              <a:ext uri="{FF2B5EF4-FFF2-40B4-BE49-F238E27FC236}">
                <a16:creationId xmlns:a16="http://schemas.microsoft.com/office/drawing/2014/main" id="{4B98CAEB-6742-4B3E-B0F1-709C51E957D8}"/>
              </a:ext>
            </a:extLst>
          </p:cNvPr>
          <p:cNvSpPr>
            <a:spLocks xmlns:a="http://schemas.openxmlformats.org/drawingml/2006/main" noGrp="1"/>
          </p:cNvSpPr>
          <p:nvPr/>
        </p:nvSpPr>
        <p:spPr>
          <a:xfrm xmlns:a="http://schemas.openxmlformats.org/drawingml/2006/main">
            <a:off x="609600" y="4914900"/>
            <a:ext cx="10972800" cy="990600"/>
          </a:xfrm>
          <a:prstGeom xmlns:a="http://schemas.openxmlformats.org/drawingml/2006/main" prst="roundRect">
            <a:avLst>
              <a:gd name="adj" fmla="val 17308"/>
            </a:avLst>
          </a:prstGeom>
          <a:solidFill xmlns:a="http://schemas.openxmlformats.org/drawingml/2006/main">
            <a:srgbClr val="721735"/>
          </a:solidFill>
          <a:ln xmlns:a="http://schemas.openxmlformats.org/drawingml/2006/main" w="0">
            <a:noFill/>
            <a:prstDash val="solid"/>
          </a:ln>
        </p:spPr>
      </p:sp>
      <p:sp>
        <p:nvSpPr>
          <p:cNvPr id="14" name="warm-up-label">
            <a:extLst xmlns:a="http://schemas.openxmlformats.org/drawingml/2006/main">
              <a:ext uri="{FF2B5EF4-FFF2-40B4-BE49-F238E27FC236}">
                <a16:creationId xmlns:a16="http://schemas.microsoft.com/office/drawing/2014/main" id="{EB5E29D0-8607-469C-9990-F15E82FCD030}"/>
              </a:ext>
            </a:extLst>
          </p:cNvPr>
          <p:cNvSpPr>
            <a:spLocks xmlns:a="http://schemas.openxmlformats.org/drawingml/2006/main" noGrp="1"/>
          </p:cNvSpPr>
          <p:nvPr/>
        </p:nvSpPr>
        <p:spPr>
          <a:xfrm xmlns:a="http://schemas.openxmlformats.org/drawingml/2006/main">
            <a:off x="876300" y="51054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A238"/>
                </a:solidFill>
              </a:defRPr>
            </a:pPr>
            <a:r>
              <a:rPr sz="1200" b="1">
                <a:solidFill>
                  <a:srgbClr val="D6A238"/>
                </a:solidFill>
              </a:rPr>
              <a:t>RETRIEVAL WARM-UP</a:t>
            </a:r>
          </a:p>
        </p:txBody>
      </p:sp>
      <p:sp>
        <p:nvSpPr>
          <p:cNvPr id="15" name="warm-up-question">
            <a:extLst xmlns:a="http://schemas.openxmlformats.org/drawingml/2006/main">
              <a:ext uri="{FF2B5EF4-FFF2-40B4-BE49-F238E27FC236}">
                <a16:creationId xmlns:a16="http://schemas.microsoft.com/office/drawing/2014/main" id="{457C4C3A-4380-4A7B-BC58-4F0D2188690D}"/>
              </a:ext>
            </a:extLst>
          </p:cNvPr>
          <p:cNvSpPr>
            <a:spLocks xmlns:a="http://schemas.openxmlformats.org/drawingml/2006/main" noGrp="1"/>
          </p:cNvSpPr>
          <p:nvPr/>
        </p:nvSpPr>
        <p:spPr>
          <a:xfrm xmlns:a="http://schemas.openxmlformats.org/drawingml/2006/main">
            <a:off x="876300" y="5429250"/>
            <a:ext cx="9763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Which idea feels most familiar—and what evidence supports what you think you know?</a:t>
            </a:r>
          </a:p>
        </p:txBody>
      </p:sp>
      <p:sp>
        <p:nvSpPr>
          <p:cNvPr id="16" name="footer-module-2">
            <a:extLst xmlns:a="http://schemas.openxmlformats.org/drawingml/2006/main">
              <a:ext uri="{FF2B5EF4-FFF2-40B4-BE49-F238E27FC236}">
                <a16:creationId xmlns:a16="http://schemas.microsoft.com/office/drawing/2014/main" id="{B988BF0C-93F1-4CC9-928D-2A5078971482}"/>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03 · YEAR 8 TEXTILES TECHNOLOGY</a:t>
            </a:r>
          </a:p>
        </p:txBody>
      </p:sp>
      <p:sp>
        <p:nvSpPr>
          <p:cNvPr id="17" name="footer-number-2">
            <a:extLst xmlns:a="http://schemas.openxmlformats.org/drawingml/2006/main">
              <a:ext uri="{FF2B5EF4-FFF2-40B4-BE49-F238E27FC236}">
                <a16:creationId xmlns:a16="http://schemas.microsoft.com/office/drawing/2014/main" id="{CA2BD30C-31C2-4730-900F-1D0E58188775}"/>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02</a:t>
            </a:r>
          </a:p>
        </p:txBody>
      </p:sp>
    </p:spTree>
    <p:extLst>
      <p:ext uri="{BB962C8B-B14F-4D97-AF65-F5344CB8AC3E}">
        <p14:creationId xmlns:p14="http://schemas.microsoft.com/office/powerpoint/2010/main" val="1159273570"/>
      </p:ext>
    </p:extLst>
  </p:cSld>
</p:sld>
</file>

<file path=ppt/slides/slide3.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3919B90F-A4CE-47FB-B3E4-A899258A18D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063AA578-BFE9-45EC-B75A-56EC535DC9B0}"/>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AC2254"/>
                </a:solidFill>
              </a:defRPr>
            </a:pPr>
            <a:r>
              <a:rPr sz="1125" b="1">
                <a:solidFill>
                  <a:srgbClr val="AC2254"/>
                </a:solidFill>
              </a:rPr>
              <a:t>3.1 · UNPACK THE DESIGN BRIEF</a:t>
            </a:r>
          </a:p>
        </p:txBody>
      </p:sp>
      <p:sp>
        <p:nvSpPr>
          <p:cNvPr id="3" name="slide-title">
            <a:extLst xmlns:a="http://schemas.openxmlformats.org/drawingml/2006/main">
              <a:ext uri="{FF2B5EF4-FFF2-40B4-BE49-F238E27FC236}">
                <a16:creationId xmlns:a16="http://schemas.microsoft.com/office/drawing/2014/main" id="{83ED04BD-6A3E-474C-B98A-0284691FD86A}"/>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Brief and success criteria</a:t>
            </a:r>
          </a:p>
        </p:txBody>
      </p:sp>
      <p:sp>
        <p:nvSpPr>
          <p:cNvPr id="4" name="image-frame">
            <a:extLst xmlns:a="http://schemas.openxmlformats.org/drawingml/2006/main">
              <a:ext uri="{FF2B5EF4-FFF2-40B4-BE49-F238E27FC236}">
                <a16:creationId xmlns:a16="http://schemas.microsoft.com/office/drawing/2014/main" id="{CC1B9A8B-516B-46E9-8ED4-40704A2C0B9D}"/>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AC2254"/>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bd8c8b183344269"/>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41501CAA-A719-44FE-9ABF-977926060C67}"/>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A brief identifies the product, user, purpose and confirmed constraints.</a:t>
            </a:r>
          </a:p>
        </p:txBody>
      </p:sp>
      <p:sp>
        <p:nvSpPr>
          <p:cNvPr id="7" name="key-idea-label">
            <a:extLst xmlns:a="http://schemas.openxmlformats.org/drawingml/2006/main">
              <a:ext uri="{FF2B5EF4-FFF2-40B4-BE49-F238E27FC236}">
                <a16:creationId xmlns:a16="http://schemas.microsoft.com/office/drawing/2014/main" id="{E724FA17-AE0D-4E41-9262-ECDFB207DC2C}"/>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THE KEY IDEA</a:t>
            </a:r>
          </a:p>
        </p:txBody>
      </p:sp>
      <p:sp>
        <p:nvSpPr>
          <p:cNvPr id="8" name="key-idea-copy">
            <a:extLst xmlns:a="http://schemas.openxmlformats.org/drawingml/2006/main">
              <a:ext uri="{FF2B5EF4-FFF2-40B4-BE49-F238E27FC236}">
                <a16:creationId xmlns:a16="http://schemas.microsoft.com/office/drawing/2014/main" id="{03570F25-8401-4BD1-B96D-706978D32CD4}"/>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A brief identifies the product, user, purpose and confirmed constraints. Missing specifications become questions, not assumptions. Criteria should be important, specific and connected to observable evidence. Plan evidence before making so useful progress can be captured.</a:t>
            </a:r>
          </a:p>
        </p:txBody>
      </p:sp>
      <p:sp>
        <p:nvSpPr>
          <p:cNvPr id="9" name="application-block">
            <a:extLst xmlns:a="http://schemas.openxmlformats.org/drawingml/2006/main">
              <a:ext uri="{FF2B5EF4-FFF2-40B4-BE49-F238E27FC236}">
                <a16:creationId xmlns:a16="http://schemas.microsoft.com/office/drawing/2014/main" id="{3A81D5F5-528D-4309-949D-ED7C0FE8A42B}"/>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7D20B076-19B8-4E38-B24C-585F00E9D6DA}"/>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USE THIS IDEA</a:t>
            </a:r>
          </a:p>
        </p:txBody>
      </p:sp>
      <p:sp>
        <p:nvSpPr>
          <p:cNvPr id="11" name="application-copy">
            <a:extLst xmlns:a="http://schemas.openxmlformats.org/drawingml/2006/main">
              <a:ext uri="{FF2B5EF4-FFF2-40B4-BE49-F238E27FC236}">
                <a16:creationId xmlns:a16="http://schemas.microsoft.com/office/drawing/2014/main" id="{4E203BFD-1C0D-4730-9E6E-25BABC8519C0}"/>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Annotate the current pincushion brief using three colours: confirmed product and user facts, constraints, and questions needing confirmation. Draft three checkable criteria and name one piece of evidence that could test each criterion.</a:t>
            </a:r>
          </a:p>
        </p:txBody>
      </p:sp>
      <p:sp>
        <p:nvSpPr>
          <p:cNvPr id="12" name="footer-module-3">
            <a:extLst xmlns:a="http://schemas.openxmlformats.org/drawingml/2006/main">
              <a:ext uri="{FF2B5EF4-FFF2-40B4-BE49-F238E27FC236}">
                <a16:creationId xmlns:a16="http://schemas.microsoft.com/office/drawing/2014/main" id="{34C92554-DB58-453C-8378-AAEC549B6F6E}"/>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03 · YEAR 8 TEXTILES TECHNOLOGY</a:t>
            </a:r>
          </a:p>
        </p:txBody>
      </p:sp>
      <p:sp>
        <p:nvSpPr>
          <p:cNvPr id="13" name="footer-number-3">
            <a:extLst xmlns:a="http://schemas.openxmlformats.org/drawingml/2006/main">
              <a:ext uri="{FF2B5EF4-FFF2-40B4-BE49-F238E27FC236}">
                <a16:creationId xmlns:a16="http://schemas.microsoft.com/office/drawing/2014/main" id="{BED2E88E-DCC4-4833-9544-E37D40BABCC9}"/>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03</a:t>
            </a:r>
          </a:p>
        </p:txBody>
      </p:sp>
    </p:spTree>
    <p:extLst>
      <p:ext uri="{BB962C8B-B14F-4D97-AF65-F5344CB8AC3E}">
        <p14:creationId xmlns:p14="http://schemas.microsoft.com/office/powerpoint/2010/main" val="2127874636"/>
      </p:ext>
    </p:extLst>
  </p:cSld>
</p:sld>
</file>

<file path=ppt/slides/slide4.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B43A40A0-0D63-438C-9F92-FEC9D5F7641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9FD549E9-9F58-443E-9484-B8DB7BC7CDA1}"/>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6A61"/>
                </a:solidFill>
              </a:defRPr>
            </a:pPr>
            <a:r>
              <a:rPr sz="1125" b="1">
                <a:solidFill>
                  <a:srgbClr val="226A61"/>
                </a:solidFill>
              </a:rPr>
              <a:t>3.2 · MATCH MATERIALS TO CONFIRMED NEEDS</a:t>
            </a:r>
          </a:p>
        </p:txBody>
      </p:sp>
      <p:sp>
        <p:nvSpPr>
          <p:cNvPr id="3" name="slide-title">
            <a:extLst xmlns:a="http://schemas.openxmlformats.org/drawingml/2006/main">
              <a:ext uri="{FF2B5EF4-FFF2-40B4-BE49-F238E27FC236}">
                <a16:creationId xmlns:a16="http://schemas.microsoft.com/office/drawing/2014/main" id="{5DB088B6-A10C-4A7C-AC53-8E1AB05CEDF4}"/>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Plan, materials and technique sample</a:t>
            </a:r>
          </a:p>
        </p:txBody>
      </p:sp>
      <p:sp>
        <p:nvSpPr>
          <p:cNvPr id="4" name="image-frame">
            <a:extLst xmlns:a="http://schemas.openxmlformats.org/drawingml/2006/main">
              <a:ext uri="{FF2B5EF4-FFF2-40B4-BE49-F238E27FC236}">
                <a16:creationId xmlns:a16="http://schemas.microsoft.com/office/drawing/2014/main" id="{20B8EA02-5E66-4318-AB37-E2A9611F7C0B}"/>
              </a:ext>
            </a:extLst>
          </p:cNvPr>
          <p:cNvSpPr>
            <a:spLocks xmlns:a="http://schemas.openxmlformats.org/drawingml/2006/main" noGrp="1"/>
          </p:cNvSpPr>
          <p:nvPr/>
        </p:nvSpPr>
        <p:spPr>
          <a:xfrm xmlns:a="http://schemas.openxmlformats.org/drawingml/2006/main">
            <a:off x="6686550" y="1504950"/>
            <a:ext cx="4953000" cy="3448050"/>
          </a:xfrm>
          <a:prstGeom xmlns:a="http://schemas.openxmlformats.org/drawingml/2006/main" prst="roundRect">
            <a:avLst>
              <a:gd name="adj" fmla="val 4972"/>
            </a:avLst>
          </a:prstGeom>
          <a:solidFill xmlns:a="http://schemas.openxmlformats.org/drawingml/2006/main">
            <a:srgbClr val="226A61"/>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4247866104a4e86"/>
          <a:srcRect xmlns:a="http://schemas.openxmlformats.org/drawingml/2006/main" l="1619" t="0" r="1619" b="0"/>
          <a:stretch xmlns:a="http://schemas.openxmlformats.org/drawingml/2006/main">
            <a:fillRect l="0" t="0" r="0" b="0"/>
          </a:stretch>
        </p:blipFill>
        <p:spPr>
          <a:xfrm xmlns:a="http://schemas.openxmlformats.org/drawingml/2006/main">
            <a:off x="67437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446B446F-7BA8-4304-A833-BAB8E8CEAD4D}"/>
              </a:ext>
            </a:extLst>
          </p:cNvPr>
          <p:cNvSpPr>
            <a:spLocks xmlns:a="http://schemas.openxmlformats.org/drawingml/2006/main" noGrp="1"/>
          </p:cNvSpPr>
          <p:nvPr/>
        </p:nvSpPr>
        <p:spPr>
          <a:xfrm xmlns:a="http://schemas.openxmlformats.org/drawingml/2006/main">
            <a:off x="67437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Material choices should connect properties and evidence to confirmed product needs.</a:t>
            </a:r>
          </a:p>
        </p:txBody>
      </p:sp>
      <p:sp>
        <p:nvSpPr>
          <p:cNvPr id="7" name="key-idea-label">
            <a:extLst xmlns:a="http://schemas.openxmlformats.org/drawingml/2006/main">
              <a:ext uri="{FF2B5EF4-FFF2-40B4-BE49-F238E27FC236}">
                <a16:creationId xmlns:a16="http://schemas.microsoft.com/office/drawing/2014/main" id="{3CDDC17E-7828-4C77-8BF1-C03494E5FF76}"/>
              </a:ext>
            </a:extLst>
          </p:cNvPr>
          <p:cNvSpPr>
            <a:spLocks xmlns:a="http://schemas.openxmlformats.org/drawingml/2006/main" noGrp="1"/>
          </p:cNvSpPr>
          <p:nvPr/>
        </p:nvSpPr>
        <p:spPr>
          <a:xfrm xmlns:a="http://schemas.openxmlformats.org/drawingml/2006/main">
            <a:off x="609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THE KEY IDEA</a:t>
            </a:r>
          </a:p>
        </p:txBody>
      </p:sp>
      <p:sp>
        <p:nvSpPr>
          <p:cNvPr id="8" name="key-idea-copy">
            <a:extLst xmlns:a="http://schemas.openxmlformats.org/drawingml/2006/main">
              <a:ext uri="{FF2B5EF4-FFF2-40B4-BE49-F238E27FC236}">
                <a16:creationId xmlns:a16="http://schemas.microsoft.com/office/drawing/2014/main" id="{E5ABC3F8-BE90-4CFD-BE39-A288806A6E62}"/>
              </a:ext>
            </a:extLst>
          </p:cNvPr>
          <p:cNvSpPr>
            <a:spLocks xmlns:a="http://schemas.openxmlformats.org/drawingml/2006/main" noGrp="1"/>
          </p:cNvSpPr>
          <p:nvPr/>
        </p:nvSpPr>
        <p:spPr>
          <a:xfrm xmlns:a="http://schemas.openxmlformats.org/drawingml/2006/main">
            <a:off x="609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Material choices should connect properties and evidence to confirmed product needs. Plans show logical order, dependencies, resources and checkpoints. A technique sample should answer one clear design or production question. An unsuccessful sample is useful when it leads to a justified next step.</a:t>
            </a:r>
          </a:p>
        </p:txBody>
      </p:sp>
      <p:sp>
        <p:nvSpPr>
          <p:cNvPr id="9" name="application-block">
            <a:extLst xmlns:a="http://schemas.openxmlformats.org/drawingml/2006/main">
              <a:ext uri="{FF2B5EF4-FFF2-40B4-BE49-F238E27FC236}">
                <a16:creationId xmlns:a16="http://schemas.microsoft.com/office/drawing/2014/main" id="{3BD1A18B-C5F7-417E-9F83-3059E6BEEB6F}"/>
              </a:ext>
            </a:extLst>
          </p:cNvPr>
          <p:cNvSpPr>
            <a:spLocks xmlns:a="http://schemas.openxmlformats.org/drawingml/2006/main" noGrp="1"/>
          </p:cNvSpPr>
          <p:nvPr/>
        </p:nvSpPr>
        <p:spPr>
          <a:xfrm xmlns:a="http://schemas.openxmlformats.org/drawingml/2006/main">
            <a:off x="609600" y="4114800"/>
            <a:ext cx="4838700" cy="1524000"/>
          </a:xfrm>
          <a:prstGeom xmlns:a="http://schemas.openxmlformats.org/drawingml/2006/main" prst="roundRect">
            <a:avLst>
              <a:gd name="adj" fmla="val 10000"/>
            </a:avLst>
          </a:prstGeom>
          <a:solidFill xmlns:a="http://schemas.openxmlformats.org/drawingml/2006/main">
            <a:srgbClr val="DCE9E4"/>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FB2D57B9-182A-4B9D-B204-F461F1DD517C}"/>
              </a:ext>
            </a:extLst>
          </p:cNvPr>
          <p:cNvSpPr>
            <a:spLocks xmlns:a="http://schemas.openxmlformats.org/drawingml/2006/main" noGrp="1"/>
          </p:cNvSpPr>
          <p:nvPr/>
        </p:nvSpPr>
        <p:spPr>
          <a:xfrm xmlns:a="http://schemas.openxmlformats.org/drawingml/2006/main">
            <a:off x="838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USE THIS IDEA</a:t>
            </a:r>
          </a:p>
        </p:txBody>
      </p:sp>
      <p:sp>
        <p:nvSpPr>
          <p:cNvPr id="11" name="application-copy">
            <a:extLst xmlns:a="http://schemas.openxmlformats.org/drawingml/2006/main">
              <a:ext uri="{FF2B5EF4-FFF2-40B4-BE49-F238E27FC236}">
                <a16:creationId xmlns:a16="http://schemas.microsoft.com/office/drawing/2014/main" id="{706E9605-F948-4C38-A918-7BF00A95D27D}"/>
              </a:ext>
            </a:extLst>
          </p:cNvPr>
          <p:cNvSpPr>
            <a:spLocks xmlns:a="http://schemas.openxmlformats.org/drawingml/2006/main" noGrp="1"/>
          </p:cNvSpPr>
          <p:nvPr/>
        </p:nvSpPr>
        <p:spPr>
          <a:xfrm xmlns:a="http://schemas.openxmlformats.org/drawingml/2006/main">
            <a:off x="838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Create a short pincushion production plan with dependencies and approval checkpoints. Complete one teacher-authorised sample that answers a named material or technique question, then attach a brief evidence-based decision to the sample.</a:t>
            </a:r>
          </a:p>
        </p:txBody>
      </p:sp>
      <p:sp>
        <p:nvSpPr>
          <p:cNvPr id="12" name="footer-module-4">
            <a:extLst xmlns:a="http://schemas.openxmlformats.org/drawingml/2006/main">
              <a:ext uri="{FF2B5EF4-FFF2-40B4-BE49-F238E27FC236}">
                <a16:creationId xmlns:a16="http://schemas.microsoft.com/office/drawing/2014/main" id="{5F8468E1-57A6-404E-A48B-50A18889CB6E}"/>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03 · YEAR 8 TEXTILES TECHNOLOGY</a:t>
            </a:r>
          </a:p>
        </p:txBody>
      </p:sp>
      <p:sp>
        <p:nvSpPr>
          <p:cNvPr id="13" name="footer-number-4">
            <a:extLst xmlns:a="http://schemas.openxmlformats.org/drawingml/2006/main">
              <a:ext uri="{FF2B5EF4-FFF2-40B4-BE49-F238E27FC236}">
                <a16:creationId xmlns:a16="http://schemas.microsoft.com/office/drawing/2014/main" id="{A85D11A2-DDFD-457E-A75C-A7374A0717D7}"/>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04</a:t>
            </a:r>
          </a:p>
        </p:txBody>
      </p:sp>
    </p:spTree>
    <p:extLst>
      <p:ext uri="{BB962C8B-B14F-4D97-AF65-F5344CB8AC3E}">
        <p14:creationId xmlns:p14="http://schemas.microsoft.com/office/powerpoint/2010/main" val="349658462"/>
      </p:ext>
    </p:extLst>
  </p:cSld>
</p:sld>
</file>

<file path=ppt/slides/slide5.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E6EF4D08-3C37-4316-AC5C-D864D96A926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3E571852-8E7F-432D-B623-825B89B63B77}"/>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C94C46"/>
                </a:solidFill>
              </a:defRPr>
            </a:pPr>
            <a:r>
              <a:rPr sz="1125" b="1">
                <a:solidFill>
                  <a:srgbClr val="C94C46"/>
                </a:solidFill>
              </a:rPr>
              <a:t>3.3 · CHECK QUALITY WHILE CHANGE IS POSSIBLE</a:t>
            </a:r>
          </a:p>
        </p:txBody>
      </p:sp>
      <p:sp>
        <p:nvSpPr>
          <p:cNvPr id="3" name="slide-title">
            <a:extLst xmlns:a="http://schemas.openxmlformats.org/drawingml/2006/main">
              <a:ext uri="{FF2B5EF4-FFF2-40B4-BE49-F238E27FC236}">
                <a16:creationId xmlns:a16="http://schemas.microsoft.com/office/drawing/2014/main" id="{6E53F924-977D-47A9-AB41-8CF136F26546}"/>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Make, evaluate and improve</a:t>
            </a:r>
          </a:p>
        </p:txBody>
      </p:sp>
      <p:sp>
        <p:nvSpPr>
          <p:cNvPr id="4" name="image-frame">
            <a:extLst xmlns:a="http://schemas.openxmlformats.org/drawingml/2006/main">
              <a:ext uri="{FF2B5EF4-FFF2-40B4-BE49-F238E27FC236}">
                <a16:creationId xmlns:a16="http://schemas.microsoft.com/office/drawing/2014/main" id="{939A6DB8-ED10-493F-92C8-DD205ACB656E}"/>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C94C46"/>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7f1a069ceed4847"/>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8B4A295C-2A7C-435C-86A1-D497D15DC238}"/>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Quality control happens at planned stages while useful change may still be possible.</a:t>
            </a:r>
          </a:p>
        </p:txBody>
      </p:sp>
      <p:sp>
        <p:nvSpPr>
          <p:cNvPr id="7" name="key-idea-label">
            <a:extLst xmlns:a="http://schemas.openxmlformats.org/drawingml/2006/main">
              <a:ext uri="{FF2B5EF4-FFF2-40B4-BE49-F238E27FC236}">
                <a16:creationId xmlns:a16="http://schemas.microsoft.com/office/drawing/2014/main" id="{F7D540DA-EB14-46EF-9E5F-969D5430F3A9}"/>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THE KEY IDEA</a:t>
            </a:r>
          </a:p>
        </p:txBody>
      </p:sp>
      <p:sp>
        <p:nvSpPr>
          <p:cNvPr id="8" name="key-idea-copy">
            <a:extLst xmlns:a="http://schemas.openxmlformats.org/drawingml/2006/main">
              <a:ext uri="{FF2B5EF4-FFF2-40B4-BE49-F238E27FC236}">
                <a16:creationId xmlns:a16="http://schemas.microsoft.com/office/drawing/2014/main" id="{F4B0C280-B9C0-471E-8CBF-B4047B3484B7}"/>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Quality control happens at planned stages while useful change may still be possible. Evaluation compares relevant evidence with criteria and reaches a supported judgement. Trade-offs can explain why one decision helps one criterion but limits another. A useful improvement names the stage, action and expected effect.</a:t>
            </a:r>
          </a:p>
        </p:txBody>
      </p:sp>
      <p:sp>
        <p:nvSpPr>
          <p:cNvPr id="9" name="application-block">
            <a:extLst xmlns:a="http://schemas.openxmlformats.org/drawingml/2006/main">
              <a:ext uri="{FF2B5EF4-FFF2-40B4-BE49-F238E27FC236}">
                <a16:creationId xmlns:a16="http://schemas.microsoft.com/office/drawing/2014/main" id="{EED7F152-F24C-4B63-881C-4E3CA48D8A56}"/>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9958296E-B9D1-471A-8D63-2B02FEAC16DD}"/>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USE THIS IDEA</a:t>
            </a:r>
          </a:p>
        </p:txBody>
      </p:sp>
      <p:sp>
        <p:nvSpPr>
          <p:cNvPr id="11" name="application-copy">
            <a:extLst xmlns:a="http://schemas.openxmlformats.org/drawingml/2006/main">
              <a:ext uri="{FF2B5EF4-FFF2-40B4-BE49-F238E27FC236}">
                <a16:creationId xmlns:a16="http://schemas.microsoft.com/office/drawing/2014/main" id="{1A2067D2-773F-4431-B50C-36DC38D32E7B}"/>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At two teacher-approved stages, photograph or record one relevant quality feature and compare it with your plan. In the final evaluation, use that progress evidence plus a finished-product observation to judge one criterion and justify one specific improvement.</a:t>
            </a:r>
          </a:p>
        </p:txBody>
      </p:sp>
      <p:sp>
        <p:nvSpPr>
          <p:cNvPr id="12" name="footer-module-5">
            <a:extLst xmlns:a="http://schemas.openxmlformats.org/drawingml/2006/main">
              <a:ext uri="{FF2B5EF4-FFF2-40B4-BE49-F238E27FC236}">
                <a16:creationId xmlns:a16="http://schemas.microsoft.com/office/drawing/2014/main" id="{4BCA1BB8-2F56-47FA-812D-FE1BD8BA2274}"/>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03 · YEAR 8 TEXTILES TECHNOLOGY</a:t>
            </a:r>
          </a:p>
        </p:txBody>
      </p:sp>
      <p:sp>
        <p:nvSpPr>
          <p:cNvPr id="13" name="footer-number-5">
            <a:extLst xmlns:a="http://schemas.openxmlformats.org/drawingml/2006/main">
              <a:ext uri="{FF2B5EF4-FFF2-40B4-BE49-F238E27FC236}">
                <a16:creationId xmlns:a16="http://schemas.microsoft.com/office/drawing/2014/main" id="{CE0F531A-E4F4-45B1-9976-62653F872BBF}"/>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05</a:t>
            </a:r>
          </a:p>
        </p:txBody>
      </p:sp>
    </p:spTree>
    <p:extLst>
      <p:ext uri="{BB962C8B-B14F-4D97-AF65-F5344CB8AC3E}">
        <p14:creationId xmlns:p14="http://schemas.microsoft.com/office/powerpoint/2010/main" val="563201686"/>
      </p:ext>
    </p:extLst>
  </p:cSld>
</p:sld>
</file>

<file path=ppt/slides/slide6.xml><?xml version="1.0" encoding="utf-8"?>
<p:sld xmlns:p="http://schemas.openxmlformats.org/presentationml/2006/main">
  <p:cSld>
    <p:bg>
      <p:bgPr>
        <a:solidFill xmlns:a="http://schemas.openxmlformats.org/drawingml/2006/main">
          <a:srgbClr val="721735"/>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BB0748FF-4B13-4C62-B90D-FA07F01A12ED}"/>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Stop. Think. Explain.</a:t>
            </a:r>
          </a:p>
        </p:txBody>
      </p:sp>
      <p:sp>
        <p:nvSpPr>
          <p:cNvPr id="2" name="retrieval-instruction">
            <a:extLst xmlns:a="http://schemas.openxmlformats.org/drawingml/2006/main">
              <a:ext uri="{FF2B5EF4-FFF2-40B4-BE49-F238E27FC236}">
                <a16:creationId xmlns:a16="http://schemas.microsoft.com/office/drawing/2014/main" id="{3769ECD1-1D7F-492B-A14A-B4A1F75CB101}"/>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3DCE5"/>
                </a:solidFill>
              </a:defRPr>
            </a:pPr>
            <a:r>
              <a:rPr sz="1500" b="0">
                <a:solidFill>
                  <a:srgbClr val="F3DCE5"/>
                </a:solidFill>
              </a:rPr>
              <a:t>Correct or improve each claim, then support your answer with evidence from the module.</a:t>
            </a:r>
          </a:p>
        </p:txBody>
      </p:sp>
      <p:sp>
        <p:nvSpPr>
          <p:cNvPr id="3" name="retrieval-number-bg-1">
            <a:extLst xmlns:a="http://schemas.openxmlformats.org/drawingml/2006/main">
              <a:ext uri="{FF2B5EF4-FFF2-40B4-BE49-F238E27FC236}">
                <a16:creationId xmlns:a16="http://schemas.microsoft.com/office/drawing/2014/main" id="{31BC9028-31B8-4EF0-9AE5-CB143B3A6F6F}"/>
              </a:ext>
            </a:extLst>
          </p:cNvPr>
          <p:cNvSpPr>
            <a:spLocks xmlns:a="http://schemas.openxmlformats.org/drawingml/2006/main" noGrp="1"/>
          </p:cNvSpPr>
          <p:nvPr/>
        </p:nvSpPr>
        <p:spPr>
          <a:xfrm xmlns:a="http://schemas.openxmlformats.org/drawingml/2006/main">
            <a:off x="685800" y="192405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4" name="retrieval-number-1">
            <a:extLst xmlns:a="http://schemas.openxmlformats.org/drawingml/2006/main">
              <a:ext uri="{FF2B5EF4-FFF2-40B4-BE49-F238E27FC236}">
                <a16:creationId xmlns:a16="http://schemas.microsoft.com/office/drawing/2014/main" id="{3DED275E-CE45-425F-B7AF-5DE65709DA1C}"/>
              </a:ext>
            </a:extLst>
          </p:cNvPr>
          <p:cNvSpPr>
            <a:spLocks xmlns:a="http://schemas.openxmlformats.org/drawingml/2006/main" noGrp="1"/>
          </p:cNvSpPr>
          <p:nvPr/>
        </p:nvSpPr>
        <p:spPr>
          <a:xfrm xmlns:a="http://schemas.openxmlformats.org/drawingml/2006/main">
            <a:off x="685800" y="20097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1</a:t>
            </a:r>
          </a:p>
        </p:txBody>
      </p:sp>
      <p:sp>
        <p:nvSpPr>
          <p:cNvPr id="5" name="retrieval-question-1">
            <a:extLst xmlns:a="http://schemas.openxmlformats.org/drawingml/2006/main">
              <a:ext uri="{FF2B5EF4-FFF2-40B4-BE49-F238E27FC236}">
                <a16:creationId xmlns:a16="http://schemas.microsoft.com/office/drawing/2014/main" id="{0E60BE80-EF69-4021-B100-590E8AF579F9}"/>
              </a:ext>
            </a:extLst>
          </p:cNvPr>
          <p:cNvSpPr>
            <a:spLocks xmlns:a="http://schemas.openxmlformats.org/drawingml/2006/main" noGrp="1"/>
          </p:cNvSpPr>
          <p:nvPr/>
        </p:nvSpPr>
        <p:spPr>
          <a:xfrm xmlns:a="http://schemas.openxmlformats.org/drawingml/2006/main">
            <a:off x="1428750" y="194310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“A brief tells the designer exactly what the product should look like.”</a:t>
            </a:r>
          </a:p>
        </p:txBody>
      </p:sp>
      <p:sp>
        <p:nvSpPr>
          <p:cNvPr id="6" name="retrieval-rule-1">
            <a:extLst xmlns:a="http://schemas.openxmlformats.org/drawingml/2006/main">
              <a:ext uri="{FF2B5EF4-FFF2-40B4-BE49-F238E27FC236}">
                <a16:creationId xmlns:a16="http://schemas.microsoft.com/office/drawing/2014/main" id="{C206FB09-67DD-4F3C-B746-695EE8D9DA68}"/>
              </a:ext>
            </a:extLst>
          </p:cNvPr>
          <p:cNvSpPr>
            <a:spLocks xmlns:a="http://schemas.openxmlformats.org/drawingml/2006/main" noGrp="1"/>
          </p:cNvSpPr>
          <p:nvPr/>
        </p:nvSpPr>
        <p:spPr>
          <a:xfrm xmlns:a="http://schemas.openxmlformats.org/drawingml/2006/main">
            <a:off x="1428750" y="265747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7" name="retrieval-number-bg-2">
            <a:extLst xmlns:a="http://schemas.openxmlformats.org/drawingml/2006/main">
              <a:ext uri="{FF2B5EF4-FFF2-40B4-BE49-F238E27FC236}">
                <a16:creationId xmlns:a16="http://schemas.microsoft.com/office/drawing/2014/main" id="{C4E05F84-5B75-4064-8661-60B39F77222C}"/>
              </a:ext>
            </a:extLst>
          </p:cNvPr>
          <p:cNvSpPr>
            <a:spLocks xmlns:a="http://schemas.openxmlformats.org/drawingml/2006/main" noGrp="1"/>
          </p:cNvSpPr>
          <p:nvPr/>
        </p:nvSpPr>
        <p:spPr>
          <a:xfrm xmlns:a="http://schemas.openxmlformats.org/drawingml/2006/main">
            <a:off x="685800" y="2924175"/>
            <a:ext cx="457200" cy="45720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8" name="retrieval-number-2">
            <a:extLst xmlns:a="http://schemas.openxmlformats.org/drawingml/2006/main">
              <a:ext uri="{FF2B5EF4-FFF2-40B4-BE49-F238E27FC236}">
                <a16:creationId xmlns:a16="http://schemas.microsoft.com/office/drawing/2014/main" id="{886EABB4-F300-4272-BA82-91161EA9DF3B}"/>
              </a:ext>
            </a:extLst>
          </p:cNvPr>
          <p:cNvSpPr>
            <a:spLocks xmlns:a="http://schemas.openxmlformats.org/drawingml/2006/main" noGrp="1"/>
          </p:cNvSpPr>
          <p:nvPr/>
        </p:nvSpPr>
        <p:spPr>
          <a:xfrm xmlns:a="http://schemas.openxmlformats.org/drawingml/2006/main">
            <a:off x="685800" y="30099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2</a:t>
            </a:r>
          </a:p>
        </p:txBody>
      </p:sp>
      <p:sp>
        <p:nvSpPr>
          <p:cNvPr id="9" name="retrieval-question-2">
            <a:extLst xmlns:a="http://schemas.openxmlformats.org/drawingml/2006/main">
              <a:ext uri="{FF2B5EF4-FFF2-40B4-BE49-F238E27FC236}">
                <a16:creationId xmlns:a16="http://schemas.microsoft.com/office/drawing/2014/main" id="{8ABE3B32-C513-4B54-86CB-1619814F2109}"/>
              </a:ext>
            </a:extLst>
          </p:cNvPr>
          <p:cNvSpPr>
            <a:spLocks xmlns:a="http://schemas.openxmlformats.org/drawingml/2006/main" noGrp="1"/>
          </p:cNvSpPr>
          <p:nvPr/>
        </p:nvSpPr>
        <p:spPr>
          <a:xfrm xmlns:a="http://schemas.openxmlformats.org/drawingml/2006/main">
            <a:off x="1428750" y="294322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“A production plan is just a numbered list copied from instructions.”</a:t>
            </a:r>
          </a:p>
        </p:txBody>
      </p:sp>
      <p:sp>
        <p:nvSpPr>
          <p:cNvPr id="10" name="retrieval-rule-2">
            <a:extLst xmlns:a="http://schemas.openxmlformats.org/drawingml/2006/main">
              <a:ext uri="{FF2B5EF4-FFF2-40B4-BE49-F238E27FC236}">
                <a16:creationId xmlns:a16="http://schemas.microsoft.com/office/drawing/2014/main" id="{39B5B581-98BB-495C-9E7D-1C2BB1E9A1EA}"/>
              </a:ext>
            </a:extLst>
          </p:cNvPr>
          <p:cNvSpPr>
            <a:spLocks xmlns:a="http://schemas.openxmlformats.org/drawingml/2006/main" noGrp="1"/>
          </p:cNvSpPr>
          <p:nvPr/>
        </p:nvSpPr>
        <p:spPr>
          <a:xfrm xmlns:a="http://schemas.openxmlformats.org/drawingml/2006/main">
            <a:off x="1428750" y="3657600"/>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1" name="retrieval-number-bg-3">
            <a:extLst xmlns:a="http://schemas.openxmlformats.org/drawingml/2006/main">
              <a:ext uri="{FF2B5EF4-FFF2-40B4-BE49-F238E27FC236}">
                <a16:creationId xmlns:a16="http://schemas.microsoft.com/office/drawing/2014/main" id="{7677EF71-B72A-4599-87EA-488975AB2B2B}"/>
              </a:ext>
            </a:extLst>
          </p:cNvPr>
          <p:cNvSpPr>
            <a:spLocks xmlns:a="http://schemas.openxmlformats.org/drawingml/2006/main" noGrp="1"/>
          </p:cNvSpPr>
          <p:nvPr/>
        </p:nvSpPr>
        <p:spPr>
          <a:xfrm xmlns:a="http://schemas.openxmlformats.org/drawingml/2006/main">
            <a:off x="685800" y="392430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2" name="retrieval-number-3">
            <a:extLst xmlns:a="http://schemas.openxmlformats.org/drawingml/2006/main">
              <a:ext uri="{FF2B5EF4-FFF2-40B4-BE49-F238E27FC236}">
                <a16:creationId xmlns:a16="http://schemas.microsoft.com/office/drawing/2014/main" id="{3A01CFA3-A496-44D3-AA03-BD36093D9F03}"/>
              </a:ext>
            </a:extLst>
          </p:cNvPr>
          <p:cNvSpPr>
            <a:spLocks xmlns:a="http://schemas.openxmlformats.org/drawingml/2006/main" noGrp="1"/>
          </p:cNvSpPr>
          <p:nvPr/>
        </p:nvSpPr>
        <p:spPr>
          <a:xfrm xmlns:a="http://schemas.openxmlformats.org/drawingml/2006/main">
            <a:off x="685800" y="40100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3</a:t>
            </a:r>
          </a:p>
        </p:txBody>
      </p:sp>
      <p:sp>
        <p:nvSpPr>
          <p:cNvPr id="13" name="retrieval-question-3">
            <a:extLst xmlns:a="http://schemas.openxmlformats.org/drawingml/2006/main">
              <a:ext uri="{FF2B5EF4-FFF2-40B4-BE49-F238E27FC236}">
                <a16:creationId xmlns:a16="http://schemas.microsoft.com/office/drawing/2014/main" id="{8A533EAB-6B9F-473F-A600-D7F941DB4A84}"/>
              </a:ext>
            </a:extLst>
          </p:cNvPr>
          <p:cNvSpPr>
            <a:spLocks xmlns:a="http://schemas.openxmlformats.org/drawingml/2006/main" noGrp="1"/>
          </p:cNvSpPr>
          <p:nvPr/>
        </p:nvSpPr>
        <p:spPr>
          <a:xfrm xmlns:a="http://schemas.openxmlformats.org/drawingml/2006/main">
            <a:off x="1428750" y="394335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“Evaluation begins after the product is finished.”</a:t>
            </a:r>
          </a:p>
        </p:txBody>
      </p:sp>
      <p:sp>
        <p:nvSpPr>
          <p:cNvPr id="14" name="retrieval-rule-3">
            <a:extLst xmlns:a="http://schemas.openxmlformats.org/drawingml/2006/main">
              <a:ext uri="{FF2B5EF4-FFF2-40B4-BE49-F238E27FC236}">
                <a16:creationId xmlns:a16="http://schemas.microsoft.com/office/drawing/2014/main" id="{87D960D7-CF1B-4036-BD2F-94D1F8DEBD78}"/>
              </a:ext>
            </a:extLst>
          </p:cNvPr>
          <p:cNvSpPr>
            <a:spLocks xmlns:a="http://schemas.openxmlformats.org/drawingml/2006/main" noGrp="1"/>
          </p:cNvSpPr>
          <p:nvPr/>
        </p:nvSpPr>
        <p:spPr>
          <a:xfrm xmlns:a="http://schemas.openxmlformats.org/drawingml/2006/main">
            <a:off x="1428750" y="465772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5" name="retrieval-number-bg-4">
            <a:extLst xmlns:a="http://schemas.openxmlformats.org/drawingml/2006/main">
              <a:ext uri="{FF2B5EF4-FFF2-40B4-BE49-F238E27FC236}">
                <a16:creationId xmlns:a16="http://schemas.microsoft.com/office/drawing/2014/main" id="{318208E5-3D92-44D9-BB27-2030F18F6C31}"/>
              </a:ext>
            </a:extLst>
          </p:cNvPr>
          <p:cNvSpPr>
            <a:spLocks xmlns:a="http://schemas.openxmlformats.org/drawingml/2006/main" noGrp="1"/>
          </p:cNvSpPr>
          <p:nvPr/>
        </p:nvSpPr>
        <p:spPr>
          <a:xfrm xmlns:a="http://schemas.openxmlformats.org/drawingml/2006/main">
            <a:off x="685800" y="4924425"/>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6" name="retrieval-number-4">
            <a:extLst xmlns:a="http://schemas.openxmlformats.org/drawingml/2006/main">
              <a:ext uri="{FF2B5EF4-FFF2-40B4-BE49-F238E27FC236}">
                <a16:creationId xmlns:a16="http://schemas.microsoft.com/office/drawing/2014/main" id="{CC74CCD4-EEF7-4C0D-B57A-5DF8D4589740}"/>
              </a:ext>
            </a:extLst>
          </p:cNvPr>
          <p:cNvSpPr>
            <a:spLocks xmlns:a="http://schemas.openxmlformats.org/drawingml/2006/main" noGrp="1"/>
          </p:cNvSpPr>
          <p:nvPr/>
        </p:nvSpPr>
        <p:spPr>
          <a:xfrm xmlns:a="http://schemas.openxmlformats.org/drawingml/2006/main">
            <a:off x="685800" y="50101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4</a:t>
            </a:r>
          </a:p>
        </p:txBody>
      </p:sp>
      <p:sp>
        <p:nvSpPr>
          <p:cNvPr id="17" name="retrieval-question-4">
            <a:extLst xmlns:a="http://schemas.openxmlformats.org/drawingml/2006/main">
              <a:ext uri="{FF2B5EF4-FFF2-40B4-BE49-F238E27FC236}">
                <a16:creationId xmlns:a16="http://schemas.microsoft.com/office/drawing/2014/main" id="{60A24DA1-9611-4B6C-847E-3063BD478E90}"/>
              </a:ext>
            </a:extLst>
          </p:cNvPr>
          <p:cNvSpPr>
            <a:spLocks xmlns:a="http://schemas.openxmlformats.org/drawingml/2006/main" noGrp="1"/>
          </p:cNvSpPr>
          <p:nvPr/>
        </p:nvSpPr>
        <p:spPr>
          <a:xfrm xmlns:a="http://schemas.openxmlformats.org/drawingml/2006/main">
            <a:off x="1428750" y="494347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Connect two ideas: how could one change a decision made with the other?</a:t>
            </a:r>
          </a:p>
        </p:txBody>
      </p:sp>
      <p:sp>
        <p:nvSpPr>
          <p:cNvPr id="18" name="footer-module-6">
            <a:extLst xmlns:a="http://schemas.openxmlformats.org/drawingml/2006/main">
              <a:ext uri="{FF2B5EF4-FFF2-40B4-BE49-F238E27FC236}">
                <a16:creationId xmlns:a16="http://schemas.microsoft.com/office/drawing/2014/main" id="{56A163E5-AE47-4485-B83F-41952D64F74F}"/>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03 · YEAR 8 TEXTILES TECHNOLOGY</a:t>
            </a:r>
          </a:p>
        </p:txBody>
      </p:sp>
      <p:sp>
        <p:nvSpPr>
          <p:cNvPr id="19" name="footer-number-6">
            <a:extLst xmlns:a="http://schemas.openxmlformats.org/drawingml/2006/main">
              <a:ext uri="{FF2B5EF4-FFF2-40B4-BE49-F238E27FC236}">
                <a16:creationId xmlns:a16="http://schemas.microsoft.com/office/drawing/2014/main" id="{D35D4DB2-5776-4820-ACAA-F70CD06A2844}"/>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06</a:t>
            </a:r>
          </a:p>
        </p:txBody>
      </p:sp>
    </p:spTree>
    <p:extLst>
      <p:ext uri="{BB962C8B-B14F-4D97-AF65-F5344CB8AC3E}">
        <p14:creationId xmlns:p14="http://schemas.microsoft.com/office/powerpoint/2010/main" val="796275508"/>
      </p:ext>
    </p:extLst>
  </p:cSld>
</p:sld>
</file>

<file path=ppt/slides/slide7.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24" name="top-accent">
            <a:extLst xmlns:a="http://schemas.openxmlformats.org/drawingml/2006/main">
              <a:ext uri="{FF2B5EF4-FFF2-40B4-BE49-F238E27FC236}">
                <a16:creationId xmlns:a16="http://schemas.microsoft.com/office/drawing/2014/main" id="{5E265808-79C5-4898-B51C-B49046C15AF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D6A238"/>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B14D850C-6E2B-4EED-9BC2-4D94EED8C04F}"/>
              </a:ext>
            </a:extLst>
          </p:cNvPr>
          <p:cNvSpPr>
            <a:spLocks xmlns:a="http://schemas.openxmlformats.org/drawingml/2006/main" noGrp="1"/>
          </p:cNvSpPr>
          <p:nvPr/>
        </p:nvSpPr>
        <p:spPr>
          <a:xfrm xmlns:a="http://schemas.openxmlformats.org/drawingml/2006/main">
            <a:off x="609600" y="495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Read → Select → Explain → Check</a:t>
            </a:r>
          </a:p>
        </p:txBody>
      </p:sp>
      <p:sp>
        <p:nvSpPr>
          <p:cNvPr id="3" name="guided-question">
            <a:extLst xmlns:a="http://schemas.openxmlformats.org/drawingml/2006/main">
              <a:ext uri="{FF2B5EF4-FFF2-40B4-BE49-F238E27FC236}">
                <a16:creationId xmlns:a16="http://schemas.microsoft.com/office/drawing/2014/main" id="{FD9108AB-A783-46EF-A89A-6F5FE46D07CF}"/>
              </a:ext>
            </a:extLst>
          </p:cNvPr>
          <p:cNvSpPr>
            <a:spLocks xmlns:a="http://schemas.openxmlformats.org/drawingml/2006/main" noGrp="1"/>
          </p:cNvSpPr>
          <p:nvPr/>
        </p:nvSpPr>
        <p:spPr>
          <a:xfrm xmlns:a="http://schemas.openxmlformats.org/drawingml/2006/main">
            <a:off x="609600" y="12001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C5357"/>
                </a:solidFill>
              </a:defRPr>
            </a:pPr>
            <a:r>
              <a:rPr sz="1500" b="0">
                <a:solidFill>
                  <a:srgbClr val="5C5357"/>
                </a:solidFill>
              </a:rPr>
              <a:t>Evaluate one pincushion criterion using progress and final evidence, explain any trade-off and justify one realistic improvement.</a:t>
            </a:r>
          </a:p>
        </p:txBody>
      </p:sp>
      <p:sp>
        <p:nvSpPr>
          <p:cNvPr id="4" name="response-number-1">
            <a:extLst xmlns:a="http://schemas.openxmlformats.org/drawingml/2006/main">
              <a:ext uri="{FF2B5EF4-FFF2-40B4-BE49-F238E27FC236}">
                <a16:creationId xmlns:a16="http://schemas.microsoft.com/office/drawing/2014/main" id="{9D6CF7C9-3759-40D5-9EEC-DBFFFDBB4F63}"/>
              </a:ext>
            </a:extLst>
          </p:cNvPr>
          <p:cNvSpPr>
            <a:spLocks xmlns:a="http://schemas.openxmlformats.org/drawingml/2006/main" noGrp="1"/>
          </p:cNvSpPr>
          <p:nvPr/>
        </p:nvSpPr>
        <p:spPr>
          <a:xfrm xmlns:a="http://schemas.openxmlformats.org/drawingml/2006/main">
            <a:off x="6096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21735"/>
                </a:solidFill>
              </a:defRPr>
            </a:pPr>
            <a:r>
              <a:rPr sz="2700" b="1">
                <a:solidFill>
                  <a:srgbClr val="721735"/>
                </a:solidFill>
              </a:rPr>
              <a:t>1</a:t>
            </a:r>
          </a:p>
        </p:txBody>
      </p:sp>
      <p:sp>
        <p:nvSpPr>
          <p:cNvPr id="5" name="response-label-1">
            <a:extLst xmlns:a="http://schemas.openxmlformats.org/drawingml/2006/main">
              <a:ext uri="{FF2B5EF4-FFF2-40B4-BE49-F238E27FC236}">
                <a16:creationId xmlns:a16="http://schemas.microsoft.com/office/drawing/2014/main" id="{D5C2E193-2826-4F1A-B742-5831A376BDF6}"/>
              </a:ext>
            </a:extLst>
          </p:cNvPr>
          <p:cNvSpPr>
            <a:spLocks xmlns:a="http://schemas.openxmlformats.org/drawingml/2006/main" noGrp="1"/>
          </p:cNvSpPr>
          <p:nvPr/>
        </p:nvSpPr>
        <p:spPr>
          <a:xfrm xmlns:a="http://schemas.openxmlformats.org/drawingml/2006/main">
            <a:off x="6096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21735"/>
                </a:solidFill>
              </a:defRPr>
            </a:pPr>
            <a:r>
              <a:rPr sz="1650" b="1">
                <a:solidFill>
                  <a:srgbClr val="721735"/>
                </a:solidFill>
              </a:rPr>
              <a:t>READ</a:t>
            </a:r>
          </a:p>
        </p:txBody>
      </p:sp>
      <p:sp>
        <p:nvSpPr>
          <p:cNvPr id="6" name="response-step-1">
            <a:extLst xmlns:a="http://schemas.openxmlformats.org/drawingml/2006/main">
              <a:ext uri="{FF2B5EF4-FFF2-40B4-BE49-F238E27FC236}">
                <a16:creationId xmlns:a16="http://schemas.microsoft.com/office/drawing/2014/main" id="{C40EFF52-B17C-441F-AD83-93DA4413431C}"/>
              </a:ext>
            </a:extLst>
          </p:cNvPr>
          <p:cNvSpPr>
            <a:spLocks xmlns:a="http://schemas.openxmlformats.org/drawingml/2006/main" noGrp="1"/>
          </p:cNvSpPr>
          <p:nvPr/>
        </p:nvSpPr>
        <p:spPr>
          <a:xfrm xmlns:a="http://schemas.openxmlformats.org/drawingml/2006/main">
            <a:off x="6096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Underline the task word and the exact context.</a:t>
            </a:r>
          </a:p>
        </p:txBody>
      </p:sp>
      <p:sp>
        <p:nvSpPr>
          <p:cNvPr id="7" name="response-arrow-1">
            <a:extLst xmlns:a="http://schemas.openxmlformats.org/drawingml/2006/main">
              <a:ext uri="{FF2B5EF4-FFF2-40B4-BE49-F238E27FC236}">
                <a16:creationId xmlns:a16="http://schemas.microsoft.com/office/drawing/2014/main" id="{F11C3E4E-51C9-47B7-BAA3-E7152C442162}"/>
              </a:ext>
            </a:extLst>
          </p:cNvPr>
          <p:cNvSpPr>
            <a:spLocks xmlns:a="http://schemas.openxmlformats.org/drawingml/2006/main" noGrp="1"/>
          </p:cNvSpPr>
          <p:nvPr/>
        </p:nvSpPr>
        <p:spPr>
          <a:xfrm xmlns:a="http://schemas.openxmlformats.org/drawingml/2006/main">
            <a:off x="29432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8" name="response-number-2">
            <a:extLst xmlns:a="http://schemas.openxmlformats.org/drawingml/2006/main">
              <a:ext uri="{FF2B5EF4-FFF2-40B4-BE49-F238E27FC236}">
                <a16:creationId xmlns:a16="http://schemas.microsoft.com/office/drawing/2014/main" id="{46AC5303-1BAB-463F-82CA-512C0778C7D9}"/>
              </a:ext>
            </a:extLst>
          </p:cNvPr>
          <p:cNvSpPr>
            <a:spLocks xmlns:a="http://schemas.openxmlformats.org/drawingml/2006/main" noGrp="1"/>
          </p:cNvSpPr>
          <p:nvPr/>
        </p:nvSpPr>
        <p:spPr>
          <a:xfrm xmlns:a="http://schemas.openxmlformats.org/drawingml/2006/main">
            <a:off x="33337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AC2254"/>
                </a:solidFill>
              </a:defRPr>
            </a:pPr>
            <a:r>
              <a:rPr sz="2700" b="1">
                <a:solidFill>
                  <a:srgbClr val="AC2254"/>
                </a:solidFill>
              </a:rPr>
              <a:t>2</a:t>
            </a:r>
          </a:p>
        </p:txBody>
      </p:sp>
      <p:sp>
        <p:nvSpPr>
          <p:cNvPr id="9" name="response-label-2">
            <a:extLst xmlns:a="http://schemas.openxmlformats.org/drawingml/2006/main">
              <a:ext uri="{FF2B5EF4-FFF2-40B4-BE49-F238E27FC236}">
                <a16:creationId xmlns:a16="http://schemas.microsoft.com/office/drawing/2014/main" id="{EF649AA9-E3E8-4852-A64E-DF142201DCBC}"/>
              </a:ext>
            </a:extLst>
          </p:cNvPr>
          <p:cNvSpPr>
            <a:spLocks xmlns:a="http://schemas.openxmlformats.org/drawingml/2006/main" noGrp="1"/>
          </p:cNvSpPr>
          <p:nvPr/>
        </p:nvSpPr>
        <p:spPr>
          <a:xfrm xmlns:a="http://schemas.openxmlformats.org/drawingml/2006/main">
            <a:off x="33337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AC2254"/>
                </a:solidFill>
              </a:defRPr>
            </a:pPr>
            <a:r>
              <a:rPr sz="1650" b="1">
                <a:solidFill>
                  <a:srgbClr val="AC2254"/>
                </a:solidFill>
              </a:rPr>
              <a:t>SELECT</a:t>
            </a:r>
          </a:p>
        </p:txBody>
      </p:sp>
      <p:sp>
        <p:nvSpPr>
          <p:cNvPr id="10" name="response-step-2">
            <a:extLst xmlns:a="http://schemas.openxmlformats.org/drawingml/2006/main">
              <a:ext uri="{FF2B5EF4-FFF2-40B4-BE49-F238E27FC236}">
                <a16:creationId xmlns:a16="http://schemas.microsoft.com/office/drawing/2014/main" id="{130128AB-E90B-4752-8948-4BDAFE1E7E8D}"/>
              </a:ext>
            </a:extLst>
          </p:cNvPr>
          <p:cNvSpPr>
            <a:spLocks xmlns:a="http://schemas.openxmlformats.org/drawingml/2006/main" noGrp="1"/>
          </p:cNvSpPr>
          <p:nvPr/>
        </p:nvSpPr>
        <p:spPr>
          <a:xfrm xmlns:a="http://schemas.openxmlformats.org/drawingml/2006/main">
            <a:off x="33337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Choose theory and project evidence that answers it.</a:t>
            </a:r>
          </a:p>
        </p:txBody>
      </p:sp>
      <p:sp>
        <p:nvSpPr>
          <p:cNvPr id="11" name="response-arrow-2">
            <a:extLst xmlns:a="http://schemas.openxmlformats.org/drawingml/2006/main">
              <a:ext uri="{FF2B5EF4-FFF2-40B4-BE49-F238E27FC236}">
                <a16:creationId xmlns:a16="http://schemas.microsoft.com/office/drawing/2014/main" id="{5608A8B0-AA33-4C56-8365-43D29BBAC89F}"/>
              </a:ext>
            </a:extLst>
          </p:cNvPr>
          <p:cNvSpPr>
            <a:spLocks xmlns:a="http://schemas.openxmlformats.org/drawingml/2006/main" noGrp="1"/>
          </p:cNvSpPr>
          <p:nvPr/>
        </p:nvSpPr>
        <p:spPr>
          <a:xfrm xmlns:a="http://schemas.openxmlformats.org/drawingml/2006/main">
            <a:off x="566737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2" name="response-number-3">
            <a:extLst xmlns:a="http://schemas.openxmlformats.org/drawingml/2006/main">
              <a:ext uri="{FF2B5EF4-FFF2-40B4-BE49-F238E27FC236}">
                <a16:creationId xmlns:a16="http://schemas.microsoft.com/office/drawing/2014/main" id="{388715C9-6969-4534-8D6F-AE889AD2A8BC}"/>
              </a:ext>
            </a:extLst>
          </p:cNvPr>
          <p:cNvSpPr>
            <a:spLocks xmlns:a="http://schemas.openxmlformats.org/drawingml/2006/main" noGrp="1"/>
          </p:cNvSpPr>
          <p:nvPr/>
        </p:nvSpPr>
        <p:spPr>
          <a:xfrm xmlns:a="http://schemas.openxmlformats.org/drawingml/2006/main">
            <a:off x="60579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D6A238"/>
                </a:solidFill>
              </a:defRPr>
            </a:pPr>
            <a:r>
              <a:rPr sz="2700" b="1">
                <a:solidFill>
                  <a:srgbClr val="D6A238"/>
                </a:solidFill>
              </a:rPr>
              <a:t>3</a:t>
            </a:r>
          </a:p>
        </p:txBody>
      </p:sp>
      <p:sp>
        <p:nvSpPr>
          <p:cNvPr id="13" name="response-label-3">
            <a:extLst xmlns:a="http://schemas.openxmlformats.org/drawingml/2006/main">
              <a:ext uri="{FF2B5EF4-FFF2-40B4-BE49-F238E27FC236}">
                <a16:creationId xmlns:a16="http://schemas.microsoft.com/office/drawing/2014/main" id="{B052E6EE-02B3-43DE-A8E0-0D8D7A12F595}"/>
              </a:ext>
            </a:extLst>
          </p:cNvPr>
          <p:cNvSpPr>
            <a:spLocks xmlns:a="http://schemas.openxmlformats.org/drawingml/2006/main" noGrp="1"/>
          </p:cNvSpPr>
          <p:nvPr/>
        </p:nvSpPr>
        <p:spPr>
          <a:xfrm xmlns:a="http://schemas.openxmlformats.org/drawingml/2006/main">
            <a:off x="60579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6A238"/>
                </a:solidFill>
              </a:defRPr>
            </a:pPr>
            <a:r>
              <a:rPr sz="1650" b="1">
                <a:solidFill>
                  <a:srgbClr val="D6A238"/>
                </a:solidFill>
              </a:rPr>
              <a:t>EXPLAIN</a:t>
            </a:r>
          </a:p>
        </p:txBody>
      </p:sp>
      <p:sp>
        <p:nvSpPr>
          <p:cNvPr id="14" name="response-step-3">
            <a:extLst xmlns:a="http://schemas.openxmlformats.org/drawingml/2006/main">
              <a:ext uri="{FF2B5EF4-FFF2-40B4-BE49-F238E27FC236}">
                <a16:creationId xmlns:a16="http://schemas.microsoft.com/office/drawing/2014/main" id="{EB40ABD2-D91D-4811-8BF3-F5D52DFB526D}"/>
              </a:ext>
            </a:extLst>
          </p:cNvPr>
          <p:cNvSpPr>
            <a:spLocks xmlns:a="http://schemas.openxmlformats.org/drawingml/2006/main" noGrp="1"/>
          </p:cNvSpPr>
          <p:nvPr/>
        </p:nvSpPr>
        <p:spPr>
          <a:xfrm xmlns:a="http://schemas.openxmlformats.org/drawingml/2006/main">
            <a:off x="60579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Connect the evidence to a reason, effect or judgement.</a:t>
            </a:r>
          </a:p>
        </p:txBody>
      </p:sp>
      <p:sp>
        <p:nvSpPr>
          <p:cNvPr id="15" name="response-arrow-3">
            <a:extLst xmlns:a="http://schemas.openxmlformats.org/drawingml/2006/main">
              <a:ext uri="{FF2B5EF4-FFF2-40B4-BE49-F238E27FC236}">
                <a16:creationId xmlns:a16="http://schemas.microsoft.com/office/drawing/2014/main" id="{E3BBC4DF-994F-4CBC-BEC6-62EF56F9CE4D}"/>
              </a:ext>
            </a:extLst>
          </p:cNvPr>
          <p:cNvSpPr>
            <a:spLocks xmlns:a="http://schemas.openxmlformats.org/drawingml/2006/main" noGrp="1"/>
          </p:cNvSpPr>
          <p:nvPr/>
        </p:nvSpPr>
        <p:spPr>
          <a:xfrm xmlns:a="http://schemas.openxmlformats.org/drawingml/2006/main">
            <a:off x="83915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6" name="response-number-4">
            <a:extLst xmlns:a="http://schemas.openxmlformats.org/drawingml/2006/main">
              <a:ext uri="{FF2B5EF4-FFF2-40B4-BE49-F238E27FC236}">
                <a16:creationId xmlns:a16="http://schemas.microsoft.com/office/drawing/2014/main" id="{934E1A33-7476-45C7-82ED-54E2992B2D9B}"/>
              </a:ext>
            </a:extLst>
          </p:cNvPr>
          <p:cNvSpPr>
            <a:spLocks xmlns:a="http://schemas.openxmlformats.org/drawingml/2006/main" noGrp="1"/>
          </p:cNvSpPr>
          <p:nvPr/>
        </p:nvSpPr>
        <p:spPr>
          <a:xfrm xmlns:a="http://schemas.openxmlformats.org/drawingml/2006/main">
            <a:off x="87820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226A61"/>
                </a:solidFill>
              </a:defRPr>
            </a:pPr>
            <a:r>
              <a:rPr sz="2700" b="1">
                <a:solidFill>
                  <a:srgbClr val="226A61"/>
                </a:solidFill>
              </a:rPr>
              <a:t>4</a:t>
            </a:r>
          </a:p>
        </p:txBody>
      </p:sp>
      <p:sp>
        <p:nvSpPr>
          <p:cNvPr id="17" name="response-label-4">
            <a:extLst xmlns:a="http://schemas.openxmlformats.org/drawingml/2006/main">
              <a:ext uri="{FF2B5EF4-FFF2-40B4-BE49-F238E27FC236}">
                <a16:creationId xmlns:a16="http://schemas.microsoft.com/office/drawing/2014/main" id="{851A38C8-72E8-4069-BD9A-5D41933FCEDA}"/>
              </a:ext>
            </a:extLst>
          </p:cNvPr>
          <p:cNvSpPr>
            <a:spLocks xmlns:a="http://schemas.openxmlformats.org/drawingml/2006/main" noGrp="1"/>
          </p:cNvSpPr>
          <p:nvPr/>
        </p:nvSpPr>
        <p:spPr>
          <a:xfrm xmlns:a="http://schemas.openxmlformats.org/drawingml/2006/main">
            <a:off x="87820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26A61"/>
                </a:solidFill>
              </a:defRPr>
            </a:pPr>
            <a:r>
              <a:rPr sz="1650" b="1">
                <a:solidFill>
                  <a:srgbClr val="226A61"/>
                </a:solidFill>
              </a:rPr>
              <a:t>CHECK</a:t>
            </a:r>
          </a:p>
        </p:txBody>
      </p:sp>
      <p:sp>
        <p:nvSpPr>
          <p:cNvPr id="18" name="response-step-4">
            <a:extLst xmlns:a="http://schemas.openxmlformats.org/drawingml/2006/main">
              <a:ext uri="{FF2B5EF4-FFF2-40B4-BE49-F238E27FC236}">
                <a16:creationId xmlns:a16="http://schemas.microsoft.com/office/drawing/2014/main" id="{D9A7528B-2077-471F-83AC-2FB8950A3F35}"/>
              </a:ext>
            </a:extLst>
          </p:cNvPr>
          <p:cNvSpPr>
            <a:spLocks xmlns:a="http://schemas.openxmlformats.org/drawingml/2006/main" noGrp="1"/>
          </p:cNvSpPr>
          <p:nvPr/>
        </p:nvSpPr>
        <p:spPr>
          <a:xfrm xmlns:a="http://schemas.openxmlformats.org/drawingml/2006/main">
            <a:off x="87820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Compare the response with the two success criteria.</a:t>
            </a:r>
          </a:p>
        </p:txBody>
      </p:sp>
      <p:sp>
        <p:nvSpPr>
          <p:cNvPr id="19" name="sentence-support">
            <a:extLst xmlns:a="http://schemas.openxmlformats.org/drawingml/2006/main">
              <a:ext uri="{FF2B5EF4-FFF2-40B4-BE49-F238E27FC236}">
                <a16:creationId xmlns:a16="http://schemas.microsoft.com/office/drawing/2014/main" id="{410A97AD-BAB4-44B4-9056-B2A9B1DD5BF4}"/>
              </a:ext>
            </a:extLst>
          </p:cNvPr>
          <p:cNvSpPr>
            <a:spLocks xmlns:a="http://schemas.openxmlformats.org/drawingml/2006/main" noGrp="1"/>
          </p:cNvSpPr>
          <p:nvPr/>
        </p:nvSpPr>
        <p:spPr>
          <a:xfrm xmlns:a="http://schemas.openxmlformats.org/drawingml/2006/main">
            <a:off x="609600" y="4895850"/>
            <a:ext cx="10972800" cy="1123950"/>
          </a:xfrm>
          <a:prstGeom xmlns:a="http://schemas.openxmlformats.org/drawingml/2006/main" prst="roundRect">
            <a:avLst>
              <a:gd name="adj" fmla="val 13559"/>
            </a:avLst>
          </a:prstGeom>
          <a:solidFill xmlns:a="http://schemas.openxmlformats.org/drawingml/2006/main">
            <a:srgbClr val="721735"/>
          </a:solidFill>
          <a:ln xmlns:a="http://schemas.openxmlformats.org/drawingml/2006/main" w="0">
            <a:noFill/>
            <a:prstDash val="solid"/>
          </a:ln>
        </p:spPr>
      </p:sp>
      <p:sp>
        <p:nvSpPr>
          <p:cNvPr id="20" name="sentence-support-label">
            <a:extLst xmlns:a="http://schemas.openxmlformats.org/drawingml/2006/main">
              <a:ext uri="{FF2B5EF4-FFF2-40B4-BE49-F238E27FC236}">
                <a16:creationId xmlns:a16="http://schemas.microsoft.com/office/drawing/2014/main" id="{AD75201E-9CE9-41E9-BAA3-AE8C4F0EBC51}"/>
              </a:ext>
            </a:extLst>
          </p:cNvPr>
          <p:cNvSpPr>
            <a:spLocks xmlns:a="http://schemas.openxmlformats.org/drawingml/2006/main" noGrp="1"/>
          </p:cNvSpPr>
          <p:nvPr/>
        </p:nvSpPr>
        <p:spPr>
          <a:xfrm xmlns:a="http://schemas.openxmlformats.org/drawingml/2006/main">
            <a:off x="838200" y="50863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SENTENCE SUPPORT</a:t>
            </a:r>
          </a:p>
        </p:txBody>
      </p:sp>
      <p:sp>
        <p:nvSpPr>
          <p:cNvPr id="21" name="sentence-stem">
            <a:extLst xmlns:a="http://schemas.openxmlformats.org/drawingml/2006/main">
              <a:ext uri="{FF2B5EF4-FFF2-40B4-BE49-F238E27FC236}">
                <a16:creationId xmlns:a16="http://schemas.microsoft.com/office/drawing/2014/main" id="{D8BE89A1-8C57-4416-BC41-8945C2CA8A78}"/>
              </a:ext>
            </a:extLst>
          </p:cNvPr>
          <p:cNvSpPr>
            <a:spLocks xmlns:a="http://schemas.openxmlformats.org/drawingml/2006/main" noGrp="1"/>
          </p:cNvSpPr>
          <p:nvPr/>
        </p:nvSpPr>
        <p:spPr>
          <a:xfrm xmlns:a="http://schemas.openxmlformats.org/drawingml/2006/main">
            <a:off x="838200" y="543877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One decision I would make is ___ because evidence from ___ shows ___. I would check it by ___.</a:t>
            </a:r>
          </a:p>
        </p:txBody>
      </p:sp>
      <p:sp>
        <p:nvSpPr>
          <p:cNvPr id="22" name="footer-module-7">
            <a:extLst xmlns:a="http://schemas.openxmlformats.org/drawingml/2006/main">
              <a:ext uri="{FF2B5EF4-FFF2-40B4-BE49-F238E27FC236}">
                <a16:creationId xmlns:a16="http://schemas.microsoft.com/office/drawing/2014/main" id="{DA63E2FD-E43A-4C12-8646-06BB6E8FFF2D}"/>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03 · YEAR 8 TEXTILES TECHNOLOGY</a:t>
            </a:r>
          </a:p>
        </p:txBody>
      </p:sp>
      <p:sp>
        <p:nvSpPr>
          <p:cNvPr id="23" name="footer-number-7">
            <a:extLst xmlns:a="http://schemas.openxmlformats.org/drawingml/2006/main">
              <a:ext uri="{FF2B5EF4-FFF2-40B4-BE49-F238E27FC236}">
                <a16:creationId xmlns:a16="http://schemas.microsoft.com/office/drawing/2014/main" id="{48503BE1-9F88-4AA8-98C2-2614DEEE1424}"/>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07</a:t>
            </a:r>
          </a:p>
        </p:txBody>
      </p:sp>
    </p:spTree>
    <p:extLst>
      <p:ext uri="{BB962C8B-B14F-4D97-AF65-F5344CB8AC3E}">
        <p14:creationId xmlns:p14="http://schemas.microsoft.com/office/powerpoint/2010/main" val="1462285490"/>
      </p:ext>
    </p:extLst>
  </p:cSld>
</p:sld>
</file>

<file path=ppt/slides/slide8.xml><?xml version="1.0" encoding="utf-8"?>
<p:sld xmlns:p="http://schemas.openxmlformats.org/presentationml/2006/main">
  <p:cSld>
    <p:bg>
      <p:bgPr>
        <a:solidFill xmlns:a="http://schemas.openxmlformats.org/drawingml/2006/main">
          <a:srgbClr val="C94C46"/>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17CFE041-93C3-472C-BEF9-75E752B96EC3}"/>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Before you leave…</a:t>
            </a:r>
          </a:p>
        </p:txBody>
      </p:sp>
      <p:sp>
        <p:nvSpPr>
          <p:cNvPr id="2" name="exit-number-1">
            <a:extLst xmlns:a="http://schemas.openxmlformats.org/drawingml/2006/main">
              <a:ext uri="{FF2B5EF4-FFF2-40B4-BE49-F238E27FC236}">
                <a16:creationId xmlns:a16="http://schemas.microsoft.com/office/drawing/2014/main" id="{10042353-BB1E-450B-8308-6DB1FFA64487}"/>
              </a:ext>
            </a:extLst>
          </p:cNvPr>
          <p:cNvSpPr>
            <a:spLocks xmlns:a="http://schemas.openxmlformats.org/drawingml/2006/main" noGrp="1"/>
          </p:cNvSpPr>
          <p:nvPr/>
        </p:nvSpPr>
        <p:spPr>
          <a:xfrm xmlns:a="http://schemas.openxmlformats.org/drawingml/2006/main">
            <a:off x="666750" y="16764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1.</a:t>
            </a:r>
          </a:p>
        </p:txBody>
      </p:sp>
      <p:sp>
        <p:nvSpPr>
          <p:cNvPr id="3" name="exit-prompt-1">
            <a:extLst xmlns:a="http://schemas.openxmlformats.org/drawingml/2006/main">
              <a:ext uri="{FF2B5EF4-FFF2-40B4-BE49-F238E27FC236}">
                <a16:creationId xmlns:a16="http://schemas.microsoft.com/office/drawing/2014/main" id="{D072A01F-4F44-4B87-8831-6C349A03A8C1}"/>
              </a:ext>
            </a:extLst>
          </p:cNvPr>
          <p:cNvSpPr>
            <a:spLocks xmlns:a="http://schemas.openxmlformats.org/drawingml/2006/main" noGrp="1"/>
          </p:cNvSpPr>
          <p:nvPr/>
        </p:nvSpPr>
        <p:spPr>
          <a:xfrm xmlns:a="http://schemas.openxmlformats.org/drawingml/2006/main">
            <a:off x="1295400" y="16764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idea I can now explain is…</a:t>
            </a:r>
          </a:p>
        </p:txBody>
      </p:sp>
      <p:sp>
        <p:nvSpPr>
          <p:cNvPr id="4" name="exit-rule-1">
            <a:extLst xmlns:a="http://schemas.openxmlformats.org/drawingml/2006/main">
              <a:ext uri="{FF2B5EF4-FFF2-40B4-BE49-F238E27FC236}">
                <a16:creationId xmlns:a16="http://schemas.microsoft.com/office/drawing/2014/main" id="{A4F6185A-F6C9-446B-8817-67750F25DAEA}"/>
              </a:ext>
            </a:extLst>
          </p:cNvPr>
          <p:cNvSpPr>
            <a:spLocks xmlns:a="http://schemas.openxmlformats.org/drawingml/2006/main" noGrp="1"/>
          </p:cNvSpPr>
          <p:nvPr/>
        </p:nvSpPr>
        <p:spPr>
          <a:xfrm xmlns:a="http://schemas.openxmlformats.org/drawingml/2006/main">
            <a:off x="1295400" y="219075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5" name="exit-number-2">
            <a:extLst xmlns:a="http://schemas.openxmlformats.org/drawingml/2006/main">
              <a:ext uri="{FF2B5EF4-FFF2-40B4-BE49-F238E27FC236}">
                <a16:creationId xmlns:a16="http://schemas.microsoft.com/office/drawing/2014/main" id="{43AE7BD5-9696-4EDE-9EC7-58716B68A349}"/>
              </a:ext>
            </a:extLst>
          </p:cNvPr>
          <p:cNvSpPr>
            <a:spLocks xmlns:a="http://schemas.openxmlformats.org/drawingml/2006/main" noGrp="1"/>
          </p:cNvSpPr>
          <p:nvPr/>
        </p:nvSpPr>
        <p:spPr>
          <a:xfrm xmlns:a="http://schemas.openxmlformats.org/drawingml/2006/main">
            <a:off x="666750" y="267652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2.</a:t>
            </a:r>
          </a:p>
        </p:txBody>
      </p:sp>
      <p:sp>
        <p:nvSpPr>
          <p:cNvPr id="6" name="exit-prompt-2">
            <a:extLst xmlns:a="http://schemas.openxmlformats.org/drawingml/2006/main">
              <a:ext uri="{FF2B5EF4-FFF2-40B4-BE49-F238E27FC236}">
                <a16:creationId xmlns:a16="http://schemas.microsoft.com/office/drawing/2014/main" id="{93E32462-EA10-498F-A912-A4D88592050E}"/>
              </a:ext>
            </a:extLst>
          </p:cNvPr>
          <p:cNvSpPr>
            <a:spLocks xmlns:a="http://schemas.openxmlformats.org/drawingml/2006/main" noGrp="1"/>
          </p:cNvSpPr>
          <p:nvPr/>
        </p:nvSpPr>
        <p:spPr>
          <a:xfrm xmlns:a="http://schemas.openxmlformats.org/drawingml/2006/main">
            <a:off x="1295400" y="26765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practical or design decision this changes is…</a:t>
            </a:r>
          </a:p>
        </p:txBody>
      </p:sp>
      <p:sp>
        <p:nvSpPr>
          <p:cNvPr id="7" name="exit-rule-2">
            <a:extLst xmlns:a="http://schemas.openxmlformats.org/drawingml/2006/main">
              <a:ext uri="{FF2B5EF4-FFF2-40B4-BE49-F238E27FC236}">
                <a16:creationId xmlns:a16="http://schemas.microsoft.com/office/drawing/2014/main" id="{35F05BDD-3A80-486F-A279-E133341CA208}"/>
              </a:ext>
            </a:extLst>
          </p:cNvPr>
          <p:cNvSpPr>
            <a:spLocks xmlns:a="http://schemas.openxmlformats.org/drawingml/2006/main" noGrp="1"/>
          </p:cNvSpPr>
          <p:nvPr/>
        </p:nvSpPr>
        <p:spPr>
          <a:xfrm xmlns:a="http://schemas.openxmlformats.org/drawingml/2006/main">
            <a:off x="1295400" y="3190875"/>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8" name="exit-number-3">
            <a:extLst xmlns:a="http://schemas.openxmlformats.org/drawingml/2006/main">
              <a:ext uri="{FF2B5EF4-FFF2-40B4-BE49-F238E27FC236}">
                <a16:creationId xmlns:a16="http://schemas.microsoft.com/office/drawing/2014/main" id="{98F9D7FD-0B5E-4F21-A32D-A7A411F73561}"/>
              </a:ext>
            </a:extLst>
          </p:cNvPr>
          <p:cNvSpPr>
            <a:spLocks xmlns:a="http://schemas.openxmlformats.org/drawingml/2006/main" noGrp="1"/>
          </p:cNvSpPr>
          <p:nvPr/>
        </p:nvSpPr>
        <p:spPr>
          <a:xfrm xmlns:a="http://schemas.openxmlformats.org/drawingml/2006/main">
            <a:off x="666750" y="36766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3.</a:t>
            </a:r>
          </a:p>
        </p:txBody>
      </p:sp>
      <p:sp>
        <p:nvSpPr>
          <p:cNvPr id="9" name="exit-prompt-3">
            <a:extLst xmlns:a="http://schemas.openxmlformats.org/drawingml/2006/main">
              <a:ext uri="{FF2B5EF4-FFF2-40B4-BE49-F238E27FC236}">
                <a16:creationId xmlns:a16="http://schemas.microsoft.com/office/drawing/2014/main" id="{DCA36851-BCE0-4789-858B-6B90E92E7F68}"/>
              </a:ext>
            </a:extLst>
          </p:cNvPr>
          <p:cNvSpPr>
            <a:spLocks xmlns:a="http://schemas.openxmlformats.org/drawingml/2006/main" noGrp="1"/>
          </p:cNvSpPr>
          <p:nvPr/>
        </p:nvSpPr>
        <p:spPr>
          <a:xfrm xmlns:a="http://schemas.openxmlformats.org/drawingml/2006/main">
            <a:off x="1295400" y="36766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question or check I still need is…</a:t>
            </a:r>
          </a:p>
        </p:txBody>
      </p:sp>
      <p:sp>
        <p:nvSpPr>
          <p:cNvPr id="10" name="exit-rule-3">
            <a:extLst xmlns:a="http://schemas.openxmlformats.org/drawingml/2006/main">
              <a:ext uri="{FF2B5EF4-FFF2-40B4-BE49-F238E27FC236}">
                <a16:creationId xmlns:a16="http://schemas.microsoft.com/office/drawing/2014/main" id="{B462FD41-5C8D-473F-AAE0-713CAC7F71BF}"/>
              </a:ext>
            </a:extLst>
          </p:cNvPr>
          <p:cNvSpPr>
            <a:spLocks xmlns:a="http://schemas.openxmlformats.org/drawingml/2006/main" noGrp="1"/>
          </p:cNvSpPr>
          <p:nvPr/>
        </p:nvSpPr>
        <p:spPr>
          <a:xfrm xmlns:a="http://schemas.openxmlformats.org/drawingml/2006/main">
            <a:off x="1295400" y="419100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11" name="evidence-destination">
            <a:extLst xmlns:a="http://schemas.openxmlformats.org/drawingml/2006/main">
              <a:ext uri="{FF2B5EF4-FFF2-40B4-BE49-F238E27FC236}">
                <a16:creationId xmlns:a16="http://schemas.microsoft.com/office/drawing/2014/main" id="{02588327-62F6-4638-A1AC-A34BD7049DFE}"/>
              </a:ext>
            </a:extLst>
          </p:cNvPr>
          <p:cNvSpPr>
            <a:spLocks xmlns:a="http://schemas.openxmlformats.org/drawingml/2006/main" noGrp="1"/>
          </p:cNvSpPr>
          <p:nvPr/>
        </p:nvSpPr>
        <p:spPr>
          <a:xfrm xmlns:a="http://schemas.openxmlformats.org/drawingml/2006/main">
            <a:off x="609600" y="4819650"/>
            <a:ext cx="8572500" cy="990600"/>
          </a:xfrm>
          <a:prstGeom xmlns:a="http://schemas.openxmlformats.org/drawingml/2006/main" prst="roundRect">
            <a:avLst>
              <a:gd name="adj" fmla="val 15385"/>
            </a:avLst>
          </a:prstGeom>
          <a:solidFill xmlns:a="http://schemas.openxmlformats.org/drawingml/2006/main">
            <a:srgbClr val="2A101C"/>
          </a:solidFill>
          <a:ln xmlns:a="http://schemas.openxmlformats.org/drawingml/2006/main" w="0">
            <a:noFill/>
            <a:prstDash val="solid"/>
          </a:ln>
        </p:spPr>
      </p:sp>
      <p:sp>
        <p:nvSpPr>
          <p:cNvPr id="12" name="evidence-label">
            <a:extLst xmlns:a="http://schemas.openxmlformats.org/drawingml/2006/main">
              <a:ext uri="{FF2B5EF4-FFF2-40B4-BE49-F238E27FC236}">
                <a16:creationId xmlns:a16="http://schemas.microsoft.com/office/drawing/2014/main" id="{3495A447-BB52-4B01-8E68-029D2E9E76DA}"/>
              </a:ext>
            </a:extLst>
          </p:cNvPr>
          <p:cNvSpPr>
            <a:spLocks xmlns:a="http://schemas.openxmlformats.org/drawingml/2006/main" noGrp="1"/>
          </p:cNvSpPr>
          <p:nvPr/>
        </p:nvSpPr>
        <p:spPr>
          <a:xfrm xmlns:a="http://schemas.openxmlformats.org/drawingml/2006/main">
            <a:off x="838200" y="5010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EVIDENCE DESTINATION</a:t>
            </a:r>
          </a:p>
        </p:txBody>
      </p:sp>
      <p:sp>
        <p:nvSpPr>
          <p:cNvPr id="13" name="evidence-copy">
            <a:extLst xmlns:a="http://schemas.openxmlformats.org/drawingml/2006/main">
              <a:ext uri="{FF2B5EF4-FFF2-40B4-BE49-F238E27FC236}">
                <a16:creationId xmlns:a16="http://schemas.microsoft.com/office/drawing/2014/main" id="{3FE5F945-BD7B-43A8-84D7-DE4348976979}"/>
              </a:ext>
            </a:extLst>
          </p:cNvPr>
          <p:cNvSpPr>
            <a:spLocks xmlns:a="http://schemas.openxmlformats.org/drawingml/2006/main" noGrp="1"/>
          </p:cNvSpPr>
          <p:nvPr/>
        </p:nvSpPr>
        <p:spPr>
          <a:xfrm xmlns:a="http://schemas.openxmlformats.org/drawingml/2006/main">
            <a:off x="838200" y="534352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Complete the three learning packages and save your response on this module page.</a:t>
            </a:r>
          </a:p>
        </p:txBody>
      </p:sp>
      <p:sp>
        <p:nvSpPr>
          <p:cNvPr id="14" name="save-work-circle">
            <a:extLst xmlns:a="http://schemas.openxmlformats.org/drawingml/2006/main">
              <a:ext uri="{FF2B5EF4-FFF2-40B4-BE49-F238E27FC236}">
                <a16:creationId xmlns:a16="http://schemas.microsoft.com/office/drawing/2014/main" id="{F7BE80B3-EA61-4947-94D3-18AD28B73275}"/>
              </a:ext>
            </a:extLst>
          </p:cNvPr>
          <p:cNvSpPr>
            <a:spLocks xmlns:a="http://schemas.openxmlformats.org/drawingml/2006/main" noGrp="1"/>
          </p:cNvSpPr>
          <p:nvPr/>
        </p:nvSpPr>
        <p:spPr>
          <a:xfrm xmlns:a="http://schemas.openxmlformats.org/drawingml/2006/main">
            <a:off x="9810750" y="2038350"/>
            <a:ext cx="1428750" cy="142875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15" name="save-work-text">
            <a:extLst xmlns:a="http://schemas.openxmlformats.org/drawingml/2006/main">
              <a:ext uri="{FF2B5EF4-FFF2-40B4-BE49-F238E27FC236}">
                <a16:creationId xmlns:a16="http://schemas.microsoft.com/office/drawing/2014/main" id="{D763B368-AC63-41D2-A261-8F63BC54A1C9}"/>
              </a:ext>
            </a:extLst>
          </p:cNvPr>
          <p:cNvSpPr>
            <a:spLocks xmlns:a="http://schemas.openxmlformats.org/drawingml/2006/main" noGrp="1"/>
          </p:cNvSpPr>
          <p:nvPr/>
        </p:nvSpPr>
        <p:spPr>
          <a:xfrm xmlns:a="http://schemas.openxmlformats.org/drawingml/2006/main">
            <a:off x="10039350" y="2333625"/>
            <a:ext cx="971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A101C"/>
                </a:solidFill>
              </a:defRPr>
            </a:pPr>
            <a:r>
              <a:rPr sz="1650" b="1">
                <a:solidFill>
                  <a:srgbClr val="2A101C"/>
                </a:solidFill>
              </a:rPr>
              <a:t>SAVE</a:t>
            </a:r>
          </a:p>
          <a:p xmlns:a="http://schemas.openxmlformats.org/drawingml/2006/main">
            <a:pPr algn="ctr">
              <a:defRPr sz="1650" b="1">
                <a:solidFill>
                  <a:srgbClr val="2A101C"/>
                </a:solidFill>
              </a:defRPr>
            </a:pPr>
            <a:r>
              <a:rPr sz="1650" b="1">
                <a:solidFill>
                  <a:srgbClr val="2A101C"/>
                </a:solidFill>
              </a:rPr>
              <a:t>YOUR</a:t>
            </a:r>
          </a:p>
          <a:p xmlns:a="http://schemas.openxmlformats.org/drawingml/2006/main">
            <a:pPr algn="ctr">
              <a:defRPr sz="1650" b="1">
                <a:solidFill>
                  <a:srgbClr val="2A101C"/>
                </a:solidFill>
              </a:defRPr>
            </a:pPr>
            <a:r>
              <a:rPr sz="1650" b="1">
                <a:solidFill>
                  <a:srgbClr val="2A101C"/>
                </a:solidFill>
              </a:rPr>
              <a:t>WORK</a:t>
            </a:r>
          </a:p>
        </p:txBody>
      </p:sp>
      <p:sp>
        <p:nvSpPr>
          <p:cNvPr id="16" name="next-step">
            <a:extLst xmlns:a="http://schemas.openxmlformats.org/drawingml/2006/main">
              <a:ext uri="{FF2B5EF4-FFF2-40B4-BE49-F238E27FC236}">
                <a16:creationId xmlns:a16="http://schemas.microsoft.com/office/drawing/2014/main" id="{583FC681-5161-4CEF-A80B-3D93797E9C67}"/>
              </a:ext>
            </a:extLst>
          </p:cNvPr>
          <p:cNvSpPr>
            <a:spLocks xmlns:a="http://schemas.openxmlformats.org/drawingml/2006/main" noGrp="1"/>
          </p:cNvSpPr>
          <p:nvPr/>
        </p:nvSpPr>
        <p:spPr>
          <a:xfrm xmlns:a="http://schemas.openxmlformats.org/drawingml/2006/main">
            <a:off x="609600" y="60579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Next: Sewing Bag Project</a:t>
            </a:r>
          </a:p>
        </p:txBody>
      </p:sp>
      <p:sp>
        <p:nvSpPr>
          <p:cNvPr id="17" name="footer-module-8">
            <a:extLst xmlns:a="http://schemas.openxmlformats.org/drawingml/2006/main">
              <a:ext uri="{FF2B5EF4-FFF2-40B4-BE49-F238E27FC236}">
                <a16:creationId xmlns:a16="http://schemas.microsoft.com/office/drawing/2014/main" id="{8E68481A-D638-45A8-9040-412E628CE69B}"/>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03 · YEAR 8 TEXTILES TECHNOLOGY</a:t>
            </a:r>
          </a:p>
        </p:txBody>
      </p:sp>
      <p:sp>
        <p:nvSpPr>
          <p:cNvPr id="18" name="footer-number-8">
            <a:extLst xmlns:a="http://schemas.openxmlformats.org/drawingml/2006/main">
              <a:ext uri="{FF2B5EF4-FFF2-40B4-BE49-F238E27FC236}">
                <a16:creationId xmlns:a16="http://schemas.microsoft.com/office/drawing/2014/main" id="{C80378FE-0E7B-4676-8A0E-C530E3612CF9}"/>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08</a:t>
            </a:r>
          </a:p>
        </p:txBody>
      </p:sp>
    </p:spTree>
    <p:extLst>
      <p:ext uri="{BB962C8B-B14F-4D97-AF65-F5344CB8AC3E}">
        <p14:creationId xmlns:p14="http://schemas.microsoft.com/office/powerpoint/2010/main" val="16026148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2026-08-27T11:20:21.7590000Z</dcterms:created>
  <dcterms:modified xsi:type="dcterms:W3CDTF">2026-08-27T11:20:21.7590000Z</dcterms:modified>
</coreProperties>
</file>