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d879250aa24b70" /><Relationship Type="http://schemas.openxmlformats.org/officeDocument/2006/relationships/extended-properties" Target="/docProps/app.xml" Id="Rf86478eb779045e7" /><Relationship Type="http://schemas.openxmlformats.org/officeDocument/2006/relationships/officeDocument" Target="/ppt/presentation.xml" Id="R88319c25a1eb4a44" /></Relationships>
</file>

<file path=ppt/presentation.xml><?xml version="1.0" encoding="utf-8"?>
<p:presentation xmlns:p="http://schemas.openxmlformats.org/presentationml/2006/main">
  <p:sldMasterIdLst>
    <p:sldMasterId xmlns:r="http://schemas.openxmlformats.org/officeDocument/2006/relationships" id="2147483648" r:id="Rdda12760552c4512"/>
  </p:sldMasterIdLst>
  <p:notesMasterIdLst>
    <p:notesMasterId xmlns:r="http://schemas.openxmlformats.org/officeDocument/2006/relationships" r:id="R18a73f44bf0b4848"/>
  </p:notesMasterIdLst>
  <p:sldIdLst>
    <p:sldId xmlns:r="http://schemas.openxmlformats.org/officeDocument/2006/relationships" id="256" r:id="R58cf9b31b870408f"/>
    <p:sldId xmlns:r="http://schemas.openxmlformats.org/officeDocument/2006/relationships" id="257" r:id="Rca54660e2c3445c0"/>
    <p:sldId xmlns:r="http://schemas.openxmlformats.org/officeDocument/2006/relationships" id="258" r:id="R7ee5aa786ead4e06"/>
    <p:sldId xmlns:r="http://schemas.openxmlformats.org/officeDocument/2006/relationships" id="259" r:id="Rc3361fb1942f494b"/>
    <p:sldId xmlns:r="http://schemas.openxmlformats.org/officeDocument/2006/relationships" id="260" r:id="R03f7734f0f084bc3"/>
    <p:sldId xmlns:r="http://schemas.openxmlformats.org/officeDocument/2006/relationships" id="261" r:id="R83a57011c7fc4f4e"/>
    <p:sldId xmlns:r="http://schemas.openxmlformats.org/officeDocument/2006/relationships" id="262" r:id="R268597d748934568"/>
    <p:sldId xmlns:r="http://schemas.openxmlformats.org/officeDocument/2006/relationships" id="263" r:id="R1829b9ef8e5d4e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f730dba06340c7" /><Relationship Type="http://schemas.openxmlformats.org/officeDocument/2006/relationships/slideMaster" Target="/ppt/slideMasters/slideMaster1.xml" Id="Rdda12760552c4512" /><Relationship Type="http://schemas.openxmlformats.org/officeDocument/2006/relationships/notesMaster" Target="/ppt/notesMasters/notesMaster1.xml" Id="R18a73f44bf0b4848" /><Relationship Type="http://schemas.openxmlformats.org/officeDocument/2006/relationships/presProps" Target="/ppt/presProps.xml" Id="R57393ffe7f1748de" /><Relationship Type="http://schemas.openxmlformats.org/officeDocument/2006/relationships/tableStyles" Target="/ppt/tableStyles.xml" Id="R817eb0d30f9444f4" /><Relationship Type="http://schemas.openxmlformats.org/officeDocument/2006/relationships/slide" Target="/ppt/slides/slide1.xml" Id="R58cf9b31b870408f" /><Relationship Type="http://schemas.openxmlformats.org/officeDocument/2006/relationships/slide" Target="/ppt/slides/slide2.xml" Id="Rca54660e2c3445c0" /><Relationship Type="http://schemas.openxmlformats.org/officeDocument/2006/relationships/slide" Target="/ppt/slides/slide3.xml" Id="R7ee5aa786ead4e06" /><Relationship Type="http://schemas.openxmlformats.org/officeDocument/2006/relationships/slide" Target="/ppt/slides/slide4.xml" Id="Rc3361fb1942f494b" /><Relationship Type="http://schemas.openxmlformats.org/officeDocument/2006/relationships/slide" Target="/ppt/slides/slide5.xml" Id="R03f7734f0f084bc3" /><Relationship Type="http://schemas.openxmlformats.org/officeDocument/2006/relationships/slide" Target="/ppt/slides/slide6.xml" Id="R83a57011c7fc4f4e" /><Relationship Type="http://schemas.openxmlformats.org/officeDocument/2006/relationships/slide" Target="/ppt/slides/slide7.xml" Id="R268597d748934568" /><Relationship Type="http://schemas.openxmlformats.org/officeDocument/2006/relationships/slide" Target="/ppt/slides/slide8.xml" Id="R1829b9ef8e5d4e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61ccf5517944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a12cf4320440bd" /><Relationship Type="http://schemas.openxmlformats.org/officeDocument/2006/relationships/notesMaster" Target="/ppt/notesMasters/notesMaster1.xml" Id="R07138506eb6b48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ccd815ebce486e" /><Relationship Type="http://schemas.openxmlformats.org/officeDocument/2006/relationships/notesMaster" Target="/ppt/notesMasters/notesMaster1.xml" Id="R414fd310cf0941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c845b333f3473c" /><Relationship Type="http://schemas.openxmlformats.org/officeDocument/2006/relationships/notesMaster" Target="/ppt/notesMasters/notesMaster1.xml" Id="R301b28e9b8fe4c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12c24437fa43ae" /><Relationship Type="http://schemas.openxmlformats.org/officeDocument/2006/relationships/notesMaster" Target="/ppt/notesMasters/notesMaster1.xml" Id="Rce7f92fb3a7844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6aa2c0d6664a6f" /><Relationship Type="http://schemas.openxmlformats.org/officeDocument/2006/relationships/notesMaster" Target="/ppt/notesMasters/notesMaster1.xml" Id="Ra46892b621174e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0cdec2f2194add" /><Relationship Type="http://schemas.openxmlformats.org/officeDocument/2006/relationships/notesMaster" Target="/ppt/notesMasters/notesMaster1.xml" Id="R3fd818d6383443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f8e55292224b9b" /><Relationship Type="http://schemas.openxmlformats.org/officeDocument/2006/relationships/notesMaster" Target="/ppt/notesMasters/notesMaster1.xml" Id="Rfce80cd742e646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17f23d8a3849e7" /><Relationship Type="http://schemas.openxmlformats.org/officeDocument/2006/relationships/notesMaster" Target="/ppt/notesMasters/notesMaster1.xml" Id="Rd82dcf872a7242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Introduce Sewing Machine Foundations as a connected set of three ideas, not three isolated worksheets.</a:t>
            </a:r>
          </a:p>
          <a:p xmlns:a="http://schemas.openxmlformats.org/drawingml/2006/main">
            <a:r>
              <a:t>- Read the outcome aloud and link it to the current project stage.</a:t>
            </a:r>
          </a:p>
          <a:p xmlns:a="http://schemas.openxmlformats.org/drawingml/2006/main">
            <a:r>
              <a:t>- Keep local machine, pattern, safety and assessment details within the current teacher demonstration and authorised class documents.</a:t>
            </a:r>
          </a:p>
          <a:p xmlns:a="http://schemas.openxmlformats.org/drawingml/2006/main">
            <a:r>
              <a:t/>
            </a:r>
          </a:p>
          <a:p xmlns:a="http://schemas.openxmlformats.org/drawingml/2006/main">
            <a:r>
              <a:t>Prompt: Which word in the outcome tells us what evidence we need to produce?</a:t>
            </a:r>
          </a:p>
          <a:p xmlns:a="http://schemas.openxmlformats.org/drawingml/2006/main">
            <a:r>
              <a:t>Likely misconception: Finishing a slide deck is the evidence; the evidence is the student's explanation and project decision.</a:t>
            </a:r>
          </a:p>
          <a:p xmlns:a="http://schemas.openxmlformats.org/drawingml/2006/main">
            <a:r>
              <a:t>Transition: Preview the three ideas and activate prior knowledge.</a:t>
            </a:r>
          </a:p>
          <a:p xmlns:a="http://schemas.openxmlformats.org/drawingml/2006/main">
            <a:r>
              <a:t/>
            </a:r>
          </a:p>
          <a:p xmlns:a="http://schemas.openxmlformats.org/drawingml/2006/main">
            <a:r>
              <a:t>[Sources]</a:t>
            </a:r>
          </a:p>
          <a:p xmlns:a="http://schemas.openxmlformats.org/drawingml/2006/main">
            <a:r>
              <a:t>- Course sequence: WWHS Year 8 Accessories and Shorts Textiles Technology Program 2024, as bounded by source map v1.0.</a:t>
            </a:r>
          </a:p>
          <a:p xmlns:a="http://schemas.openxmlformats.org/drawingml/2006/main">
            <a:r>
              <a:t>- Curriculum: NESA Textiles Technology 7–10 Syllabus (2025), https://curriculum.nsw.edu.au/learning-areas/tas/textiles-technology-7-10-2025/overview/course</a:t>
            </a:r>
          </a:p>
          <a:p xmlns:a="http://schemas.openxmlformats.org/drawingml/2006/main">
            <a:r>
              <a:t>- Visual: Stage 08 approved module asset module-02-machine-foundations.png;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Name all three substantive sections using the exact module language.</a:t>
            </a:r>
          </a:p>
          <a:p xmlns:a="http://schemas.openxmlformats.org/drawingml/2006/main">
            <a:r>
              <a:t>- Ask students to predict where the ideas connect to current project work.</a:t>
            </a:r>
          </a:p>
          <a:p xmlns:a="http://schemas.openxmlformats.org/drawingml/2006/main">
            <a:r>
              <a:t>- Accept a tentative response, but ask what evidence supports it.</a:t>
            </a:r>
          </a:p>
          <a:p xmlns:a="http://schemas.openxmlformats.org/drawingml/2006/main">
            <a:r>
              <a:t/>
            </a:r>
          </a:p>
          <a:p xmlns:a="http://schemas.openxmlformats.org/drawingml/2006/main">
            <a:r>
              <a:t>Prompt: Which idea is most likely to change a practical or design decision today?</a:t>
            </a:r>
          </a:p>
          <a:p xmlns:a="http://schemas.openxmlformats.org/drawingml/2006/main">
            <a:r>
              <a:t>Likely misconception: The sequence means students can forget idea one after moving to idea two; the ideas need to remain connected.</a:t>
            </a:r>
          </a:p>
          <a:p xmlns:a="http://schemas.openxmlformats.org/drawingml/2006/main">
            <a:r>
              <a:t>Transition: Begin with Machine parts and functions.</a:t>
            </a:r>
          </a:p>
          <a:p xmlns:a="http://schemas.openxmlformats.org/drawingml/2006/main">
            <a:r>
              <a:t/>
            </a:r>
          </a:p>
          <a:p xmlns:a="http://schemas.openxmlformats.org/drawingml/2006/main">
            <a:r>
              <a:t>[Sources]</a:t>
            </a:r>
          </a:p>
          <a:p xmlns:a="http://schemas.openxmlformats.org/drawingml/2006/main">
            <a:r>
              <a:t>- Named section sequence: frozen Stage 01 course inventory and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Develop a systems-level understanding of common sewing-machine parts and how their functions contribute to controlled stitch formation.</a:t>
            </a:r>
          </a:p>
          <a:p xmlns:a="http://schemas.openxmlformats.org/drawingml/2006/main">
            <a:r>
              <a:t>- Emphasise: A sewing machine coordinates thread delivery, needle, bobbin, material support, feeding and user control.</a:t>
            </a:r>
          </a:p>
          <a:p xmlns:a="http://schemas.openxmlformats.org/drawingml/2006/main">
            <a:r>
              <a:t>- Connect the image to the decision: Use an original general machine-orientation visual that groups common parts by system rather than copying a model diagram of uncertain rights.</a:t>
            </a:r>
          </a:p>
          <a:p xmlns:a="http://schemas.openxmlformats.org/drawingml/2006/main">
            <a:r>
              <a:t/>
            </a:r>
          </a:p>
          <a:p xmlns:a="http://schemas.openxmlformats.org/drawingml/2006/main">
            <a:r>
              <a:t>Prompt: Explain how thread delivery, needle, bobbin, support and feed systems cooperate to create an observable line of stitches.</a:t>
            </a:r>
          </a:p>
          <a:p xmlns:a="http://schemas.openxmlformats.org/drawingml/2006/main">
            <a:r>
              <a:t>Likely misconception: The needle alone makes the stitch. Correction: Stitch formation also depends on upper and lower thread interaction, material support, feeding and coordinated machine movement.</a:t>
            </a:r>
          </a:p>
          <a:p xmlns:a="http://schemas.openxmlformats.org/drawingml/2006/main">
            <a:r>
              <a:t>Transition: Carry this decision into Safe setup and threading boundaries.</a:t>
            </a:r>
          </a:p>
          <a:p xmlns:a="http://schemas.openxmlformats.org/drawingml/2006/main">
            <a:r>
              <a:t/>
            </a:r>
          </a:p>
          <a:p xmlns:a="http://schemas.openxmlformats.org/drawingml/2006/main">
            <a:r>
              <a:t>[Sources]</a:t>
            </a:r>
          </a:p>
          <a:p xmlns:a="http://schemas.openxmlformats.org/drawingml/2006/main">
            <a:r>
              <a:t>- Content: Year 8 Textiles theory package v1.0; source domains classroom machine identity; machine parts and functions; safe textile project work.</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m02-s01-machine-parts.png;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Teach students how to use model-specific authority, observation and stop-check-ask decisions around setup and threading without publishing unsupported procedures.</a:t>
            </a:r>
          </a:p>
          <a:p xmlns:a="http://schemas.openxmlformats.org/drawingml/2006/main">
            <a:r>
              <a:t>- Emphasise: Setup and threading instructions must match the current machine model and local demonstration.</a:t>
            </a:r>
          </a:p>
          <a:p xmlns:a="http://schemas.openxmlformats.org/drawingml/2006/main">
            <a:r>
              <a:t>- Connect the image to the decision: Show a source-matching decision scene with an actual-machine label, approved guide and visible mismatch, without depicting a threading sequence.</a:t>
            </a:r>
          </a:p>
          <a:p xmlns:a="http://schemas.openxmlformats.org/drawingml/2006/main">
            <a:r>
              <a:t/>
            </a:r>
          </a:p>
          <a:p xmlns:a="http://schemas.openxmlformats.org/drawingml/2006/main">
            <a:r>
              <a:t>Prompt: Justify the safest response when an instruction source, machine feature or observed behaviour does not match the demonstrated condition.</a:t>
            </a:r>
          </a:p>
          <a:p xmlns:a="http://schemas.openxmlformats.org/drawingml/2006/main">
            <a:r>
              <a:t>Likely misconception: All domestic sewing machines are threaded in basically the same way. Correction: General ideas may be similar, but the exact path, bobbin system and controls can differ; use the matching authorised source.</a:t>
            </a:r>
          </a:p>
          <a:p xmlns:a="http://schemas.openxmlformats.org/drawingml/2006/main">
            <a:r>
              <a:t>Transition: Carry this decision into Stitch control and troubleshooting.</a:t>
            </a:r>
          </a:p>
          <a:p xmlns:a="http://schemas.openxmlformats.org/drawingml/2006/main">
            <a:r>
              <a:t/>
            </a:r>
          </a:p>
          <a:p xmlns:a="http://schemas.openxmlformats.org/drawingml/2006/main">
            <a:r>
              <a:t>[Sources]</a:t>
            </a:r>
          </a:p>
          <a:p xmlns:a="http://schemas.openxmlformats.org/drawingml/2006/main">
            <a:r>
              <a:t>- Content: Year 8 Textiles theory package v1.0; source domains threading topic intent; model-specific source use; safe project work.</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m02-s02-setup-boundary.png;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Help students read stitch evidence, control one variable at a time and troubleshoot within a clear stop-and-report boundary.</a:t>
            </a:r>
          </a:p>
          <a:p xmlns:a="http://schemas.openxmlformats.org/drawingml/2006/main">
            <a:r>
              <a:t>- Emphasise: Straight and zigzag stitches are selected for a purpose, not ranked as universally better or worse.</a:t>
            </a:r>
          </a:p>
          <a:p xmlns:a="http://schemas.openxmlformats.org/drawingml/2006/main">
            <a:r>
              <a:t>- Connect the image to the decision: Show paired stitch samples with clear observation callouts for alignment, spacing, surface effects and controlled variables.</a:t>
            </a:r>
          </a:p>
          <a:p xmlns:a="http://schemas.openxmlformats.org/drawingml/2006/main">
            <a:r>
              <a:t/>
            </a:r>
          </a:p>
          <a:p xmlns:a="http://schemas.openxmlformats.org/drawingml/2006/main">
            <a:r>
              <a:t>Prompt: Use two labelled samples to explain what changed, what stayed constant, what the stitch evidence shows and the safest justified next step.</a:t>
            </a:r>
          </a:p>
          <a:p xmlns:a="http://schemas.openxmlformats.org/drawingml/2006/main">
            <a:r>
              <a:t>Likely misconception: If a stitch looks wrong, tension should be changed first. Correction: Many variables can affect stitch appearance. Record the evidence and use only the teacher-approved check instead of guessing.</a:t>
            </a:r>
          </a:p>
          <a:p xmlns:a="http://schemas.openxmlformats.org/drawingml/2006/main">
            <a:r>
              <a:t>Transition: Pause for retrieval before students construct evidence.</a:t>
            </a:r>
          </a:p>
          <a:p xmlns:a="http://schemas.openxmlformats.org/drawingml/2006/main">
            <a:r>
              <a:t/>
            </a:r>
          </a:p>
          <a:p xmlns:a="http://schemas.openxmlformats.org/drawingml/2006/main">
            <a:r>
              <a:t>[Sources]</a:t>
            </a:r>
          </a:p>
          <a:p xmlns:a="http://schemas.openxmlformats.org/drawingml/2006/main">
            <a:r>
              <a:t>- Content: Year 8 Textiles theory package v1.0; source domains paper and machine-skill sequence; stitch experimentation; safe troubleshooting.</a:t>
            </a:r>
          </a:p>
          <a:p xmlns:a="http://schemas.openxmlformats.org/drawingml/2006/main">
            <a:r>
              <a:t>- Curriculum: NESA Textiles Technology 7–10 Syllabus (2025), https://curriculum.nsw.edu.au/learning-areas/tas/textiles-technology-7-10-2025/overview/course</a:t>
            </a:r>
          </a:p>
          <a:p xmlns:a="http://schemas.openxmlformats.org/drawingml/2006/main">
            <a:r>
              <a:t>- Outcomes context: https://curriculum.nsw.edu.au/learning-areas/tas/textiles-technology-7-10-2025/outcomes</a:t>
            </a:r>
          </a:p>
          <a:p xmlns:a="http://schemas.openxmlformats.org/drawingml/2006/main">
            <a:r>
              <a:t>- Visual: Stage 08 approved teaching asset m02-s03-stitch-control.png; provenance retained in the visual production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Give silent thinking time before taking answers.</a:t>
            </a:r>
          </a:p>
          <a:p xmlns:a="http://schemas.openxmlformats.org/drawingml/2006/main">
            <a:r>
              <a:t>- Require students to correct the claim, not only label it true or false.</a:t>
            </a:r>
          </a:p>
          <a:p xmlns:a="http://schemas.openxmlformats.org/drawingml/2006/main">
            <a:r>
              <a:t>- Ask a follow-up: What evidence from slides 3–5 supports that correction?</a:t>
            </a:r>
          </a:p>
          <a:p xmlns:a="http://schemas.openxmlformats.org/drawingml/2006/main">
            <a:r>
              <a:t/>
            </a:r>
          </a:p>
          <a:p xmlns:a="http://schemas.openxmlformats.org/drawingml/2006/main">
            <a:r>
              <a:t>Prompt: Which correction becomes stronger when you use an example from your own project?</a:t>
            </a:r>
          </a:p>
          <a:p xmlns:a="http://schemas.openxmlformats.org/drawingml/2006/main">
            <a:r>
              <a:t>Likely misconception: Retrieval is guessing; retrieval should reconstruct the idea and its evidence.</a:t>
            </a:r>
          </a:p>
          <a:p xmlns:a="http://schemas.openxmlformats.org/drawingml/2006/main">
            <a:r>
              <a:t>Transition: Use the corrected ideas to build one longer piece of evidence.</a:t>
            </a:r>
          </a:p>
          <a:p xmlns:a="http://schemas.openxmlformats.org/drawingml/2006/main">
            <a:r>
              <a:t/>
            </a:r>
          </a:p>
          <a:p xmlns:a="http://schemas.openxmlformats.org/drawingml/2006/main">
            <a:r>
              <a:t>[Sources]</a:t>
            </a:r>
          </a:p>
          <a:p xmlns:a="http://schemas.openxmlformats.org/drawingml/2006/main">
            <a:r>
              <a:t>- Retrieval claims: misconceptions and corrections in the Year 8 Textiles theory package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Model the four moves with one brief example, then remove the example from view.</a:t>
            </a:r>
          </a:p>
          <a:p xmlns:a="http://schemas.openxmlformats.org/drawingml/2006/main">
            <a:r>
              <a:t>- The selected evidence must answer the exact context, not merely repeat a definition.</a:t>
            </a:r>
          </a:p>
          <a:p xmlns:a="http://schemas.openxmlformats.org/drawingml/2006/main">
            <a:r>
              <a:t>- Use the sentence support as a starting structure; students may improve it in their own words.</a:t>
            </a:r>
          </a:p>
          <a:p xmlns:a="http://schemas.openxmlformats.org/drawingml/2006/main">
            <a:r>
              <a:t/>
            </a:r>
          </a:p>
          <a:p xmlns:a="http://schemas.openxmlformats.org/drawingml/2006/main">
            <a:r>
              <a:t>Prompt: Which evidence is most relevant, and which tempting detail should be left out?</a:t>
            </a:r>
          </a:p>
          <a:p xmlns:a="http://schemas.openxmlformats.org/drawingml/2006/main">
            <a:r>
              <a:t>Likely misconception: A longer response is automatically stronger; relevance and explanation matter more than length.</a:t>
            </a:r>
          </a:p>
          <a:p xmlns:a="http://schemas.openxmlformats.org/drawingml/2006/main">
            <a:r>
              <a:t>Transition: Students now save the response in the matching module learning package.</a:t>
            </a:r>
          </a:p>
          <a:p xmlns:a="http://schemas.openxmlformats.org/drawingml/2006/main">
            <a:r>
              <a:t/>
            </a:r>
          </a:p>
          <a:p xmlns:a="http://schemas.openxmlformats.org/drawingml/2006/main">
            <a:r>
              <a:t>[Sources]</a:t>
            </a:r>
          </a:p>
          <a:p xmlns:a="http://schemas.openxmlformats.org/drawingml/2006/main">
            <a:r>
              <a:t>- Guided response: evidence prompt for m02-s03 in the Year 8 Textiles theory package v1.0.</a:t>
            </a:r>
          </a:p>
          <a:p xmlns:a="http://schemas.openxmlformats.org/drawingml/2006/main">
            <a:r>
              <a:t>- Curriculum context: NESA Textiles Technology 7–10 Syllabus (2025), https://curriculum.nsw.edu.au/learning-areas/tas/textiles-technology-7-10-2025/outcomes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Talking points</a:t>
            </a:r>
          </a:p>
          <a:p xmlns:a="http://schemas.openxmlformats.org/drawingml/2006/main">
            <a:r>
              <a:t>- Use the three-part exit ticket as a quick verbal or written check.</a:t>
            </a:r>
          </a:p>
          <a:p xmlns:a="http://schemas.openxmlformats.org/drawingml/2006/main">
            <a:r>
              <a:t>- Direct students to the module page so the evidence is saved in the correct learning package.</a:t>
            </a:r>
          </a:p>
          <a:p xmlns:a="http://schemas.openxmlformats.org/drawingml/2006/main">
            <a:r>
              <a:t>- Preview the connection to Pincushion Project.</a:t>
            </a:r>
          </a:p>
          <a:p xmlns:a="http://schemas.openxmlformats.org/drawingml/2006/main">
            <a:r>
              <a:t/>
            </a:r>
          </a:p>
          <a:p xmlns:a="http://schemas.openxmlformats.org/drawingml/2006/main">
            <a:r>
              <a:t>Prompt: Which answer would you be willing to improve after receiving feedback?</a:t>
            </a:r>
          </a:p>
          <a:p xmlns:a="http://schemas.openxmlformats.org/drawingml/2006/main">
            <a:r>
              <a:t>Likely misconception: Saving work means it is finished; saved evidence can still be reviewed and improved.</a:t>
            </a:r>
          </a:p>
          <a:p xmlns:a="http://schemas.openxmlformats.org/drawingml/2006/main">
            <a:r>
              <a:t>Transition: Continue to Pincushion Project when the class sequence is ready.</a:t>
            </a:r>
          </a:p>
          <a:p xmlns:a="http://schemas.openxmlformats.org/drawingml/2006/main">
            <a:r>
              <a:t/>
            </a:r>
          </a:p>
          <a:p xmlns:a="http://schemas.openxmlformats.org/drawingml/2006/main">
            <a:r>
              <a:t>[Sources]</a:t>
            </a:r>
          </a:p>
          <a:p xmlns:a="http://schemas.openxmlformats.org/drawingml/2006/main">
            <a:r>
              <a:t>- Evidence destination: frozen family learning-package contract and local autosave workflow.</a:t>
            </a:r>
          </a:p>
          <a:p xmlns:a="http://schemas.openxmlformats.org/drawingml/2006/main">
            <a:r>
              <a:t>- Module sequence: WWHS Year 8 Accessories and Shorts Textiles Technology Program 2024, as bounded by source map v1.0.</a:t>
            </a:r>
          </a:p>
          <a:p xmlns:a="http://schemas.openxmlformats.org/drawingml/2006/main">
            <a:r>
              <a:t>- Curriculum context: NESA Textiles Technology 7–10 Syllabus (2025), https://curriculum.nsw.edu.au/learning-areas/tas/textiles-technology-7-10-2025/overview/course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09b55a72744d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4e51fcf13d457f" /><Relationship Type="http://schemas.openxmlformats.org/officeDocument/2006/relationships/slideLayout" Target="/ppt/slideLayouts/slideLayout1.xml" Id="R9ced7193563541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ed7193563541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61016f13964e36" /><Relationship Type="http://schemas.openxmlformats.org/officeDocument/2006/relationships/image" Target="/ppt/media/image.png" Id="R8fcffb7738f742d7" /><Relationship Type="http://schemas.openxmlformats.org/officeDocument/2006/relationships/notesSlide" Target="/ppt/notesSlides/notesSlide1.xml" Id="R7f2bb21a56eb42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3f1e4943e64844" /><Relationship Type="http://schemas.openxmlformats.org/officeDocument/2006/relationships/notesSlide" Target="/ppt/notesSlides/notesSlide2.xml" Id="R4556d4d42c5749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38985cedd754ffb" /><Relationship Type="http://schemas.openxmlformats.org/officeDocument/2006/relationships/image" Target="/ppt/media/image2.png" Id="Rbae3ed5246764448" /><Relationship Type="http://schemas.openxmlformats.org/officeDocument/2006/relationships/notesSlide" Target="/ppt/notesSlides/notesSlide3.xml" Id="R0b1d562496f14c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7af2cded134a52" /><Relationship Type="http://schemas.openxmlformats.org/officeDocument/2006/relationships/image" Target="/ppt/media/image3.png" Id="R4ec98989f49b4c7d" /><Relationship Type="http://schemas.openxmlformats.org/officeDocument/2006/relationships/notesSlide" Target="/ppt/notesSlides/notesSlide4.xml" Id="R566b9df6ea434c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5108ccc53145c9" /><Relationship Type="http://schemas.openxmlformats.org/officeDocument/2006/relationships/image" Target="/ppt/media/image4.png" Id="R17d387bf6e40464f" /><Relationship Type="http://schemas.openxmlformats.org/officeDocument/2006/relationships/notesSlide" Target="/ppt/notesSlides/notesSlide5.xml" Id="Rd0e73d95df2341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9d582089c14bdc" /><Relationship Type="http://schemas.openxmlformats.org/officeDocument/2006/relationships/notesSlide" Target="/ppt/notesSlides/notesSlide6.xml" Id="R73e94afba6d842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803b19c74541d6" /><Relationship Type="http://schemas.openxmlformats.org/officeDocument/2006/relationships/notesSlide" Target="/ppt/notesSlides/notesSlide7.xml" Id="R65866da2ed9746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f9b1cc510148d1" /><Relationship Type="http://schemas.openxmlformats.org/officeDocument/2006/relationships/notesSlide" Target="/ppt/notesSlides/notesSlide8.xml" Id="R98dc8594f8664e36" /></Relationships>
</file>

<file path=ppt/slides/slide1.xml><?xml version="1.0" encoding="utf-8"?>
<p:sld xmlns:p="http://schemas.openxmlformats.org/presentationml/2006/main">
  <p:cSld>
    <p:bg>
      <p:bgPr>
        <a:solidFill xmlns:a="http://schemas.openxmlformats.org/drawingml/2006/main">
          <a:srgbClr val="2A101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fcffb7738f742d7"/>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title-panel">
            <a:extLst xmlns:a="http://schemas.openxmlformats.org/drawingml/2006/main">
              <a:ext uri="{FF2B5EF4-FFF2-40B4-BE49-F238E27FC236}">
                <a16:creationId xmlns:a16="http://schemas.microsoft.com/office/drawing/2014/main" id="{1B34FEF4-05B9-4925-9B75-8BBAF2FA8BF1}"/>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2A101C"/>
          </a:solidFill>
          <a:ln xmlns:a="http://schemas.openxmlformats.org/drawingml/2006/main" w="0">
            <a:noFill/>
            <a:prstDash val="solid"/>
          </a:ln>
        </p:spPr>
      </p:sp>
      <p:sp>
        <p:nvSpPr>
          <p:cNvPr id="3" name="title-accent">
            <a:extLst xmlns:a="http://schemas.openxmlformats.org/drawingml/2006/main">
              <a:ext uri="{FF2B5EF4-FFF2-40B4-BE49-F238E27FC236}">
                <a16:creationId xmlns:a16="http://schemas.microsoft.com/office/drawing/2014/main" id="{6CC9869E-1ADF-4850-9219-D1AB0CAC7CBA}"/>
              </a:ext>
            </a:extLst>
          </p:cNvPr>
          <p:cNvSpPr>
            <a:spLocks xmlns:a="http://schemas.openxmlformats.org/drawingml/2006/main" noGrp="1"/>
          </p:cNvSpPr>
          <p:nvPr/>
        </p:nvSpPr>
        <p:spPr>
          <a:xfrm xmlns:a="http://schemas.openxmlformats.org/drawingml/2006/main">
            <a:off x="5619750" y="0"/>
            <a:ext cx="133350" cy="68580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4" name="module-label">
            <a:extLst xmlns:a="http://schemas.openxmlformats.org/drawingml/2006/main">
              <a:ext uri="{FF2B5EF4-FFF2-40B4-BE49-F238E27FC236}">
                <a16:creationId xmlns:a16="http://schemas.microsoft.com/office/drawing/2014/main" id="{64A03FBB-14C8-4569-A64A-98ABEB52DF25}"/>
              </a:ext>
            </a:extLst>
          </p:cNvPr>
          <p:cNvSpPr>
            <a:spLocks xmlns:a="http://schemas.openxmlformats.org/drawingml/2006/main" noGrp="1"/>
          </p:cNvSpPr>
          <p:nvPr/>
        </p:nvSpPr>
        <p:spPr>
          <a:xfrm xmlns:a="http://schemas.openxmlformats.org/drawingml/2006/main">
            <a:off x="647700" y="7048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D6A238"/>
                </a:solidFill>
              </a:defRPr>
            </a:pPr>
            <a:r>
              <a:rPr sz="1275" b="1">
                <a:solidFill>
                  <a:srgbClr val="D6A238"/>
                </a:solidFill>
              </a:rPr>
              <a:t>MODULE 02 · WEEKS 2–3</a:t>
            </a:r>
          </a:p>
        </p:txBody>
      </p:sp>
      <p:sp>
        <p:nvSpPr>
          <p:cNvPr id="5" name="deck-title">
            <a:extLst xmlns:a="http://schemas.openxmlformats.org/drawingml/2006/main">
              <a:ext uri="{FF2B5EF4-FFF2-40B4-BE49-F238E27FC236}">
                <a16:creationId xmlns:a16="http://schemas.microsoft.com/office/drawing/2014/main" id="{B8984B8E-7E92-4C40-B735-EDC506524F03}"/>
              </a:ext>
            </a:extLst>
          </p:cNvPr>
          <p:cNvSpPr>
            <a:spLocks xmlns:a="http://schemas.openxmlformats.org/drawingml/2006/main" noGrp="1"/>
          </p:cNvSpPr>
          <p:nvPr/>
        </p:nvSpPr>
        <p:spPr>
          <a:xfrm xmlns:a="http://schemas.openxmlformats.org/drawingml/2006/main">
            <a:off x="647700" y="1752600"/>
            <a:ext cx="4619625"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Sewing Machine Foundations</a:t>
            </a:r>
          </a:p>
        </p:txBody>
      </p:sp>
      <p:sp>
        <p:nvSpPr>
          <p:cNvPr id="6" name="module-outcome">
            <a:extLst xmlns:a="http://schemas.openxmlformats.org/drawingml/2006/main">
              <a:ext uri="{FF2B5EF4-FFF2-40B4-BE49-F238E27FC236}">
                <a16:creationId xmlns:a16="http://schemas.microsoft.com/office/drawing/2014/main" id="{FCAA5F50-48D9-4C29-8DE2-5F0B618A4486}"/>
              </a:ext>
            </a:extLst>
          </p:cNvPr>
          <p:cNvSpPr>
            <a:spLocks xmlns:a="http://schemas.openxmlformats.org/drawingml/2006/main" noGrp="1"/>
          </p:cNvSpPr>
          <p:nvPr/>
        </p:nvSpPr>
        <p:spPr>
          <a:xfrm xmlns:a="http://schemas.openxmlformats.org/drawingml/2006/main">
            <a:off x="647700" y="3857625"/>
            <a:ext cx="4476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F7EAF0"/>
                </a:solidFill>
              </a:defRPr>
            </a:pPr>
            <a:r>
              <a:rPr sz="1800" b="0">
                <a:solidFill>
                  <a:srgbClr val="F7EAF0"/>
                </a:solidFill>
              </a:rPr>
              <a:t>Identify machine functions and use safe, teacher-directed setup, stitch control and troubleshooting.</a:t>
            </a:r>
          </a:p>
        </p:txBody>
      </p:sp>
      <p:sp>
        <p:nvSpPr>
          <p:cNvPr id="7" name="deck-context">
            <a:extLst xmlns:a="http://schemas.openxmlformats.org/drawingml/2006/main">
              <a:ext uri="{FF2B5EF4-FFF2-40B4-BE49-F238E27FC236}">
                <a16:creationId xmlns:a16="http://schemas.microsoft.com/office/drawing/2014/main" id="{ACA41E1C-6C08-4DED-936C-B7B6F8C145CA}"/>
              </a:ext>
            </a:extLst>
          </p:cNvPr>
          <p:cNvSpPr>
            <a:spLocks xmlns:a="http://schemas.openxmlformats.org/drawingml/2006/main" noGrp="1"/>
          </p:cNvSpPr>
          <p:nvPr/>
        </p:nvSpPr>
        <p:spPr>
          <a:xfrm xmlns:a="http://schemas.openxmlformats.org/drawingml/2006/main">
            <a:off x="647700" y="6019800"/>
            <a:ext cx="3905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D5BCC6"/>
                </a:solidFill>
              </a:defRPr>
            </a:pPr>
            <a:r>
              <a:rPr sz="1125" b="0">
                <a:solidFill>
                  <a:srgbClr val="D5BCC6"/>
                </a:solidFill>
              </a:rPr>
              <a:t>Teacher-led classroom presentation</a:t>
            </a:r>
          </a:p>
        </p:txBody>
      </p:sp>
    </p:spTree>
    <p:extLst>
      <p:ext uri="{BB962C8B-B14F-4D97-AF65-F5344CB8AC3E}">
        <p14:creationId xmlns:p14="http://schemas.microsoft.com/office/powerpoint/2010/main" val="1655965343"/>
      </p:ext>
    </p:extLst>
  </p:cSld>
</p:sld>
</file>

<file path=ppt/slides/slide2.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8" name="top-accent">
            <a:extLst xmlns:a="http://schemas.openxmlformats.org/drawingml/2006/main">
              <a:ext uri="{FF2B5EF4-FFF2-40B4-BE49-F238E27FC236}">
                <a16:creationId xmlns:a16="http://schemas.microsoft.com/office/drawing/2014/main" id="{F629D002-11BF-4AA4-94FD-F607C95EF50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7F5A0BC3-693D-44B9-897A-DE38CE1A9CFE}"/>
              </a:ext>
            </a:extLst>
          </p:cNvPr>
          <p:cNvSpPr>
            <a:spLocks xmlns:a="http://schemas.openxmlformats.org/drawingml/2006/main" noGrp="1"/>
          </p:cNvSpPr>
          <p:nvPr/>
        </p:nvSpPr>
        <p:spPr>
          <a:xfrm xmlns:a="http://schemas.openxmlformats.org/drawingml/2006/main">
            <a:off x="609600" y="552450"/>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Three ideas, one connected decision</a:t>
            </a:r>
          </a:p>
        </p:txBody>
      </p:sp>
      <p:sp>
        <p:nvSpPr>
          <p:cNvPr id="3" name="learning-map-intro">
            <a:extLst xmlns:a="http://schemas.openxmlformats.org/drawingml/2006/main">
              <a:ext uri="{FF2B5EF4-FFF2-40B4-BE49-F238E27FC236}">
                <a16:creationId xmlns:a16="http://schemas.microsoft.com/office/drawing/2014/main" id="{1EEE0EEE-1857-4B0F-B609-62211BDA9C7D}"/>
              </a:ext>
            </a:extLst>
          </p:cNvPr>
          <p:cNvSpPr>
            <a:spLocks xmlns:a="http://schemas.openxmlformats.org/drawingml/2006/main" noGrp="1"/>
          </p:cNvSpPr>
          <p:nvPr/>
        </p:nvSpPr>
        <p:spPr>
          <a:xfrm xmlns:a="http://schemas.openxmlformats.org/drawingml/2006/main">
            <a:off x="609600" y="11430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5C5357"/>
                </a:solidFill>
              </a:defRPr>
            </a:pPr>
            <a:r>
              <a:rPr sz="1575" b="0">
                <a:solidFill>
                  <a:srgbClr val="5C5357"/>
                </a:solidFill>
              </a:rPr>
              <a:t>Listen for the relationship between the ideas. Each one changes what you notice, choose or explain.</a:t>
            </a:r>
          </a:p>
        </p:txBody>
      </p:sp>
      <p:sp>
        <p:nvSpPr>
          <p:cNvPr id="4" name="path-number-1">
            <a:extLst xmlns:a="http://schemas.openxmlformats.org/drawingml/2006/main">
              <a:ext uri="{FF2B5EF4-FFF2-40B4-BE49-F238E27FC236}">
                <a16:creationId xmlns:a16="http://schemas.microsoft.com/office/drawing/2014/main" id="{763FEEB0-8AF1-44DD-BCFF-3FDA5E567F4F}"/>
              </a:ext>
            </a:extLst>
          </p:cNvPr>
          <p:cNvSpPr>
            <a:spLocks xmlns:a="http://schemas.openxmlformats.org/drawingml/2006/main" noGrp="1"/>
          </p:cNvSpPr>
          <p:nvPr/>
        </p:nvSpPr>
        <p:spPr>
          <a:xfrm xmlns:a="http://schemas.openxmlformats.org/drawingml/2006/main">
            <a:off x="70485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AC2254"/>
                </a:solidFill>
              </a:defRPr>
            </a:pPr>
            <a:r>
              <a:rPr sz="4650" b="1">
                <a:solidFill>
                  <a:srgbClr val="AC2254"/>
                </a:solidFill>
              </a:rPr>
              <a:t>1</a:t>
            </a:r>
          </a:p>
        </p:txBody>
      </p:sp>
      <p:sp>
        <p:nvSpPr>
          <p:cNvPr id="5" name="path-title-1">
            <a:extLst xmlns:a="http://schemas.openxmlformats.org/drawingml/2006/main">
              <a:ext uri="{FF2B5EF4-FFF2-40B4-BE49-F238E27FC236}">
                <a16:creationId xmlns:a16="http://schemas.microsoft.com/office/drawing/2014/main" id="{F26DF304-F261-439E-AD08-CB9F8447B1BE}"/>
              </a:ext>
            </a:extLst>
          </p:cNvPr>
          <p:cNvSpPr>
            <a:spLocks xmlns:a="http://schemas.openxmlformats.org/drawingml/2006/main" noGrp="1"/>
          </p:cNvSpPr>
          <p:nvPr/>
        </p:nvSpPr>
        <p:spPr>
          <a:xfrm xmlns:a="http://schemas.openxmlformats.org/drawingml/2006/main">
            <a:off x="70485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Machine parts and functions</a:t>
            </a:r>
          </a:p>
        </p:txBody>
      </p:sp>
      <p:sp>
        <p:nvSpPr>
          <p:cNvPr id="6" name="path-rule-1">
            <a:extLst xmlns:a="http://schemas.openxmlformats.org/drawingml/2006/main">
              <a:ext uri="{FF2B5EF4-FFF2-40B4-BE49-F238E27FC236}">
                <a16:creationId xmlns:a16="http://schemas.microsoft.com/office/drawing/2014/main" id="{B52F6EE8-69C4-4EED-978E-7A0E55A53421}"/>
              </a:ext>
            </a:extLst>
          </p:cNvPr>
          <p:cNvSpPr>
            <a:spLocks xmlns:a="http://schemas.openxmlformats.org/drawingml/2006/main" noGrp="1"/>
          </p:cNvSpPr>
          <p:nvPr/>
        </p:nvSpPr>
        <p:spPr>
          <a:xfrm xmlns:a="http://schemas.openxmlformats.org/drawingml/2006/main">
            <a:off x="704850" y="4171950"/>
            <a:ext cx="2724150" cy="47625"/>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7" name="path-number-2">
            <a:extLst xmlns:a="http://schemas.openxmlformats.org/drawingml/2006/main">
              <a:ext uri="{FF2B5EF4-FFF2-40B4-BE49-F238E27FC236}">
                <a16:creationId xmlns:a16="http://schemas.microsoft.com/office/drawing/2014/main" id="{64F0F63F-C3CD-4D47-8A07-48E6CA242E7A}"/>
              </a:ext>
            </a:extLst>
          </p:cNvPr>
          <p:cNvSpPr>
            <a:spLocks xmlns:a="http://schemas.openxmlformats.org/drawingml/2006/main" noGrp="1"/>
          </p:cNvSpPr>
          <p:nvPr/>
        </p:nvSpPr>
        <p:spPr>
          <a:xfrm xmlns:a="http://schemas.openxmlformats.org/drawingml/2006/main">
            <a:off x="4333875"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226A61"/>
                </a:solidFill>
              </a:defRPr>
            </a:pPr>
            <a:r>
              <a:rPr sz="4650" b="1">
                <a:solidFill>
                  <a:srgbClr val="226A61"/>
                </a:solidFill>
              </a:rPr>
              <a:t>2</a:t>
            </a:r>
          </a:p>
        </p:txBody>
      </p:sp>
      <p:sp>
        <p:nvSpPr>
          <p:cNvPr id="8" name="path-title-2">
            <a:extLst xmlns:a="http://schemas.openxmlformats.org/drawingml/2006/main">
              <a:ext uri="{FF2B5EF4-FFF2-40B4-BE49-F238E27FC236}">
                <a16:creationId xmlns:a16="http://schemas.microsoft.com/office/drawing/2014/main" id="{F18D3969-07DD-4070-84E0-C7851F3EBC3B}"/>
              </a:ext>
            </a:extLst>
          </p:cNvPr>
          <p:cNvSpPr>
            <a:spLocks xmlns:a="http://schemas.openxmlformats.org/drawingml/2006/main" noGrp="1"/>
          </p:cNvSpPr>
          <p:nvPr/>
        </p:nvSpPr>
        <p:spPr>
          <a:xfrm xmlns:a="http://schemas.openxmlformats.org/drawingml/2006/main">
            <a:off x="4333875"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Safe setup and threading boundaries</a:t>
            </a:r>
          </a:p>
        </p:txBody>
      </p:sp>
      <p:sp>
        <p:nvSpPr>
          <p:cNvPr id="9" name="path-rule-2">
            <a:extLst xmlns:a="http://schemas.openxmlformats.org/drawingml/2006/main">
              <a:ext uri="{FF2B5EF4-FFF2-40B4-BE49-F238E27FC236}">
                <a16:creationId xmlns:a16="http://schemas.microsoft.com/office/drawing/2014/main" id="{C09EE994-0716-4209-A467-000267033EA9}"/>
              </a:ext>
            </a:extLst>
          </p:cNvPr>
          <p:cNvSpPr>
            <a:spLocks xmlns:a="http://schemas.openxmlformats.org/drawingml/2006/main" noGrp="1"/>
          </p:cNvSpPr>
          <p:nvPr/>
        </p:nvSpPr>
        <p:spPr>
          <a:xfrm xmlns:a="http://schemas.openxmlformats.org/drawingml/2006/main">
            <a:off x="4333875" y="4171950"/>
            <a:ext cx="2724150" cy="47625"/>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10" name="path-number-3">
            <a:extLst xmlns:a="http://schemas.openxmlformats.org/drawingml/2006/main">
              <a:ext uri="{FF2B5EF4-FFF2-40B4-BE49-F238E27FC236}">
                <a16:creationId xmlns:a16="http://schemas.microsoft.com/office/drawing/2014/main" id="{9DB6FD4D-BFBC-43D1-9142-FEBB9640735C}"/>
              </a:ext>
            </a:extLst>
          </p:cNvPr>
          <p:cNvSpPr>
            <a:spLocks xmlns:a="http://schemas.openxmlformats.org/drawingml/2006/main" noGrp="1"/>
          </p:cNvSpPr>
          <p:nvPr/>
        </p:nvSpPr>
        <p:spPr>
          <a:xfrm xmlns:a="http://schemas.openxmlformats.org/drawingml/2006/main">
            <a:off x="7962900" y="2076450"/>
            <a:ext cx="666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650" b="1">
                <a:solidFill>
                  <a:srgbClr val="C94C46"/>
                </a:solidFill>
              </a:defRPr>
            </a:pPr>
            <a:r>
              <a:rPr sz="4650" b="1">
                <a:solidFill>
                  <a:srgbClr val="C94C46"/>
                </a:solidFill>
              </a:rPr>
              <a:t>3</a:t>
            </a:r>
          </a:p>
        </p:txBody>
      </p:sp>
      <p:sp>
        <p:nvSpPr>
          <p:cNvPr id="11" name="path-title-3">
            <a:extLst xmlns:a="http://schemas.openxmlformats.org/drawingml/2006/main">
              <a:ext uri="{FF2B5EF4-FFF2-40B4-BE49-F238E27FC236}">
                <a16:creationId xmlns:a16="http://schemas.microsoft.com/office/drawing/2014/main" id="{1ABF81BD-93B5-43CE-A3C4-6D4F7D83C77D}"/>
              </a:ext>
            </a:extLst>
          </p:cNvPr>
          <p:cNvSpPr>
            <a:spLocks xmlns:a="http://schemas.openxmlformats.org/drawingml/2006/main" noGrp="1"/>
          </p:cNvSpPr>
          <p:nvPr/>
        </p:nvSpPr>
        <p:spPr>
          <a:xfrm xmlns:a="http://schemas.openxmlformats.org/drawingml/2006/main">
            <a:off x="7962900" y="2971800"/>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2A101C"/>
                </a:solidFill>
              </a:defRPr>
            </a:pPr>
            <a:r>
              <a:rPr sz="1875" b="1">
                <a:solidFill>
                  <a:srgbClr val="2A101C"/>
                </a:solidFill>
              </a:rPr>
              <a:t>Stitch control and troubleshooting</a:t>
            </a:r>
          </a:p>
        </p:txBody>
      </p:sp>
      <p:sp>
        <p:nvSpPr>
          <p:cNvPr id="12" name="path-rule-3">
            <a:extLst xmlns:a="http://schemas.openxmlformats.org/drawingml/2006/main">
              <a:ext uri="{FF2B5EF4-FFF2-40B4-BE49-F238E27FC236}">
                <a16:creationId xmlns:a16="http://schemas.microsoft.com/office/drawing/2014/main" id="{FD4DCC83-0870-460F-9B0A-18E433ED7EE4}"/>
              </a:ext>
            </a:extLst>
          </p:cNvPr>
          <p:cNvSpPr>
            <a:spLocks xmlns:a="http://schemas.openxmlformats.org/drawingml/2006/main" noGrp="1"/>
          </p:cNvSpPr>
          <p:nvPr/>
        </p:nvSpPr>
        <p:spPr>
          <a:xfrm xmlns:a="http://schemas.openxmlformats.org/drawingml/2006/main">
            <a:off x="7962900" y="4171950"/>
            <a:ext cx="2724150" cy="47625"/>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13" name="retrieval-strip">
            <a:extLst xmlns:a="http://schemas.openxmlformats.org/drawingml/2006/main">
              <a:ext uri="{FF2B5EF4-FFF2-40B4-BE49-F238E27FC236}">
                <a16:creationId xmlns:a16="http://schemas.microsoft.com/office/drawing/2014/main" id="{DBF15B87-035A-4FF4-B560-3B7E9E142CD9}"/>
              </a:ext>
            </a:extLst>
          </p:cNvPr>
          <p:cNvSpPr>
            <a:spLocks xmlns:a="http://schemas.openxmlformats.org/drawingml/2006/main" noGrp="1"/>
          </p:cNvSpPr>
          <p:nvPr/>
        </p:nvSpPr>
        <p:spPr>
          <a:xfrm xmlns:a="http://schemas.openxmlformats.org/drawingml/2006/main">
            <a:off x="609600" y="4914900"/>
            <a:ext cx="10972800" cy="990600"/>
          </a:xfrm>
          <a:prstGeom xmlns:a="http://schemas.openxmlformats.org/drawingml/2006/main" prst="roundRect">
            <a:avLst>
              <a:gd name="adj" fmla="val 17308"/>
            </a:avLst>
          </a:prstGeom>
          <a:solidFill xmlns:a="http://schemas.openxmlformats.org/drawingml/2006/main">
            <a:srgbClr val="721735"/>
          </a:solidFill>
          <a:ln xmlns:a="http://schemas.openxmlformats.org/drawingml/2006/main" w="0">
            <a:noFill/>
            <a:prstDash val="solid"/>
          </a:ln>
        </p:spPr>
      </p:sp>
      <p:sp>
        <p:nvSpPr>
          <p:cNvPr id="14" name="warm-up-label">
            <a:extLst xmlns:a="http://schemas.openxmlformats.org/drawingml/2006/main">
              <a:ext uri="{FF2B5EF4-FFF2-40B4-BE49-F238E27FC236}">
                <a16:creationId xmlns:a16="http://schemas.microsoft.com/office/drawing/2014/main" id="{D18F5BD1-5543-490C-ABD3-3928408B9263}"/>
              </a:ext>
            </a:extLst>
          </p:cNvPr>
          <p:cNvSpPr>
            <a:spLocks xmlns:a="http://schemas.openxmlformats.org/drawingml/2006/main" noGrp="1"/>
          </p:cNvSpPr>
          <p:nvPr/>
        </p:nvSpPr>
        <p:spPr>
          <a:xfrm xmlns:a="http://schemas.openxmlformats.org/drawingml/2006/main">
            <a:off x="876300" y="51054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6A238"/>
                </a:solidFill>
              </a:defRPr>
            </a:pPr>
            <a:r>
              <a:rPr sz="1200" b="1">
                <a:solidFill>
                  <a:srgbClr val="D6A238"/>
                </a:solidFill>
              </a:rPr>
              <a:t>RETRIEVAL WARM-UP</a:t>
            </a:r>
          </a:p>
        </p:txBody>
      </p:sp>
      <p:sp>
        <p:nvSpPr>
          <p:cNvPr id="15" name="warm-up-question">
            <a:extLst xmlns:a="http://schemas.openxmlformats.org/drawingml/2006/main">
              <a:ext uri="{FF2B5EF4-FFF2-40B4-BE49-F238E27FC236}">
                <a16:creationId xmlns:a16="http://schemas.microsoft.com/office/drawing/2014/main" id="{FC505C8D-81EF-47AE-80FA-F8418DA02783}"/>
              </a:ext>
            </a:extLst>
          </p:cNvPr>
          <p:cNvSpPr>
            <a:spLocks xmlns:a="http://schemas.openxmlformats.org/drawingml/2006/main" noGrp="1"/>
          </p:cNvSpPr>
          <p:nvPr/>
        </p:nvSpPr>
        <p:spPr>
          <a:xfrm xmlns:a="http://schemas.openxmlformats.org/drawingml/2006/main">
            <a:off x="876300" y="5429250"/>
            <a:ext cx="9763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FFFFFF"/>
                </a:solidFill>
              </a:defRPr>
            </a:pPr>
            <a:r>
              <a:rPr sz="1575" b="1">
                <a:solidFill>
                  <a:srgbClr val="FFFFFF"/>
                </a:solidFill>
              </a:rPr>
              <a:t>Which idea feels most familiar—and what evidence supports what you think you know?</a:t>
            </a:r>
          </a:p>
        </p:txBody>
      </p:sp>
      <p:sp>
        <p:nvSpPr>
          <p:cNvPr id="16" name="footer-module-2">
            <a:extLst xmlns:a="http://schemas.openxmlformats.org/drawingml/2006/main">
              <a:ext uri="{FF2B5EF4-FFF2-40B4-BE49-F238E27FC236}">
                <a16:creationId xmlns:a16="http://schemas.microsoft.com/office/drawing/2014/main" id="{0A37FA36-39FD-427B-9333-B2B8FFB49753}"/>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02 · YEAR 8 TEXTILES TECHNOLOGY</a:t>
            </a:r>
          </a:p>
        </p:txBody>
      </p:sp>
      <p:sp>
        <p:nvSpPr>
          <p:cNvPr id="17" name="footer-number-2">
            <a:extLst xmlns:a="http://schemas.openxmlformats.org/drawingml/2006/main">
              <a:ext uri="{FF2B5EF4-FFF2-40B4-BE49-F238E27FC236}">
                <a16:creationId xmlns:a16="http://schemas.microsoft.com/office/drawing/2014/main" id="{C1BC6C5D-49B5-4E79-B4DE-13BF088F3922}"/>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02</a:t>
            </a:r>
          </a:p>
        </p:txBody>
      </p:sp>
    </p:spTree>
    <p:extLst>
      <p:ext uri="{BB962C8B-B14F-4D97-AF65-F5344CB8AC3E}">
        <p14:creationId xmlns:p14="http://schemas.microsoft.com/office/powerpoint/2010/main" val="734749371"/>
      </p:ext>
    </p:extLst>
  </p:cSld>
</p:sld>
</file>

<file path=ppt/slides/slide3.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7B7AD1D5-8CFE-458D-96FD-F58C35C41F8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AC2254"/>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D83F5AEB-A94B-4D2E-8594-82B3AC1A0EB6}"/>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AC2254"/>
                </a:solidFill>
              </a:defRPr>
            </a:pPr>
            <a:r>
              <a:rPr sz="1125" b="1">
                <a:solidFill>
                  <a:srgbClr val="AC2254"/>
                </a:solidFill>
              </a:rPr>
              <a:t>2.1 · RECOGNISE CONNECTED MACHINE SYSTEMS</a:t>
            </a:r>
          </a:p>
        </p:txBody>
      </p:sp>
      <p:sp>
        <p:nvSpPr>
          <p:cNvPr id="3" name="slide-title">
            <a:extLst xmlns:a="http://schemas.openxmlformats.org/drawingml/2006/main">
              <a:ext uri="{FF2B5EF4-FFF2-40B4-BE49-F238E27FC236}">
                <a16:creationId xmlns:a16="http://schemas.microsoft.com/office/drawing/2014/main" id="{4868500D-3986-40B5-ABC2-3AF9D2D93C39}"/>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Machine parts and functions</a:t>
            </a:r>
          </a:p>
        </p:txBody>
      </p:sp>
      <p:sp>
        <p:nvSpPr>
          <p:cNvPr id="4" name="image-frame">
            <a:extLst xmlns:a="http://schemas.openxmlformats.org/drawingml/2006/main">
              <a:ext uri="{FF2B5EF4-FFF2-40B4-BE49-F238E27FC236}">
                <a16:creationId xmlns:a16="http://schemas.microsoft.com/office/drawing/2014/main" id="{D396A2D1-43B0-4156-A97C-46B0DF5088AC}"/>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AC2254"/>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ae3ed5246764448"/>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AD8146EE-837E-4840-BB54-4DF2D7784721}"/>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A sewing machine coordinates thread delivery, needle, bobbin, material support, feeding and user control.</a:t>
            </a:r>
          </a:p>
        </p:txBody>
      </p:sp>
      <p:sp>
        <p:nvSpPr>
          <p:cNvPr id="7" name="key-idea-label">
            <a:extLst xmlns:a="http://schemas.openxmlformats.org/drawingml/2006/main">
              <a:ext uri="{FF2B5EF4-FFF2-40B4-BE49-F238E27FC236}">
                <a16:creationId xmlns:a16="http://schemas.microsoft.com/office/drawing/2014/main" id="{003E5963-8739-4E06-969B-FE91C59B8E3C}"/>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THE KEY IDEA</a:t>
            </a:r>
          </a:p>
        </p:txBody>
      </p:sp>
      <p:sp>
        <p:nvSpPr>
          <p:cNvPr id="8" name="key-idea-copy">
            <a:extLst xmlns:a="http://schemas.openxmlformats.org/drawingml/2006/main">
              <a:ext uri="{FF2B5EF4-FFF2-40B4-BE49-F238E27FC236}">
                <a16:creationId xmlns:a16="http://schemas.microsoft.com/office/drawing/2014/main" id="{8B7FC7B0-BF55-4672-A4F3-9A796D98253A}"/>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A sewing machine coordinates thread delivery, needle, bobbin, material support, feeding and user control. The stitch line provides evidence about several systems working together. Controls should be described by function and checked against the actual machine. Understanding a part does not replace the current manual, demonstration or permission.</a:t>
            </a:r>
          </a:p>
        </p:txBody>
      </p:sp>
      <p:sp>
        <p:nvSpPr>
          <p:cNvPr id="9" name="application-block">
            <a:extLst xmlns:a="http://schemas.openxmlformats.org/drawingml/2006/main">
              <a:ext uri="{FF2B5EF4-FFF2-40B4-BE49-F238E27FC236}">
                <a16:creationId xmlns:a16="http://schemas.microsoft.com/office/drawing/2014/main" id="{469472F0-EC6A-4293-A004-07AC675D4F08}"/>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FB6D2149-7867-445F-B56E-C024B2D5AD25}"/>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C2254"/>
                </a:solidFill>
              </a:defRPr>
            </a:pPr>
            <a:r>
              <a:rPr sz="1200" b="1">
                <a:solidFill>
                  <a:srgbClr val="AC2254"/>
                </a:solidFill>
              </a:rPr>
              <a:t>USE THIS IDEA</a:t>
            </a:r>
          </a:p>
        </p:txBody>
      </p:sp>
      <p:sp>
        <p:nvSpPr>
          <p:cNvPr id="11" name="application-copy">
            <a:extLst xmlns:a="http://schemas.openxmlformats.org/drawingml/2006/main">
              <a:ext uri="{FF2B5EF4-FFF2-40B4-BE49-F238E27FC236}">
                <a16:creationId xmlns:a16="http://schemas.microsoft.com/office/drawing/2014/main" id="{8A6C92D2-80F9-4BAE-9CCB-02EE9AFAE7DC}"/>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Using the teacher-approved machine diagram, create a function map rather than a list of labels.</a:t>
            </a:r>
          </a:p>
        </p:txBody>
      </p:sp>
      <p:sp>
        <p:nvSpPr>
          <p:cNvPr id="12" name="footer-module-3">
            <a:extLst xmlns:a="http://schemas.openxmlformats.org/drawingml/2006/main">
              <a:ext uri="{FF2B5EF4-FFF2-40B4-BE49-F238E27FC236}">
                <a16:creationId xmlns:a16="http://schemas.microsoft.com/office/drawing/2014/main" id="{40B093CA-2F36-4AE5-9A32-B9ED15A6FBCE}"/>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02 · YEAR 8 TEXTILES TECHNOLOGY</a:t>
            </a:r>
          </a:p>
        </p:txBody>
      </p:sp>
      <p:sp>
        <p:nvSpPr>
          <p:cNvPr id="13" name="footer-number-3">
            <a:extLst xmlns:a="http://schemas.openxmlformats.org/drawingml/2006/main">
              <a:ext uri="{FF2B5EF4-FFF2-40B4-BE49-F238E27FC236}">
                <a16:creationId xmlns:a16="http://schemas.microsoft.com/office/drawing/2014/main" id="{028D7C92-5A25-4767-8134-CFCE9698FA68}"/>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03</a:t>
            </a:r>
          </a:p>
        </p:txBody>
      </p:sp>
    </p:spTree>
    <p:extLst>
      <p:ext uri="{BB962C8B-B14F-4D97-AF65-F5344CB8AC3E}">
        <p14:creationId xmlns:p14="http://schemas.microsoft.com/office/powerpoint/2010/main" val="228836489"/>
      </p:ext>
    </p:extLst>
  </p:cSld>
</p:sld>
</file>

<file path=ppt/slides/slide4.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C894A1A7-74F6-486F-A031-D7D5507E2FD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26A61"/>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A12F3B3C-B59C-4815-A484-8F4941C017EC}"/>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26A61"/>
                </a:solidFill>
              </a:defRPr>
            </a:pPr>
            <a:r>
              <a:rPr sz="1125" b="1">
                <a:solidFill>
                  <a:srgbClr val="226A61"/>
                </a:solidFill>
              </a:rPr>
              <a:t>2.2 · MATCH THE INSTRUCTION TO THE MACHINE</a:t>
            </a:r>
          </a:p>
        </p:txBody>
      </p:sp>
      <p:sp>
        <p:nvSpPr>
          <p:cNvPr id="3" name="slide-title">
            <a:extLst xmlns:a="http://schemas.openxmlformats.org/drawingml/2006/main">
              <a:ext uri="{FF2B5EF4-FFF2-40B4-BE49-F238E27FC236}">
                <a16:creationId xmlns:a16="http://schemas.microsoft.com/office/drawing/2014/main" id="{921B52DC-1D53-4E35-A025-6452F7A14724}"/>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Safe setup and threading boundaries</a:t>
            </a:r>
          </a:p>
        </p:txBody>
      </p:sp>
      <p:sp>
        <p:nvSpPr>
          <p:cNvPr id="4" name="image-frame">
            <a:extLst xmlns:a="http://schemas.openxmlformats.org/drawingml/2006/main">
              <a:ext uri="{FF2B5EF4-FFF2-40B4-BE49-F238E27FC236}">
                <a16:creationId xmlns:a16="http://schemas.microsoft.com/office/drawing/2014/main" id="{068F0BDD-C0C7-4901-BECD-0878D400ADCF}"/>
              </a:ext>
            </a:extLst>
          </p:cNvPr>
          <p:cNvSpPr>
            <a:spLocks xmlns:a="http://schemas.openxmlformats.org/drawingml/2006/main" noGrp="1"/>
          </p:cNvSpPr>
          <p:nvPr/>
        </p:nvSpPr>
        <p:spPr>
          <a:xfrm xmlns:a="http://schemas.openxmlformats.org/drawingml/2006/main">
            <a:off x="6686550" y="1504950"/>
            <a:ext cx="4953000" cy="3448050"/>
          </a:xfrm>
          <a:prstGeom xmlns:a="http://schemas.openxmlformats.org/drawingml/2006/main" prst="roundRect">
            <a:avLst>
              <a:gd name="adj" fmla="val 4972"/>
            </a:avLst>
          </a:prstGeom>
          <a:solidFill xmlns:a="http://schemas.openxmlformats.org/drawingml/2006/main">
            <a:srgbClr val="226A61"/>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ec98989f49b4c7d"/>
          <a:srcRect xmlns:a="http://schemas.openxmlformats.org/drawingml/2006/main" l="1619" t="0" r="1619" b="0"/>
          <a:stretch xmlns:a="http://schemas.openxmlformats.org/drawingml/2006/main">
            <a:fillRect l="0" t="0" r="0" b="0"/>
          </a:stretch>
        </p:blipFill>
        <p:spPr>
          <a:xfrm xmlns:a="http://schemas.openxmlformats.org/drawingml/2006/main">
            <a:off x="67437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A78D49E7-D1C0-4FF1-BFA0-50A173CBD63D}"/>
              </a:ext>
            </a:extLst>
          </p:cNvPr>
          <p:cNvSpPr>
            <a:spLocks xmlns:a="http://schemas.openxmlformats.org/drawingml/2006/main" noGrp="1"/>
          </p:cNvSpPr>
          <p:nvPr/>
        </p:nvSpPr>
        <p:spPr>
          <a:xfrm xmlns:a="http://schemas.openxmlformats.org/drawingml/2006/main">
            <a:off x="67437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Setup and threading instructions must match the current machine model and local demonstration.</a:t>
            </a:r>
          </a:p>
        </p:txBody>
      </p:sp>
      <p:sp>
        <p:nvSpPr>
          <p:cNvPr id="7" name="key-idea-label">
            <a:extLst xmlns:a="http://schemas.openxmlformats.org/drawingml/2006/main">
              <a:ext uri="{FF2B5EF4-FFF2-40B4-BE49-F238E27FC236}">
                <a16:creationId xmlns:a16="http://schemas.microsoft.com/office/drawing/2014/main" id="{DEEA0349-293B-45F2-A950-4582A2BA6825}"/>
              </a:ext>
            </a:extLst>
          </p:cNvPr>
          <p:cNvSpPr>
            <a:spLocks xmlns:a="http://schemas.openxmlformats.org/drawingml/2006/main" noGrp="1"/>
          </p:cNvSpPr>
          <p:nvPr/>
        </p:nvSpPr>
        <p:spPr>
          <a:xfrm xmlns:a="http://schemas.openxmlformats.org/drawingml/2006/main">
            <a:off x="609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THE KEY IDEA</a:t>
            </a:r>
          </a:p>
        </p:txBody>
      </p:sp>
      <p:sp>
        <p:nvSpPr>
          <p:cNvPr id="8" name="key-idea-copy">
            <a:extLst xmlns:a="http://schemas.openxmlformats.org/drawingml/2006/main">
              <a:ext uri="{FF2B5EF4-FFF2-40B4-BE49-F238E27FC236}">
                <a16:creationId xmlns:a16="http://schemas.microsoft.com/office/drawing/2014/main" id="{3289E708-983E-4A78-B78D-3BE39E2ECF9A}"/>
              </a:ext>
            </a:extLst>
          </p:cNvPr>
          <p:cNvSpPr>
            <a:spLocks xmlns:a="http://schemas.openxmlformats.org/drawingml/2006/main" noGrp="1"/>
          </p:cNvSpPr>
          <p:nvPr/>
        </p:nvSpPr>
        <p:spPr>
          <a:xfrm xmlns:a="http://schemas.openxmlformats.org/drawingml/2006/main">
            <a:off x="609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Setup and threading instructions must match the current machine model and local demonstration. A pre-start thinking check looks for differences from the authorised starting condition. Specific observations are more useful than random adjustments or vague reports. Stop, keep clear and ask when the source, condition or machine behaviour is uncertain.</a:t>
            </a:r>
          </a:p>
        </p:txBody>
      </p:sp>
      <p:sp>
        <p:nvSpPr>
          <p:cNvPr id="9" name="application-block">
            <a:extLst xmlns:a="http://schemas.openxmlformats.org/drawingml/2006/main">
              <a:ext uri="{FF2B5EF4-FFF2-40B4-BE49-F238E27FC236}">
                <a16:creationId xmlns:a16="http://schemas.microsoft.com/office/drawing/2014/main" id="{6536A880-9D03-47C8-A8E3-7D6113BE63BB}"/>
              </a:ext>
            </a:extLst>
          </p:cNvPr>
          <p:cNvSpPr>
            <a:spLocks xmlns:a="http://schemas.openxmlformats.org/drawingml/2006/main" noGrp="1"/>
          </p:cNvSpPr>
          <p:nvPr/>
        </p:nvSpPr>
        <p:spPr>
          <a:xfrm xmlns:a="http://schemas.openxmlformats.org/drawingml/2006/main">
            <a:off x="609600" y="4114800"/>
            <a:ext cx="4838700" cy="1524000"/>
          </a:xfrm>
          <a:prstGeom xmlns:a="http://schemas.openxmlformats.org/drawingml/2006/main" prst="roundRect">
            <a:avLst>
              <a:gd name="adj" fmla="val 10000"/>
            </a:avLst>
          </a:prstGeom>
          <a:solidFill xmlns:a="http://schemas.openxmlformats.org/drawingml/2006/main">
            <a:srgbClr val="DCE9E4"/>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AC2A1790-0469-48B0-B222-D752253DCD95}"/>
              </a:ext>
            </a:extLst>
          </p:cNvPr>
          <p:cNvSpPr>
            <a:spLocks xmlns:a="http://schemas.openxmlformats.org/drawingml/2006/main" noGrp="1"/>
          </p:cNvSpPr>
          <p:nvPr/>
        </p:nvSpPr>
        <p:spPr>
          <a:xfrm xmlns:a="http://schemas.openxmlformats.org/drawingml/2006/main">
            <a:off x="838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26A61"/>
                </a:solidFill>
              </a:defRPr>
            </a:pPr>
            <a:r>
              <a:rPr sz="1200" b="1">
                <a:solidFill>
                  <a:srgbClr val="226A61"/>
                </a:solidFill>
              </a:rPr>
              <a:t>USE THIS IDEA</a:t>
            </a:r>
          </a:p>
        </p:txBody>
      </p:sp>
      <p:sp>
        <p:nvSpPr>
          <p:cNvPr id="11" name="application-copy">
            <a:extLst xmlns:a="http://schemas.openxmlformats.org/drawingml/2006/main">
              <a:ext uri="{FF2B5EF4-FFF2-40B4-BE49-F238E27FC236}">
                <a16:creationId xmlns:a16="http://schemas.microsoft.com/office/drawing/2014/main" id="{03A57AEF-919C-4F81-A581-B0C65E42E4F5}"/>
              </a:ext>
            </a:extLst>
          </p:cNvPr>
          <p:cNvSpPr>
            <a:spLocks xmlns:a="http://schemas.openxmlformats.org/drawingml/2006/main" noGrp="1"/>
          </p:cNvSpPr>
          <p:nvPr/>
        </p:nvSpPr>
        <p:spPr>
          <a:xfrm xmlns:a="http://schemas.openxmlformats.org/drawingml/2006/main">
            <a:off x="838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During the teacher demonstration, make a three-column observation record: source or machine feature, what you can verify, and the question you would ask if it did not match. Do not turn the record into an unsupervised threading guide.</a:t>
            </a:r>
          </a:p>
        </p:txBody>
      </p:sp>
      <p:sp>
        <p:nvSpPr>
          <p:cNvPr id="12" name="footer-module-4">
            <a:extLst xmlns:a="http://schemas.openxmlformats.org/drawingml/2006/main">
              <a:ext uri="{FF2B5EF4-FFF2-40B4-BE49-F238E27FC236}">
                <a16:creationId xmlns:a16="http://schemas.microsoft.com/office/drawing/2014/main" id="{EF436717-F7C1-4918-AA38-430069A61395}"/>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02 · YEAR 8 TEXTILES TECHNOLOGY</a:t>
            </a:r>
          </a:p>
        </p:txBody>
      </p:sp>
      <p:sp>
        <p:nvSpPr>
          <p:cNvPr id="13" name="footer-number-4">
            <a:extLst xmlns:a="http://schemas.openxmlformats.org/drawingml/2006/main">
              <a:ext uri="{FF2B5EF4-FFF2-40B4-BE49-F238E27FC236}">
                <a16:creationId xmlns:a16="http://schemas.microsoft.com/office/drawing/2014/main" id="{1FBE01DD-C548-41CA-87F3-C50A54691D80}"/>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04</a:t>
            </a:r>
          </a:p>
        </p:txBody>
      </p:sp>
    </p:spTree>
    <p:extLst>
      <p:ext uri="{BB962C8B-B14F-4D97-AF65-F5344CB8AC3E}">
        <p14:creationId xmlns:p14="http://schemas.microsoft.com/office/powerpoint/2010/main" val="589118986"/>
      </p:ext>
    </p:extLst>
  </p:cSld>
</p:sld>
</file>

<file path=ppt/slides/slide5.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14" name="top-accent">
            <a:extLst xmlns:a="http://schemas.openxmlformats.org/drawingml/2006/main">
              <a:ext uri="{FF2B5EF4-FFF2-40B4-BE49-F238E27FC236}">
                <a16:creationId xmlns:a16="http://schemas.microsoft.com/office/drawing/2014/main" id="{6B13F175-1197-4882-BA4B-70632874541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94C46"/>
          </a:solidFill>
          <a:ln xmlns:a="http://schemas.openxmlformats.org/drawingml/2006/main" w="0">
            <a:noFill/>
            <a:prstDash val="solid"/>
          </a:ln>
        </p:spPr>
      </p:sp>
      <p:sp>
        <p:nvSpPr>
          <p:cNvPr id="2" name="section-eyebrow">
            <a:extLst xmlns:a="http://schemas.openxmlformats.org/drawingml/2006/main">
              <a:ext uri="{FF2B5EF4-FFF2-40B4-BE49-F238E27FC236}">
                <a16:creationId xmlns:a16="http://schemas.microsoft.com/office/drawing/2014/main" id="{6287D73F-8CE3-4732-A479-2EC6C95C779A}"/>
              </a:ext>
            </a:extLst>
          </p:cNvPr>
          <p:cNvSpPr>
            <a:spLocks xmlns:a="http://schemas.openxmlformats.org/drawingml/2006/main" noGrp="1"/>
          </p:cNvSpPr>
          <p:nvPr/>
        </p:nvSpPr>
        <p:spPr>
          <a:xfrm xmlns:a="http://schemas.openxmlformats.org/drawingml/2006/main">
            <a:off x="609600" y="4000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C94C46"/>
                </a:solidFill>
              </a:defRPr>
            </a:pPr>
            <a:r>
              <a:rPr sz="1125" b="1">
                <a:solidFill>
                  <a:srgbClr val="C94C46"/>
                </a:solidFill>
              </a:rPr>
              <a:t>2.3 · READ THE STITCH LINE AS EVIDENCE</a:t>
            </a:r>
          </a:p>
        </p:txBody>
      </p:sp>
      <p:sp>
        <p:nvSpPr>
          <p:cNvPr id="3" name="slide-title">
            <a:extLst xmlns:a="http://schemas.openxmlformats.org/drawingml/2006/main">
              <a:ext uri="{FF2B5EF4-FFF2-40B4-BE49-F238E27FC236}">
                <a16:creationId xmlns:a16="http://schemas.microsoft.com/office/drawing/2014/main" id="{1D9953A5-1EE4-40C5-B0F3-4AB42AA9F7CE}"/>
              </a:ext>
            </a:extLst>
          </p:cNvPr>
          <p:cNvSpPr>
            <a:spLocks xmlns:a="http://schemas.openxmlformats.org/drawingml/2006/main" noGrp="1"/>
          </p:cNvSpPr>
          <p:nvPr/>
        </p:nvSpPr>
        <p:spPr>
          <a:xfrm xmlns:a="http://schemas.openxmlformats.org/drawingml/2006/main">
            <a:off x="609600" y="7239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2A101C"/>
                </a:solidFill>
              </a:defRPr>
            </a:pPr>
            <a:r>
              <a:rPr sz="2850" b="1">
                <a:solidFill>
                  <a:srgbClr val="2A101C"/>
                </a:solidFill>
              </a:rPr>
              <a:t>Stitch control and troubleshooting</a:t>
            </a:r>
          </a:p>
        </p:txBody>
      </p:sp>
      <p:sp>
        <p:nvSpPr>
          <p:cNvPr id="4" name="image-frame">
            <a:extLst xmlns:a="http://schemas.openxmlformats.org/drawingml/2006/main">
              <a:ext uri="{FF2B5EF4-FFF2-40B4-BE49-F238E27FC236}">
                <a16:creationId xmlns:a16="http://schemas.microsoft.com/office/drawing/2014/main" id="{4573BDDE-1158-4147-959A-5436B8740271}"/>
              </a:ext>
            </a:extLst>
          </p:cNvPr>
          <p:cNvSpPr>
            <a:spLocks xmlns:a="http://schemas.openxmlformats.org/drawingml/2006/main" noGrp="1"/>
          </p:cNvSpPr>
          <p:nvPr/>
        </p:nvSpPr>
        <p:spPr>
          <a:xfrm xmlns:a="http://schemas.openxmlformats.org/drawingml/2006/main">
            <a:off x="552450" y="1504950"/>
            <a:ext cx="4953000" cy="3448050"/>
          </a:xfrm>
          <a:prstGeom xmlns:a="http://schemas.openxmlformats.org/drawingml/2006/main" prst="roundRect">
            <a:avLst>
              <a:gd name="adj" fmla="val 4972"/>
            </a:avLst>
          </a:prstGeom>
          <a:solidFill xmlns:a="http://schemas.openxmlformats.org/drawingml/2006/main">
            <a:srgbClr val="C94C46"/>
          </a:solidFill>
          <a:ln xmlns:a="http://schemas.openxmlformats.org/drawingml/2006/main" w="0">
            <a:no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7d387bf6e40464f"/>
          <a:srcRect xmlns:a="http://schemas.openxmlformats.org/drawingml/2006/main" l="1619" t="0" r="1619" b="0"/>
          <a:stretch xmlns:a="http://schemas.openxmlformats.org/drawingml/2006/main">
            <a:fillRect l="0" t="0" r="0" b="0"/>
          </a:stretch>
        </p:blipFill>
        <p:spPr>
          <a:xfrm xmlns:a="http://schemas.openxmlformats.org/drawingml/2006/main">
            <a:off x="609600" y="1562100"/>
            <a:ext cx="4838700" cy="3333750"/>
          </a:xfrm>
          <a:prstGeom xmlns:a="http://schemas.openxmlformats.org/drawingml/2006/main" prst="rect">
            <a:avLst/>
          </a:prstGeom>
        </p:spPr>
      </p:pic>
      <p:sp>
        <p:nvSpPr>
          <p:cNvPr id="6" name="visual-caption">
            <a:extLst xmlns:a="http://schemas.openxmlformats.org/drawingml/2006/main">
              <a:ext uri="{FF2B5EF4-FFF2-40B4-BE49-F238E27FC236}">
                <a16:creationId xmlns:a16="http://schemas.microsoft.com/office/drawing/2014/main" id="{96A307C4-CB8F-4D49-8326-E18078E24F4D}"/>
              </a:ext>
            </a:extLst>
          </p:cNvPr>
          <p:cNvSpPr>
            <a:spLocks xmlns:a="http://schemas.openxmlformats.org/drawingml/2006/main" noGrp="1"/>
          </p:cNvSpPr>
          <p:nvPr/>
        </p:nvSpPr>
        <p:spPr>
          <a:xfrm xmlns:a="http://schemas.openxmlformats.org/drawingml/2006/main">
            <a:off x="609600" y="5029200"/>
            <a:ext cx="4838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C5357"/>
                </a:solidFill>
              </a:defRPr>
            </a:pPr>
            <a:r>
              <a:rPr sz="1200" b="0">
                <a:solidFill>
                  <a:srgbClr val="5C5357"/>
                </a:solidFill>
              </a:rPr>
              <a:t>Look closely: find visible evidence for this claim — Straight and zigzag stitches are selected for a purpose, not ranked as universally better or worse.</a:t>
            </a:r>
          </a:p>
        </p:txBody>
      </p:sp>
      <p:sp>
        <p:nvSpPr>
          <p:cNvPr id="7" name="key-idea-label">
            <a:extLst xmlns:a="http://schemas.openxmlformats.org/drawingml/2006/main">
              <a:ext uri="{FF2B5EF4-FFF2-40B4-BE49-F238E27FC236}">
                <a16:creationId xmlns:a16="http://schemas.microsoft.com/office/drawing/2014/main" id="{5D4D1E58-1ED6-4791-9CDC-01267A6AC0EE}"/>
              </a:ext>
            </a:extLst>
          </p:cNvPr>
          <p:cNvSpPr>
            <a:spLocks xmlns:a="http://schemas.openxmlformats.org/drawingml/2006/main" noGrp="1"/>
          </p:cNvSpPr>
          <p:nvPr/>
        </p:nvSpPr>
        <p:spPr>
          <a:xfrm xmlns:a="http://schemas.openxmlformats.org/drawingml/2006/main">
            <a:off x="5943600" y="15621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THE KEY IDEA</a:t>
            </a:r>
          </a:p>
        </p:txBody>
      </p:sp>
      <p:sp>
        <p:nvSpPr>
          <p:cNvPr id="8" name="key-idea-copy">
            <a:extLst xmlns:a="http://schemas.openxmlformats.org/drawingml/2006/main">
              <a:ext uri="{FF2B5EF4-FFF2-40B4-BE49-F238E27FC236}">
                <a16:creationId xmlns:a16="http://schemas.microsoft.com/office/drawing/2014/main" id="{11AE1E8B-40A2-403C-AC10-5421855B2079}"/>
              </a:ext>
            </a:extLst>
          </p:cNvPr>
          <p:cNvSpPr>
            <a:spLocks xmlns:a="http://schemas.openxmlformats.org/drawingml/2006/main" noGrp="1"/>
          </p:cNvSpPr>
          <p:nvPr/>
        </p:nvSpPr>
        <p:spPr>
          <a:xfrm xmlns:a="http://schemas.openxmlformats.org/drawingml/2006/main">
            <a:off x="5943600" y="1924050"/>
            <a:ext cx="4838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A101C"/>
                </a:solidFill>
              </a:defRPr>
            </a:pPr>
            <a:r>
              <a:rPr sz="1500" b="0">
                <a:solidFill>
                  <a:srgbClr val="2A101C"/>
                </a:solidFill>
              </a:rPr>
              <a:t>Straight and zigzag stitches are selected for a purpose, not ranked as universally better or worse. Useful observations describe spacing, direction, surface effects and where a change begins. Change one authorised variable at a time and label the sample. Troubleshooting stops at the boundary of student permission and unfamiliar behaviour is reported.</a:t>
            </a:r>
          </a:p>
        </p:txBody>
      </p:sp>
      <p:sp>
        <p:nvSpPr>
          <p:cNvPr id="9" name="application-block">
            <a:extLst xmlns:a="http://schemas.openxmlformats.org/drawingml/2006/main">
              <a:ext uri="{FF2B5EF4-FFF2-40B4-BE49-F238E27FC236}">
                <a16:creationId xmlns:a16="http://schemas.microsoft.com/office/drawing/2014/main" id="{3CB58A1D-F25B-4A5C-8677-B10193D0B009}"/>
              </a:ext>
            </a:extLst>
          </p:cNvPr>
          <p:cNvSpPr>
            <a:spLocks xmlns:a="http://schemas.openxmlformats.org/drawingml/2006/main" noGrp="1"/>
          </p:cNvSpPr>
          <p:nvPr/>
        </p:nvSpPr>
        <p:spPr>
          <a:xfrm xmlns:a="http://schemas.openxmlformats.org/drawingml/2006/main">
            <a:off x="5943600" y="4114800"/>
            <a:ext cx="4838700" cy="1524000"/>
          </a:xfrm>
          <a:prstGeom xmlns:a="http://schemas.openxmlformats.org/drawingml/2006/main" prst="roundRect">
            <a:avLst>
              <a:gd name="adj" fmla="val 10000"/>
            </a:avLst>
          </a:prstGeom>
          <a:solidFill xmlns:a="http://schemas.openxmlformats.org/drawingml/2006/main">
            <a:srgbClr val="F1D5DE"/>
          </a:solidFill>
          <a:ln xmlns:a="http://schemas.openxmlformats.org/drawingml/2006/main" w="0">
            <a:noFill/>
            <a:prstDash val="solid"/>
          </a:ln>
        </p:spPr>
      </p:sp>
      <p:sp>
        <p:nvSpPr>
          <p:cNvPr id="10" name="application-label">
            <a:extLst xmlns:a="http://schemas.openxmlformats.org/drawingml/2006/main">
              <a:ext uri="{FF2B5EF4-FFF2-40B4-BE49-F238E27FC236}">
                <a16:creationId xmlns:a16="http://schemas.microsoft.com/office/drawing/2014/main" id="{C918D928-3497-4C89-BA8E-517BF6CDA8F0}"/>
              </a:ext>
            </a:extLst>
          </p:cNvPr>
          <p:cNvSpPr>
            <a:spLocks xmlns:a="http://schemas.openxmlformats.org/drawingml/2006/main" noGrp="1"/>
          </p:cNvSpPr>
          <p:nvPr/>
        </p:nvSpPr>
        <p:spPr>
          <a:xfrm xmlns:a="http://schemas.openxmlformats.org/drawingml/2006/main">
            <a:off x="6172200" y="42957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C94C46"/>
                </a:solidFill>
              </a:defRPr>
            </a:pPr>
            <a:r>
              <a:rPr sz="1200" b="1">
                <a:solidFill>
                  <a:srgbClr val="C94C46"/>
                </a:solidFill>
              </a:rPr>
              <a:t>USE THIS IDEA</a:t>
            </a:r>
          </a:p>
        </p:txBody>
      </p:sp>
      <p:sp>
        <p:nvSpPr>
          <p:cNvPr id="11" name="application-copy">
            <a:extLst xmlns:a="http://schemas.openxmlformats.org/drawingml/2006/main">
              <a:ext uri="{FF2B5EF4-FFF2-40B4-BE49-F238E27FC236}">
                <a16:creationId xmlns:a16="http://schemas.microsoft.com/office/drawing/2014/main" id="{28F10014-B7C1-4A6D-AAFC-FB7DB5CF7C3D}"/>
              </a:ext>
            </a:extLst>
          </p:cNvPr>
          <p:cNvSpPr>
            <a:spLocks xmlns:a="http://schemas.openxmlformats.org/drawingml/2006/main" noGrp="1"/>
          </p:cNvSpPr>
          <p:nvPr/>
        </p:nvSpPr>
        <p:spPr>
          <a:xfrm xmlns:a="http://schemas.openxmlformats.org/drawingml/2006/main">
            <a:off x="6172200" y="4629150"/>
            <a:ext cx="4381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Use teacher-approved paper or fabric samples to compare one demonstrated variable. Label the samples, describe the evidence on both surfaces where relevant and write a next-step decision. Stop and report any machine behaviour outside the demonstrated range.</a:t>
            </a:r>
          </a:p>
        </p:txBody>
      </p:sp>
      <p:sp>
        <p:nvSpPr>
          <p:cNvPr id="12" name="footer-module-5">
            <a:extLst xmlns:a="http://schemas.openxmlformats.org/drawingml/2006/main">
              <a:ext uri="{FF2B5EF4-FFF2-40B4-BE49-F238E27FC236}">
                <a16:creationId xmlns:a16="http://schemas.microsoft.com/office/drawing/2014/main" id="{2FC87CEA-DE96-4828-BB8A-3BFC22A997C7}"/>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02 · YEAR 8 TEXTILES TECHNOLOGY</a:t>
            </a:r>
          </a:p>
        </p:txBody>
      </p:sp>
      <p:sp>
        <p:nvSpPr>
          <p:cNvPr id="13" name="footer-number-5">
            <a:extLst xmlns:a="http://schemas.openxmlformats.org/drawingml/2006/main">
              <a:ext uri="{FF2B5EF4-FFF2-40B4-BE49-F238E27FC236}">
                <a16:creationId xmlns:a16="http://schemas.microsoft.com/office/drawing/2014/main" id="{315F4078-132A-4311-A203-09C5E5891A09}"/>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05</a:t>
            </a:r>
          </a:p>
        </p:txBody>
      </p:sp>
    </p:spTree>
    <p:extLst>
      <p:ext uri="{BB962C8B-B14F-4D97-AF65-F5344CB8AC3E}">
        <p14:creationId xmlns:p14="http://schemas.microsoft.com/office/powerpoint/2010/main" val="743223301"/>
      </p:ext>
    </p:extLst>
  </p:cSld>
</p:sld>
</file>

<file path=ppt/slides/slide6.xml><?xml version="1.0" encoding="utf-8"?>
<p:sld xmlns:p="http://schemas.openxmlformats.org/presentationml/2006/main">
  <p:cSld>
    <p:bg>
      <p:bgPr>
        <a:solidFill xmlns:a="http://schemas.openxmlformats.org/drawingml/2006/main">
          <a:srgbClr val="721735"/>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B3FE7823-C54E-45D9-A96F-5392ADF411B9}"/>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Stop. Think. Explain.</a:t>
            </a:r>
          </a:p>
        </p:txBody>
      </p:sp>
      <p:sp>
        <p:nvSpPr>
          <p:cNvPr id="2" name="retrieval-instruction">
            <a:extLst xmlns:a="http://schemas.openxmlformats.org/drawingml/2006/main">
              <a:ext uri="{FF2B5EF4-FFF2-40B4-BE49-F238E27FC236}">
                <a16:creationId xmlns:a16="http://schemas.microsoft.com/office/drawing/2014/main" id="{30AF2224-7C27-4FC2-98AA-694C054355C2}"/>
              </a:ext>
            </a:extLst>
          </p:cNvPr>
          <p:cNvSpPr>
            <a:spLocks xmlns:a="http://schemas.openxmlformats.org/drawingml/2006/main" noGrp="1"/>
          </p:cNvSpPr>
          <p:nvPr/>
        </p:nvSpPr>
        <p:spPr>
          <a:xfrm xmlns:a="http://schemas.openxmlformats.org/drawingml/2006/main">
            <a:off x="609600" y="12001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3DCE5"/>
                </a:solidFill>
              </a:defRPr>
            </a:pPr>
            <a:r>
              <a:rPr sz="1500" b="0">
                <a:solidFill>
                  <a:srgbClr val="F3DCE5"/>
                </a:solidFill>
              </a:rPr>
              <a:t>Correct or improve each claim, then support your answer with evidence from the module.</a:t>
            </a:r>
          </a:p>
        </p:txBody>
      </p:sp>
      <p:sp>
        <p:nvSpPr>
          <p:cNvPr id="3" name="retrieval-number-bg-1">
            <a:extLst xmlns:a="http://schemas.openxmlformats.org/drawingml/2006/main">
              <a:ext uri="{FF2B5EF4-FFF2-40B4-BE49-F238E27FC236}">
                <a16:creationId xmlns:a16="http://schemas.microsoft.com/office/drawing/2014/main" id="{3F013695-B665-43B8-99AE-D3D12C1D262E}"/>
              </a:ext>
            </a:extLst>
          </p:cNvPr>
          <p:cNvSpPr>
            <a:spLocks xmlns:a="http://schemas.openxmlformats.org/drawingml/2006/main" noGrp="1"/>
          </p:cNvSpPr>
          <p:nvPr/>
        </p:nvSpPr>
        <p:spPr>
          <a:xfrm xmlns:a="http://schemas.openxmlformats.org/drawingml/2006/main">
            <a:off x="685800" y="192405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4" name="retrieval-number-1">
            <a:extLst xmlns:a="http://schemas.openxmlformats.org/drawingml/2006/main">
              <a:ext uri="{FF2B5EF4-FFF2-40B4-BE49-F238E27FC236}">
                <a16:creationId xmlns:a16="http://schemas.microsoft.com/office/drawing/2014/main" id="{7C45D905-79FC-42AD-AA7D-815EFD2C4732}"/>
              </a:ext>
            </a:extLst>
          </p:cNvPr>
          <p:cNvSpPr>
            <a:spLocks xmlns:a="http://schemas.openxmlformats.org/drawingml/2006/main" noGrp="1"/>
          </p:cNvSpPr>
          <p:nvPr/>
        </p:nvSpPr>
        <p:spPr>
          <a:xfrm xmlns:a="http://schemas.openxmlformats.org/drawingml/2006/main">
            <a:off x="685800" y="200977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1</a:t>
            </a:r>
          </a:p>
        </p:txBody>
      </p:sp>
      <p:sp>
        <p:nvSpPr>
          <p:cNvPr id="5" name="retrieval-question-1">
            <a:extLst xmlns:a="http://schemas.openxmlformats.org/drawingml/2006/main">
              <a:ext uri="{FF2B5EF4-FFF2-40B4-BE49-F238E27FC236}">
                <a16:creationId xmlns:a16="http://schemas.microsoft.com/office/drawing/2014/main" id="{D097B265-E45F-43B9-A4E8-0E9CB94A1C9B}"/>
              </a:ext>
            </a:extLst>
          </p:cNvPr>
          <p:cNvSpPr>
            <a:spLocks xmlns:a="http://schemas.openxmlformats.org/drawingml/2006/main" noGrp="1"/>
          </p:cNvSpPr>
          <p:nvPr/>
        </p:nvSpPr>
        <p:spPr>
          <a:xfrm xmlns:a="http://schemas.openxmlformats.org/drawingml/2006/main">
            <a:off x="1428750" y="194310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“The needle alone makes the stitch.”</a:t>
            </a:r>
          </a:p>
        </p:txBody>
      </p:sp>
      <p:sp>
        <p:nvSpPr>
          <p:cNvPr id="6" name="retrieval-rule-1">
            <a:extLst xmlns:a="http://schemas.openxmlformats.org/drawingml/2006/main">
              <a:ext uri="{FF2B5EF4-FFF2-40B4-BE49-F238E27FC236}">
                <a16:creationId xmlns:a16="http://schemas.microsoft.com/office/drawing/2014/main" id="{53A58FFA-A3E2-4468-9B4C-70C9C1517CCE}"/>
              </a:ext>
            </a:extLst>
          </p:cNvPr>
          <p:cNvSpPr>
            <a:spLocks xmlns:a="http://schemas.openxmlformats.org/drawingml/2006/main" noGrp="1"/>
          </p:cNvSpPr>
          <p:nvPr/>
        </p:nvSpPr>
        <p:spPr>
          <a:xfrm xmlns:a="http://schemas.openxmlformats.org/drawingml/2006/main">
            <a:off x="1428750" y="265747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7" name="retrieval-number-bg-2">
            <a:extLst xmlns:a="http://schemas.openxmlformats.org/drawingml/2006/main">
              <a:ext uri="{FF2B5EF4-FFF2-40B4-BE49-F238E27FC236}">
                <a16:creationId xmlns:a16="http://schemas.microsoft.com/office/drawing/2014/main" id="{B6C69629-15CC-40B3-A093-BAF7D02AF07D}"/>
              </a:ext>
            </a:extLst>
          </p:cNvPr>
          <p:cNvSpPr>
            <a:spLocks xmlns:a="http://schemas.openxmlformats.org/drawingml/2006/main" noGrp="1"/>
          </p:cNvSpPr>
          <p:nvPr/>
        </p:nvSpPr>
        <p:spPr>
          <a:xfrm xmlns:a="http://schemas.openxmlformats.org/drawingml/2006/main">
            <a:off x="685800" y="2924175"/>
            <a:ext cx="457200" cy="45720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8" name="retrieval-number-2">
            <a:extLst xmlns:a="http://schemas.openxmlformats.org/drawingml/2006/main">
              <a:ext uri="{FF2B5EF4-FFF2-40B4-BE49-F238E27FC236}">
                <a16:creationId xmlns:a16="http://schemas.microsoft.com/office/drawing/2014/main" id="{65B65E07-8616-4096-A13C-5AD166548505}"/>
              </a:ext>
            </a:extLst>
          </p:cNvPr>
          <p:cNvSpPr>
            <a:spLocks xmlns:a="http://schemas.openxmlformats.org/drawingml/2006/main" noGrp="1"/>
          </p:cNvSpPr>
          <p:nvPr/>
        </p:nvSpPr>
        <p:spPr>
          <a:xfrm xmlns:a="http://schemas.openxmlformats.org/drawingml/2006/main">
            <a:off x="6858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2</a:t>
            </a:r>
          </a:p>
        </p:txBody>
      </p:sp>
      <p:sp>
        <p:nvSpPr>
          <p:cNvPr id="9" name="retrieval-question-2">
            <a:extLst xmlns:a="http://schemas.openxmlformats.org/drawingml/2006/main">
              <a:ext uri="{FF2B5EF4-FFF2-40B4-BE49-F238E27FC236}">
                <a16:creationId xmlns:a16="http://schemas.microsoft.com/office/drawing/2014/main" id="{0BAC1BF5-471E-44EC-855C-387E2B944F89}"/>
              </a:ext>
            </a:extLst>
          </p:cNvPr>
          <p:cNvSpPr>
            <a:spLocks xmlns:a="http://schemas.openxmlformats.org/drawingml/2006/main" noGrp="1"/>
          </p:cNvSpPr>
          <p:nvPr/>
        </p:nvSpPr>
        <p:spPr>
          <a:xfrm xmlns:a="http://schemas.openxmlformats.org/drawingml/2006/main">
            <a:off x="1428750" y="294322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“All domestic sewing machines are threaded in basically the same way.”</a:t>
            </a:r>
          </a:p>
        </p:txBody>
      </p:sp>
      <p:sp>
        <p:nvSpPr>
          <p:cNvPr id="10" name="retrieval-rule-2">
            <a:extLst xmlns:a="http://schemas.openxmlformats.org/drawingml/2006/main">
              <a:ext uri="{FF2B5EF4-FFF2-40B4-BE49-F238E27FC236}">
                <a16:creationId xmlns:a16="http://schemas.microsoft.com/office/drawing/2014/main" id="{20E3CB89-FD4D-497B-8BD4-9A78E120583A}"/>
              </a:ext>
            </a:extLst>
          </p:cNvPr>
          <p:cNvSpPr>
            <a:spLocks xmlns:a="http://schemas.openxmlformats.org/drawingml/2006/main" noGrp="1"/>
          </p:cNvSpPr>
          <p:nvPr/>
        </p:nvSpPr>
        <p:spPr>
          <a:xfrm xmlns:a="http://schemas.openxmlformats.org/drawingml/2006/main">
            <a:off x="1428750" y="3657600"/>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1" name="retrieval-number-bg-3">
            <a:extLst xmlns:a="http://schemas.openxmlformats.org/drawingml/2006/main">
              <a:ext uri="{FF2B5EF4-FFF2-40B4-BE49-F238E27FC236}">
                <a16:creationId xmlns:a16="http://schemas.microsoft.com/office/drawing/2014/main" id="{9DED3DD6-9B8E-476A-8E40-9E8B54EB6B43}"/>
              </a:ext>
            </a:extLst>
          </p:cNvPr>
          <p:cNvSpPr>
            <a:spLocks xmlns:a="http://schemas.openxmlformats.org/drawingml/2006/main" noGrp="1"/>
          </p:cNvSpPr>
          <p:nvPr/>
        </p:nvSpPr>
        <p:spPr>
          <a:xfrm xmlns:a="http://schemas.openxmlformats.org/drawingml/2006/main">
            <a:off x="685800" y="3924300"/>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2" name="retrieval-number-3">
            <a:extLst xmlns:a="http://schemas.openxmlformats.org/drawingml/2006/main">
              <a:ext uri="{FF2B5EF4-FFF2-40B4-BE49-F238E27FC236}">
                <a16:creationId xmlns:a16="http://schemas.microsoft.com/office/drawing/2014/main" id="{209A8E77-F0A4-47A4-B60C-98050AF985EF}"/>
              </a:ext>
            </a:extLst>
          </p:cNvPr>
          <p:cNvSpPr>
            <a:spLocks xmlns:a="http://schemas.openxmlformats.org/drawingml/2006/main" noGrp="1"/>
          </p:cNvSpPr>
          <p:nvPr/>
        </p:nvSpPr>
        <p:spPr>
          <a:xfrm xmlns:a="http://schemas.openxmlformats.org/drawingml/2006/main">
            <a:off x="685800" y="4010025"/>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3</a:t>
            </a:r>
          </a:p>
        </p:txBody>
      </p:sp>
      <p:sp>
        <p:nvSpPr>
          <p:cNvPr id="13" name="retrieval-question-3">
            <a:extLst xmlns:a="http://schemas.openxmlformats.org/drawingml/2006/main">
              <a:ext uri="{FF2B5EF4-FFF2-40B4-BE49-F238E27FC236}">
                <a16:creationId xmlns:a16="http://schemas.microsoft.com/office/drawing/2014/main" id="{5B11EFA2-3300-4A53-87E4-99BE42493406}"/>
              </a:ext>
            </a:extLst>
          </p:cNvPr>
          <p:cNvSpPr>
            <a:spLocks xmlns:a="http://schemas.openxmlformats.org/drawingml/2006/main" noGrp="1"/>
          </p:cNvSpPr>
          <p:nvPr/>
        </p:nvSpPr>
        <p:spPr>
          <a:xfrm xmlns:a="http://schemas.openxmlformats.org/drawingml/2006/main">
            <a:off x="1428750" y="3943350"/>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Correct or improve: “If a stitch looks wrong, tension should be changed first.”</a:t>
            </a:r>
          </a:p>
        </p:txBody>
      </p:sp>
      <p:sp>
        <p:nvSpPr>
          <p:cNvPr id="14" name="retrieval-rule-3">
            <a:extLst xmlns:a="http://schemas.openxmlformats.org/drawingml/2006/main">
              <a:ext uri="{FF2B5EF4-FFF2-40B4-BE49-F238E27FC236}">
                <a16:creationId xmlns:a16="http://schemas.microsoft.com/office/drawing/2014/main" id="{43A93AA6-E91F-463B-8315-7179A2566A87}"/>
              </a:ext>
            </a:extLst>
          </p:cNvPr>
          <p:cNvSpPr>
            <a:spLocks xmlns:a="http://schemas.openxmlformats.org/drawingml/2006/main" noGrp="1"/>
          </p:cNvSpPr>
          <p:nvPr/>
        </p:nvSpPr>
        <p:spPr>
          <a:xfrm xmlns:a="http://schemas.openxmlformats.org/drawingml/2006/main">
            <a:off x="1428750" y="4657725"/>
            <a:ext cx="9620250" cy="19050"/>
          </a:xfrm>
          <a:prstGeom xmlns:a="http://schemas.openxmlformats.org/drawingml/2006/main" prst="rect">
            <a:avLst/>
          </a:prstGeom>
          <a:solidFill xmlns:a="http://schemas.openxmlformats.org/drawingml/2006/main">
            <a:srgbClr val="A64B68"/>
          </a:solidFill>
          <a:ln xmlns:a="http://schemas.openxmlformats.org/drawingml/2006/main" w="0">
            <a:noFill/>
            <a:prstDash val="solid"/>
          </a:ln>
        </p:spPr>
      </p:sp>
      <p:sp>
        <p:nvSpPr>
          <p:cNvPr id="15" name="retrieval-number-bg-4">
            <a:extLst xmlns:a="http://schemas.openxmlformats.org/drawingml/2006/main">
              <a:ext uri="{FF2B5EF4-FFF2-40B4-BE49-F238E27FC236}">
                <a16:creationId xmlns:a16="http://schemas.microsoft.com/office/drawing/2014/main" id="{BBAF7790-0C0C-467B-AFF6-B74BB06DF70E}"/>
              </a:ext>
            </a:extLst>
          </p:cNvPr>
          <p:cNvSpPr>
            <a:spLocks xmlns:a="http://schemas.openxmlformats.org/drawingml/2006/main" noGrp="1"/>
          </p:cNvSpPr>
          <p:nvPr/>
        </p:nvSpPr>
        <p:spPr>
          <a:xfrm xmlns:a="http://schemas.openxmlformats.org/drawingml/2006/main">
            <a:off x="685800" y="4924425"/>
            <a:ext cx="457200" cy="4572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6" name="retrieval-number-4">
            <a:extLst xmlns:a="http://schemas.openxmlformats.org/drawingml/2006/main">
              <a:ext uri="{FF2B5EF4-FFF2-40B4-BE49-F238E27FC236}">
                <a16:creationId xmlns:a16="http://schemas.microsoft.com/office/drawing/2014/main" id="{2153220D-A146-44E1-9DF8-8E2917900B04}"/>
              </a:ext>
            </a:extLst>
          </p:cNvPr>
          <p:cNvSpPr>
            <a:spLocks xmlns:a="http://schemas.openxmlformats.org/drawingml/2006/main" noGrp="1"/>
          </p:cNvSpPr>
          <p:nvPr/>
        </p:nvSpPr>
        <p:spPr>
          <a:xfrm xmlns:a="http://schemas.openxmlformats.org/drawingml/2006/main">
            <a:off x="685800" y="50101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721735"/>
                </a:solidFill>
              </a:defRPr>
            </a:pPr>
            <a:r>
              <a:rPr sz="1425" b="1">
                <a:solidFill>
                  <a:srgbClr val="721735"/>
                </a:solidFill>
              </a:rPr>
              <a:t>4</a:t>
            </a:r>
          </a:p>
        </p:txBody>
      </p:sp>
      <p:sp>
        <p:nvSpPr>
          <p:cNvPr id="17" name="retrieval-question-4">
            <a:extLst xmlns:a="http://schemas.openxmlformats.org/drawingml/2006/main">
              <a:ext uri="{FF2B5EF4-FFF2-40B4-BE49-F238E27FC236}">
                <a16:creationId xmlns:a16="http://schemas.microsoft.com/office/drawing/2014/main" id="{E0C54BED-94F9-4197-A022-8442E8A4A292}"/>
              </a:ext>
            </a:extLst>
          </p:cNvPr>
          <p:cNvSpPr>
            <a:spLocks xmlns:a="http://schemas.openxmlformats.org/drawingml/2006/main" noGrp="1"/>
          </p:cNvSpPr>
          <p:nvPr/>
        </p:nvSpPr>
        <p:spPr>
          <a:xfrm xmlns:a="http://schemas.openxmlformats.org/drawingml/2006/main">
            <a:off x="1428750" y="4943475"/>
            <a:ext cx="981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FFFFFF"/>
                </a:solidFill>
              </a:defRPr>
            </a:pPr>
            <a:r>
              <a:rPr sz="1500" b="0">
                <a:solidFill>
                  <a:srgbClr val="FFFFFF"/>
                </a:solidFill>
              </a:rPr>
              <a:t>Connect two ideas: how could one change a decision made with the other?</a:t>
            </a:r>
          </a:p>
        </p:txBody>
      </p:sp>
      <p:sp>
        <p:nvSpPr>
          <p:cNvPr id="18" name="footer-module-6">
            <a:extLst xmlns:a="http://schemas.openxmlformats.org/drawingml/2006/main">
              <a:ext uri="{FF2B5EF4-FFF2-40B4-BE49-F238E27FC236}">
                <a16:creationId xmlns:a16="http://schemas.microsoft.com/office/drawing/2014/main" id="{698188D5-EAC9-4140-97C0-2A4C6220418C}"/>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02 · YEAR 8 TEXTILES TECHNOLOGY</a:t>
            </a:r>
          </a:p>
        </p:txBody>
      </p:sp>
      <p:sp>
        <p:nvSpPr>
          <p:cNvPr id="19" name="footer-number-6">
            <a:extLst xmlns:a="http://schemas.openxmlformats.org/drawingml/2006/main">
              <a:ext uri="{FF2B5EF4-FFF2-40B4-BE49-F238E27FC236}">
                <a16:creationId xmlns:a16="http://schemas.microsoft.com/office/drawing/2014/main" id="{4803CE98-020E-45F3-B2E2-B53689B1032A}"/>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06</a:t>
            </a:r>
          </a:p>
        </p:txBody>
      </p:sp>
    </p:spTree>
    <p:extLst>
      <p:ext uri="{BB962C8B-B14F-4D97-AF65-F5344CB8AC3E}">
        <p14:creationId xmlns:p14="http://schemas.microsoft.com/office/powerpoint/2010/main" val="761365060"/>
      </p:ext>
    </p:extLst>
  </p:cSld>
</p:sld>
</file>

<file path=ppt/slides/slide7.xml><?xml version="1.0" encoding="utf-8"?>
<p:sld xmlns:p="http://schemas.openxmlformats.org/presentationml/2006/main">
  <p:cSld>
    <p:bg>
      <p:bgPr>
        <a:solidFill xmlns:a="http://schemas.openxmlformats.org/drawingml/2006/main">
          <a:srgbClr val="FBF6F0"/>
        </a:solidFill>
      </p:bgPr>
    </p:bg>
    <p:spTree>
      <p:nvGrpSpPr>
        <p:cNvPr id="1" name=""/>
        <p:cNvGrpSpPr/>
        <p:nvPr/>
      </p:nvGrpSpPr>
      <p:grpSpPr>
        <a:xfrm xmlns:a="http://schemas.openxmlformats.org/drawingml/2006/main"/>
      </p:grpSpPr>
      <p:sp>
        <p:nvSpPr>
          <p:cNvPr id="24" name="top-accent">
            <a:extLst xmlns:a="http://schemas.openxmlformats.org/drawingml/2006/main">
              <a:ext uri="{FF2B5EF4-FFF2-40B4-BE49-F238E27FC236}">
                <a16:creationId xmlns:a16="http://schemas.microsoft.com/office/drawing/2014/main" id="{295B95C9-6FAD-4C8A-B981-3EA3C1FDE47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D6A238"/>
          </a:solidFill>
          <a:ln xmlns:a="http://schemas.openxmlformats.org/drawingml/2006/main" w="0">
            <a:noFill/>
            <a:prstDash val="solid"/>
          </a:ln>
        </p:spPr>
      </p:sp>
      <p:sp>
        <p:nvSpPr>
          <p:cNvPr id="2" name="slide-title">
            <a:extLst xmlns:a="http://schemas.openxmlformats.org/drawingml/2006/main">
              <a:ext uri="{FF2B5EF4-FFF2-40B4-BE49-F238E27FC236}">
                <a16:creationId xmlns:a16="http://schemas.microsoft.com/office/drawing/2014/main" id="{A2F4E7D4-54E0-43A5-8E83-C031FD5237E7}"/>
              </a:ext>
            </a:extLst>
          </p:cNvPr>
          <p:cNvSpPr>
            <a:spLocks xmlns:a="http://schemas.openxmlformats.org/drawingml/2006/main" noGrp="1"/>
          </p:cNvSpPr>
          <p:nvPr/>
        </p:nvSpPr>
        <p:spPr>
          <a:xfrm xmlns:a="http://schemas.openxmlformats.org/drawingml/2006/main">
            <a:off x="609600" y="49530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2A101C"/>
                </a:solidFill>
              </a:defRPr>
            </a:pPr>
            <a:r>
              <a:rPr sz="3000" b="1">
                <a:solidFill>
                  <a:srgbClr val="2A101C"/>
                </a:solidFill>
              </a:rPr>
              <a:t>Read → Select → Explain → Check</a:t>
            </a:r>
          </a:p>
        </p:txBody>
      </p:sp>
      <p:sp>
        <p:nvSpPr>
          <p:cNvPr id="3" name="guided-question">
            <a:extLst xmlns:a="http://schemas.openxmlformats.org/drawingml/2006/main">
              <a:ext uri="{FF2B5EF4-FFF2-40B4-BE49-F238E27FC236}">
                <a16:creationId xmlns:a16="http://schemas.microsoft.com/office/drawing/2014/main" id="{1F257A77-4DDA-4D35-912A-682CE82F8186}"/>
              </a:ext>
            </a:extLst>
          </p:cNvPr>
          <p:cNvSpPr>
            <a:spLocks xmlns:a="http://schemas.openxmlformats.org/drawingml/2006/main" noGrp="1"/>
          </p:cNvSpPr>
          <p:nvPr/>
        </p:nvSpPr>
        <p:spPr>
          <a:xfrm xmlns:a="http://schemas.openxmlformats.org/drawingml/2006/main">
            <a:off x="609600" y="120015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C5357"/>
                </a:solidFill>
              </a:defRPr>
            </a:pPr>
            <a:r>
              <a:rPr sz="1500" b="0">
                <a:solidFill>
                  <a:srgbClr val="5C5357"/>
                </a:solidFill>
              </a:rPr>
              <a:t>Use two labelled samples to explain what changed, what stayed constant, what the stitch evidence shows and the safest justified next step.</a:t>
            </a:r>
          </a:p>
        </p:txBody>
      </p:sp>
      <p:sp>
        <p:nvSpPr>
          <p:cNvPr id="4" name="response-number-1">
            <a:extLst xmlns:a="http://schemas.openxmlformats.org/drawingml/2006/main">
              <a:ext uri="{FF2B5EF4-FFF2-40B4-BE49-F238E27FC236}">
                <a16:creationId xmlns:a16="http://schemas.microsoft.com/office/drawing/2014/main" id="{387A0F4C-7AC7-4673-B52A-FEB139D867E2}"/>
              </a:ext>
            </a:extLst>
          </p:cNvPr>
          <p:cNvSpPr>
            <a:spLocks xmlns:a="http://schemas.openxmlformats.org/drawingml/2006/main" noGrp="1"/>
          </p:cNvSpPr>
          <p:nvPr/>
        </p:nvSpPr>
        <p:spPr>
          <a:xfrm xmlns:a="http://schemas.openxmlformats.org/drawingml/2006/main">
            <a:off x="6096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21735"/>
                </a:solidFill>
              </a:defRPr>
            </a:pPr>
            <a:r>
              <a:rPr sz="2700" b="1">
                <a:solidFill>
                  <a:srgbClr val="721735"/>
                </a:solidFill>
              </a:rPr>
              <a:t>1</a:t>
            </a:r>
          </a:p>
        </p:txBody>
      </p:sp>
      <p:sp>
        <p:nvSpPr>
          <p:cNvPr id="5" name="response-label-1">
            <a:extLst xmlns:a="http://schemas.openxmlformats.org/drawingml/2006/main">
              <a:ext uri="{FF2B5EF4-FFF2-40B4-BE49-F238E27FC236}">
                <a16:creationId xmlns:a16="http://schemas.microsoft.com/office/drawing/2014/main" id="{EDDC4FBF-D78B-44CB-92FE-1CD0A4147AF1}"/>
              </a:ext>
            </a:extLst>
          </p:cNvPr>
          <p:cNvSpPr>
            <a:spLocks xmlns:a="http://schemas.openxmlformats.org/drawingml/2006/main" noGrp="1"/>
          </p:cNvSpPr>
          <p:nvPr/>
        </p:nvSpPr>
        <p:spPr>
          <a:xfrm xmlns:a="http://schemas.openxmlformats.org/drawingml/2006/main">
            <a:off x="6096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21735"/>
                </a:solidFill>
              </a:defRPr>
            </a:pPr>
            <a:r>
              <a:rPr sz="1650" b="1">
                <a:solidFill>
                  <a:srgbClr val="721735"/>
                </a:solidFill>
              </a:rPr>
              <a:t>READ</a:t>
            </a:r>
          </a:p>
        </p:txBody>
      </p:sp>
      <p:sp>
        <p:nvSpPr>
          <p:cNvPr id="6" name="response-step-1">
            <a:extLst xmlns:a="http://schemas.openxmlformats.org/drawingml/2006/main">
              <a:ext uri="{FF2B5EF4-FFF2-40B4-BE49-F238E27FC236}">
                <a16:creationId xmlns:a16="http://schemas.microsoft.com/office/drawing/2014/main" id="{BA456CFD-F9E0-4518-895F-35DD34BB3BF9}"/>
              </a:ext>
            </a:extLst>
          </p:cNvPr>
          <p:cNvSpPr>
            <a:spLocks xmlns:a="http://schemas.openxmlformats.org/drawingml/2006/main" noGrp="1"/>
          </p:cNvSpPr>
          <p:nvPr/>
        </p:nvSpPr>
        <p:spPr>
          <a:xfrm xmlns:a="http://schemas.openxmlformats.org/drawingml/2006/main">
            <a:off x="6096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Underline the task word and the exact context.</a:t>
            </a:r>
          </a:p>
        </p:txBody>
      </p:sp>
      <p:sp>
        <p:nvSpPr>
          <p:cNvPr id="7" name="response-arrow-1">
            <a:extLst xmlns:a="http://schemas.openxmlformats.org/drawingml/2006/main">
              <a:ext uri="{FF2B5EF4-FFF2-40B4-BE49-F238E27FC236}">
                <a16:creationId xmlns:a16="http://schemas.microsoft.com/office/drawing/2014/main" id="{A932A633-0AF0-44E6-A573-FCAD842CC47F}"/>
              </a:ext>
            </a:extLst>
          </p:cNvPr>
          <p:cNvSpPr>
            <a:spLocks xmlns:a="http://schemas.openxmlformats.org/drawingml/2006/main" noGrp="1"/>
          </p:cNvSpPr>
          <p:nvPr/>
        </p:nvSpPr>
        <p:spPr>
          <a:xfrm xmlns:a="http://schemas.openxmlformats.org/drawingml/2006/main">
            <a:off x="29432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8" name="response-number-2">
            <a:extLst xmlns:a="http://schemas.openxmlformats.org/drawingml/2006/main">
              <a:ext uri="{FF2B5EF4-FFF2-40B4-BE49-F238E27FC236}">
                <a16:creationId xmlns:a16="http://schemas.microsoft.com/office/drawing/2014/main" id="{D166CD7B-791F-40BC-B69D-3DFA7CB45CF1}"/>
              </a:ext>
            </a:extLst>
          </p:cNvPr>
          <p:cNvSpPr>
            <a:spLocks xmlns:a="http://schemas.openxmlformats.org/drawingml/2006/main" noGrp="1"/>
          </p:cNvSpPr>
          <p:nvPr/>
        </p:nvSpPr>
        <p:spPr>
          <a:xfrm xmlns:a="http://schemas.openxmlformats.org/drawingml/2006/main">
            <a:off x="33337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AC2254"/>
                </a:solidFill>
              </a:defRPr>
            </a:pPr>
            <a:r>
              <a:rPr sz="2700" b="1">
                <a:solidFill>
                  <a:srgbClr val="AC2254"/>
                </a:solidFill>
              </a:rPr>
              <a:t>2</a:t>
            </a:r>
          </a:p>
        </p:txBody>
      </p:sp>
      <p:sp>
        <p:nvSpPr>
          <p:cNvPr id="9" name="response-label-2">
            <a:extLst xmlns:a="http://schemas.openxmlformats.org/drawingml/2006/main">
              <a:ext uri="{FF2B5EF4-FFF2-40B4-BE49-F238E27FC236}">
                <a16:creationId xmlns:a16="http://schemas.microsoft.com/office/drawing/2014/main" id="{E887A329-1B99-4536-B685-501BF26C92DC}"/>
              </a:ext>
            </a:extLst>
          </p:cNvPr>
          <p:cNvSpPr>
            <a:spLocks xmlns:a="http://schemas.openxmlformats.org/drawingml/2006/main" noGrp="1"/>
          </p:cNvSpPr>
          <p:nvPr/>
        </p:nvSpPr>
        <p:spPr>
          <a:xfrm xmlns:a="http://schemas.openxmlformats.org/drawingml/2006/main">
            <a:off x="33337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AC2254"/>
                </a:solidFill>
              </a:defRPr>
            </a:pPr>
            <a:r>
              <a:rPr sz="1650" b="1">
                <a:solidFill>
                  <a:srgbClr val="AC2254"/>
                </a:solidFill>
              </a:rPr>
              <a:t>SELECT</a:t>
            </a:r>
          </a:p>
        </p:txBody>
      </p:sp>
      <p:sp>
        <p:nvSpPr>
          <p:cNvPr id="10" name="response-step-2">
            <a:extLst xmlns:a="http://schemas.openxmlformats.org/drawingml/2006/main">
              <a:ext uri="{FF2B5EF4-FFF2-40B4-BE49-F238E27FC236}">
                <a16:creationId xmlns:a16="http://schemas.microsoft.com/office/drawing/2014/main" id="{A0640B4E-F416-4F90-B376-8D3AFA254A0C}"/>
              </a:ext>
            </a:extLst>
          </p:cNvPr>
          <p:cNvSpPr>
            <a:spLocks xmlns:a="http://schemas.openxmlformats.org/drawingml/2006/main" noGrp="1"/>
          </p:cNvSpPr>
          <p:nvPr/>
        </p:nvSpPr>
        <p:spPr>
          <a:xfrm xmlns:a="http://schemas.openxmlformats.org/drawingml/2006/main">
            <a:off x="33337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Choose theory and project evidence that answers it.</a:t>
            </a:r>
          </a:p>
        </p:txBody>
      </p:sp>
      <p:sp>
        <p:nvSpPr>
          <p:cNvPr id="11" name="response-arrow-2">
            <a:extLst xmlns:a="http://schemas.openxmlformats.org/drawingml/2006/main">
              <a:ext uri="{FF2B5EF4-FFF2-40B4-BE49-F238E27FC236}">
                <a16:creationId xmlns:a16="http://schemas.microsoft.com/office/drawing/2014/main" id="{222095F2-46E8-465D-8933-5362780D9173}"/>
              </a:ext>
            </a:extLst>
          </p:cNvPr>
          <p:cNvSpPr>
            <a:spLocks xmlns:a="http://schemas.openxmlformats.org/drawingml/2006/main" noGrp="1"/>
          </p:cNvSpPr>
          <p:nvPr/>
        </p:nvSpPr>
        <p:spPr>
          <a:xfrm xmlns:a="http://schemas.openxmlformats.org/drawingml/2006/main">
            <a:off x="566737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2" name="response-number-3">
            <a:extLst xmlns:a="http://schemas.openxmlformats.org/drawingml/2006/main">
              <a:ext uri="{FF2B5EF4-FFF2-40B4-BE49-F238E27FC236}">
                <a16:creationId xmlns:a16="http://schemas.microsoft.com/office/drawing/2014/main" id="{5FA0758D-F249-4EC9-BCF0-62DAE1C048AF}"/>
              </a:ext>
            </a:extLst>
          </p:cNvPr>
          <p:cNvSpPr>
            <a:spLocks xmlns:a="http://schemas.openxmlformats.org/drawingml/2006/main" noGrp="1"/>
          </p:cNvSpPr>
          <p:nvPr/>
        </p:nvSpPr>
        <p:spPr>
          <a:xfrm xmlns:a="http://schemas.openxmlformats.org/drawingml/2006/main">
            <a:off x="605790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D6A238"/>
                </a:solidFill>
              </a:defRPr>
            </a:pPr>
            <a:r>
              <a:rPr sz="2700" b="1">
                <a:solidFill>
                  <a:srgbClr val="D6A238"/>
                </a:solidFill>
              </a:rPr>
              <a:t>3</a:t>
            </a:r>
          </a:p>
        </p:txBody>
      </p:sp>
      <p:sp>
        <p:nvSpPr>
          <p:cNvPr id="13" name="response-label-3">
            <a:extLst xmlns:a="http://schemas.openxmlformats.org/drawingml/2006/main">
              <a:ext uri="{FF2B5EF4-FFF2-40B4-BE49-F238E27FC236}">
                <a16:creationId xmlns:a16="http://schemas.microsoft.com/office/drawing/2014/main" id="{A62D5A10-0ABB-4428-BD95-6F3295B1B4B5}"/>
              </a:ext>
            </a:extLst>
          </p:cNvPr>
          <p:cNvSpPr>
            <a:spLocks xmlns:a="http://schemas.openxmlformats.org/drawingml/2006/main" noGrp="1"/>
          </p:cNvSpPr>
          <p:nvPr/>
        </p:nvSpPr>
        <p:spPr>
          <a:xfrm xmlns:a="http://schemas.openxmlformats.org/drawingml/2006/main">
            <a:off x="605790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6A238"/>
                </a:solidFill>
              </a:defRPr>
            </a:pPr>
            <a:r>
              <a:rPr sz="1650" b="1">
                <a:solidFill>
                  <a:srgbClr val="D6A238"/>
                </a:solidFill>
              </a:rPr>
              <a:t>EXPLAIN</a:t>
            </a:r>
          </a:p>
        </p:txBody>
      </p:sp>
      <p:sp>
        <p:nvSpPr>
          <p:cNvPr id="14" name="response-step-3">
            <a:extLst xmlns:a="http://schemas.openxmlformats.org/drawingml/2006/main">
              <a:ext uri="{FF2B5EF4-FFF2-40B4-BE49-F238E27FC236}">
                <a16:creationId xmlns:a16="http://schemas.microsoft.com/office/drawing/2014/main" id="{22239596-7ED0-4271-A12B-17D0E53F9B2B}"/>
              </a:ext>
            </a:extLst>
          </p:cNvPr>
          <p:cNvSpPr>
            <a:spLocks xmlns:a="http://schemas.openxmlformats.org/drawingml/2006/main" noGrp="1"/>
          </p:cNvSpPr>
          <p:nvPr/>
        </p:nvSpPr>
        <p:spPr>
          <a:xfrm xmlns:a="http://schemas.openxmlformats.org/drawingml/2006/main">
            <a:off x="605790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Connect the evidence to a reason, effect or judgement.</a:t>
            </a:r>
          </a:p>
        </p:txBody>
      </p:sp>
      <p:sp>
        <p:nvSpPr>
          <p:cNvPr id="15" name="response-arrow-3">
            <a:extLst xmlns:a="http://schemas.openxmlformats.org/drawingml/2006/main">
              <a:ext uri="{FF2B5EF4-FFF2-40B4-BE49-F238E27FC236}">
                <a16:creationId xmlns:a16="http://schemas.microsoft.com/office/drawing/2014/main" id="{6F338F07-B728-4EDA-AEC3-D65CD51308EE}"/>
              </a:ext>
            </a:extLst>
          </p:cNvPr>
          <p:cNvSpPr>
            <a:spLocks xmlns:a="http://schemas.openxmlformats.org/drawingml/2006/main" noGrp="1"/>
          </p:cNvSpPr>
          <p:nvPr/>
        </p:nvSpPr>
        <p:spPr>
          <a:xfrm xmlns:a="http://schemas.openxmlformats.org/drawingml/2006/main">
            <a:off x="8391525" y="3143250"/>
            <a:ext cx="400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B7A9AE"/>
                </a:solidFill>
              </a:defRPr>
            </a:pPr>
            <a:r>
              <a:rPr sz="2400" b="1">
                <a:solidFill>
                  <a:srgbClr val="B7A9AE"/>
                </a:solidFill>
              </a:rPr>
              <a:t>→</a:t>
            </a:r>
          </a:p>
        </p:txBody>
      </p:sp>
      <p:sp>
        <p:nvSpPr>
          <p:cNvPr id="16" name="response-number-4">
            <a:extLst xmlns:a="http://schemas.openxmlformats.org/drawingml/2006/main">
              <a:ext uri="{FF2B5EF4-FFF2-40B4-BE49-F238E27FC236}">
                <a16:creationId xmlns:a16="http://schemas.microsoft.com/office/drawing/2014/main" id="{F5E686DA-8450-4982-AF59-578AC1EC9EC0}"/>
              </a:ext>
            </a:extLst>
          </p:cNvPr>
          <p:cNvSpPr>
            <a:spLocks xmlns:a="http://schemas.openxmlformats.org/drawingml/2006/main" noGrp="1"/>
          </p:cNvSpPr>
          <p:nvPr/>
        </p:nvSpPr>
        <p:spPr>
          <a:xfrm xmlns:a="http://schemas.openxmlformats.org/drawingml/2006/main">
            <a:off x="8782050" y="2362200"/>
            <a:ext cx="438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226A61"/>
                </a:solidFill>
              </a:defRPr>
            </a:pPr>
            <a:r>
              <a:rPr sz="2700" b="1">
                <a:solidFill>
                  <a:srgbClr val="226A61"/>
                </a:solidFill>
              </a:rPr>
              <a:t>4</a:t>
            </a:r>
          </a:p>
        </p:txBody>
      </p:sp>
      <p:sp>
        <p:nvSpPr>
          <p:cNvPr id="17" name="response-label-4">
            <a:extLst xmlns:a="http://schemas.openxmlformats.org/drawingml/2006/main">
              <a:ext uri="{FF2B5EF4-FFF2-40B4-BE49-F238E27FC236}">
                <a16:creationId xmlns:a16="http://schemas.microsoft.com/office/drawing/2014/main" id="{D575A971-9800-46B7-95FE-151312F05630}"/>
              </a:ext>
            </a:extLst>
          </p:cNvPr>
          <p:cNvSpPr>
            <a:spLocks xmlns:a="http://schemas.openxmlformats.org/drawingml/2006/main" noGrp="1"/>
          </p:cNvSpPr>
          <p:nvPr/>
        </p:nvSpPr>
        <p:spPr>
          <a:xfrm xmlns:a="http://schemas.openxmlformats.org/drawingml/2006/main">
            <a:off x="8782050" y="2990850"/>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26A61"/>
                </a:solidFill>
              </a:defRPr>
            </a:pPr>
            <a:r>
              <a:rPr sz="1650" b="1">
                <a:solidFill>
                  <a:srgbClr val="226A61"/>
                </a:solidFill>
              </a:rPr>
              <a:t>CHECK</a:t>
            </a:r>
          </a:p>
        </p:txBody>
      </p:sp>
      <p:sp>
        <p:nvSpPr>
          <p:cNvPr id="18" name="response-step-4">
            <a:extLst xmlns:a="http://schemas.openxmlformats.org/drawingml/2006/main">
              <a:ext uri="{FF2B5EF4-FFF2-40B4-BE49-F238E27FC236}">
                <a16:creationId xmlns:a16="http://schemas.microsoft.com/office/drawing/2014/main" id="{92C864E0-3B5C-488C-8305-85156206251E}"/>
              </a:ext>
            </a:extLst>
          </p:cNvPr>
          <p:cNvSpPr>
            <a:spLocks xmlns:a="http://schemas.openxmlformats.org/drawingml/2006/main" noGrp="1"/>
          </p:cNvSpPr>
          <p:nvPr/>
        </p:nvSpPr>
        <p:spPr>
          <a:xfrm xmlns:a="http://schemas.openxmlformats.org/drawingml/2006/main">
            <a:off x="8782050" y="3429000"/>
            <a:ext cx="2343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A101C"/>
                </a:solidFill>
              </a:defRPr>
            </a:pPr>
            <a:r>
              <a:rPr sz="1350" b="0">
                <a:solidFill>
                  <a:srgbClr val="2A101C"/>
                </a:solidFill>
              </a:rPr>
              <a:t>Compare the response with the two success criteria.</a:t>
            </a:r>
          </a:p>
        </p:txBody>
      </p:sp>
      <p:sp>
        <p:nvSpPr>
          <p:cNvPr id="19" name="sentence-support">
            <a:extLst xmlns:a="http://schemas.openxmlformats.org/drawingml/2006/main">
              <a:ext uri="{FF2B5EF4-FFF2-40B4-BE49-F238E27FC236}">
                <a16:creationId xmlns:a16="http://schemas.microsoft.com/office/drawing/2014/main" id="{668BD82B-EB6B-4377-9EE3-BE09C28F3F84}"/>
              </a:ext>
            </a:extLst>
          </p:cNvPr>
          <p:cNvSpPr>
            <a:spLocks xmlns:a="http://schemas.openxmlformats.org/drawingml/2006/main" noGrp="1"/>
          </p:cNvSpPr>
          <p:nvPr/>
        </p:nvSpPr>
        <p:spPr>
          <a:xfrm xmlns:a="http://schemas.openxmlformats.org/drawingml/2006/main">
            <a:off x="609600" y="4895850"/>
            <a:ext cx="10972800" cy="1123950"/>
          </a:xfrm>
          <a:prstGeom xmlns:a="http://schemas.openxmlformats.org/drawingml/2006/main" prst="roundRect">
            <a:avLst>
              <a:gd name="adj" fmla="val 13559"/>
            </a:avLst>
          </a:prstGeom>
          <a:solidFill xmlns:a="http://schemas.openxmlformats.org/drawingml/2006/main">
            <a:srgbClr val="721735"/>
          </a:solidFill>
          <a:ln xmlns:a="http://schemas.openxmlformats.org/drawingml/2006/main" w="0">
            <a:noFill/>
            <a:prstDash val="solid"/>
          </a:ln>
        </p:spPr>
      </p:sp>
      <p:sp>
        <p:nvSpPr>
          <p:cNvPr id="20" name="sentence-support-label">
            <a:extLst xmlns:a="http://schemas.openxmlformats.org/drawingml/2006/main">
              <a:ext uri="{FF2B5EF4-FFF2-40B4-BE49-F238E27FC236}">
                <a16:creationId xmlns:a16="http://schemas.microsoft.com/office/drawing/2014/main" id="{030DB607-3EE7-478A-82AF-9BCF0BB998AA}"/>
              </a:ext>
            </a:extLst>
          </p:cNvPr>
          <p:cNvSpPr>
            <a:spLocks xmlns:a="http://schemas.openxmlformats.org/drawingml/2006/main" noGrp="1"/>
          </p:cNvSpPr>
          <p:nvPr/>
        </p:nvSpPr>
        <p:spPr>
          <a:xfrm xmlns:a="http://schemas.openxmlformats.org/drawingml/2006/main">
            <a:off x="838200" y="50863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SENTENCE SUPPORT</a:t>
            </a:r>
          </a:p>
        </p:txBody>
      </p:sp>
      <p:sp>
        <p:nvSpPr>
          <p:cNvPr id="21" name="sentence-stem">
            <a:extLst xmlns:a="http://schemas.openxmlformats.org/drawingml/2006/main">
              <a:ext uri="{FF2B5EF4-FFF2-40B4-BE49-F238E27FC236}">
                <a16:creationId xmlns:a16="http://schemas.microsoft.com/office/drawing/2014/main" id="{8B0E8000-7D7B-4CD2-BAD6-812D3C0F99B6}"/>
              </a:ext>
            </a:extLst>
          </p:cNvPr>
          <p:cNvSpPr>
            <a:spLocks xmlns:a="http://schemas.openxmlformats.org/drawingml/2006/main" noGrp="1"/>
          </p:cNvSpPr>
          <p:nvPr/>
        </p:nvSpPr>
        <p:spPr>
          <a:xfrm xmlns:a="http://schemas.openxmlformats.org/drawingml/2006/main">
            <a:off x="838200" y="543877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One decision I would make is ___ because evidence from ___ shows ___. I would check it by ___.</a:t>
            </a:r>
          </a:p>
        </p:txBody>
      </p:sp>
      <p:sp>
        <p:nvSpPr>
          <p:cNvPr id="22" name="footer-module-7">
            <a:extLst xmlns:a="http://schemas.openxmlformats.org/drawingml/2006/main">
              <a:ext uri="{FF2B5EF4-FFF2-40B4-BE49-F238E27FC236}">
                <a16:creationId xmlns:a16="http://schemas.microsoft.com/office/drawing/2014/main" id="{0101EADB-E081-4E38-9263-50B7B1F904E4}"/>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6D72"/>
                </a:solidFill>
              </a:defRPr>
            </a:pPr>
            <a:r>
              <a:rPr sz="900" b="1">
                <a:solidFill>
                  <a:srgbClr val="7A6D72"/>
                </a:solidFill>
              </a:rPr>
              <a:t>MODULE 02 · YEAR 8 TEXTILES TECHNOLOGY</a:t>
            </a:r>
          </a:p>
        </p:txBody>
      </p:sp>
      <p:sp>
        <p:nvSpPr>
          <p:cNvPr id="23" name="footer-number-7">
            <a:extLst xmlns:a="http://schemas.openxmlformats.org/drawingml/2006/main">
              <a:ext uri="{FF2B5EF4-FFF2-40B4-BE49-F238E27FC236}">
                <a16:creationId xmlns:a16="http://schemas.microsoft.com/office/drawing/2014/main" id="{BDA423DF-AE35-489D-91B8-B5B852B58381}"/>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7A6D72"/>
                </a:solidFill>
              </a:defRPr>
            </a:pPr>
            <a:r>
              <a:rPr sz="900" b="1">
                <a:solidFill>
                  <a:srgbClr val="7A6D72"/>
                </a:solidFill>
              </a:rPr>
              <a:t>07</a:t>
            </a:r>
          </a:p>
        </p:txBody>
      </p:sp>
    </p:spTree>
    <p:extLst>
      <p:ext uri="{BB962C8B-B14F-4D97-AF65-F5344CB8AC3E}">
        <p14:creationId xmlns:p14="http://schemas.microsoft.com/office/powerpoint/2010/main" val="1596064699"/>
      </p:ext>
    </p:extLst>
  </p:cSld>
</p:sld>
</file>

<file path=ppt/slides/slide8.xml><?xml version="1.0" encoding="utf-8"?>
<p:sld xmlns:p="http://schemas.openxmlformats.org/presentationml/2006/main">
  <p:cSld>
    <p:bg>
      <p:bgPr>
        <a:solidFill xmlns:a="http://schemas.openxmlformats.org/drawingml/2006/main">
          <a:srgbClr val="226A61"/>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76D294BF-5F2B-40AF-85F6-97653AEE08D7}"/>
              </a:ext>
            </a:extLst>
          </p:cNvPr>
          <p:cNvSpPr>
            <a:spLocks xmlns:a="http://schemas.openxmlformats.org/drawingml/2006/main" noGrp="1"/>
          </p:cNvSpPr>
          <p:nvPr/>
        </p:nvSpPr>
        <p:spPr>
          <a:xfrm xmlns:a="http://schemas.openxmlformats.org/drawingml/2006/main">
            <a:off x="609600" y="5524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FFFFFF"/>
                </a:solidFill>
              </a:defRPr>
            </a:pPr>
            <a:r>
              <a:rPr sz="3300" b="1">
                <a:solidFill>
                  <a:srgbClr val="FFFFFF"/>
                </a:solidFill>
              </a:rPr>
              <a:t>Before you leave…</a:t>
            </a:r>
          </a:p>
        </p:txBody>
      </p:sp>
      <p:sp>
        <p:nvSpPr>
          <p:cNvPr id="2" name="exit-number-1">
            <a:extLst xmlns:a="http://schemas.openxmlformats.org/drawingml/2006/main">
              <a:ext uri="{FF2B5EF4-FFF2-40B4-BE49-F238E27FC236}">
                <a16:creationId xmlns:a16="http://schemas.microsoft.com/office/drawing/2014/main" id="{8C284AFF-439A-4CA9-B6D7-FFD58AA77D65}"/>
              </a:ext>
            </a:extLst>
          </p:cNvPr>
          <p:cNvSpPr>
            <a:spLocks xmlns:a="http://schemas.openxmlformats.org/drawingml/2006/main" noGrp="1"/>
          </p:cNvSpPr>
          <p:nvPr/>
        </p:nvSpPr>
        <p:spPr>
          <a:xfrm xmlns:a="http://schemas.openxmlformats.org/drawingml/2006/main">
            <a:off x="666750" y="16764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1.</a:t>
            </a:r>
          </a:p>
        </p:txBody>
      </p:sp>
      <p:sp>
        <p:nvSpPr>
          <p:cNvPr id="3" name="exit-prompt-1">
            <a:extLst xmlns:a="http://schemas.openxmlformats.org/drawingml/2006/main">
              <a:ext uri="{FF2B5EF4-FFF2-40B4-BE49-F238E27FC236}">
                <a16:creationId xmlns:a16="http://schemas.microsoft.com/office/drawing/2014/main" id="{5147AAF0-ABE7-47AC-9F98-51880D5DFB1C}"/>
              </a:ext>
            </a:extLst>
          </p:cNvPr>
          <p:cNvSpPr>
            <a:spLocks xmlns:a="http://schemas.openxmlformats.org/drawingml/2006/main" noGrp="1"/>
          </p:cNvSpPr>
          <p:nvPr/>
        </p:nvSpPr>
        <p:spPr>
          <a:xfrm xmlns:a="http://schemas.openxmlformats.org/drawingml/2006/main">
            <a:off x="1295400" y="16764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idea I can now explain is…</a:t>
            </a:r>
          </a:p>
        </p:txBody>
      </p:sp>
      <p:sp>
        <p:nvSpPr>
          <p:cNvPr id="4" name="exit-rule-1">
            <a:extLst xmlns:a="http://schemas.openxmlformats.org/drawingml/2006/main">
              <a:ext uri="{FF2B5EF4-FFF2-40B4-BE49-F238E27FC236}">
                <a16:creationId xmlns:a16="http://schemas.microsoft.com/office/drawing/2014/main" id="{5AE574C2-82E9-4EEA-B0A0-81264C48B4AE}"/>
              </a:ext>
            </a:extLst>
          </p:cNvPr>
          <p:cNvSpPr>
            <a:spLocks xmlns:a="http://schemas.openxmlformats.org/drawingml/2006/main" noGrp="1"/>
          </p:cNvSpPr>
          <p:nvPr/>
        </p:nvSpPr>
        <p:spPr>
          <a:xfrm xmlns:a="http://schemas.openxmlformats.org/drawingml/2006/main">
            <a:off x="1295400" y="219075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5" name="exit-number-2">
            <a:extLst xmlns:a="http://schemas.openxmlformats.org/drawingml/2006/main">
              <a:ext uri="{FF2B5EF4-FFF2-40B4-BE49-F238E27FC236}">
                <a16:creationId xmlns:a16="http://schemas.microsoft.com/office/drawing/2014/main" id="{5D90A3F3-0B79-4BE6-8F1F-AA928476C3AB}"/>
              </a:ext>
            </a:extLst>
          </p:cNvPr>
          <p:cNvSpPr>
            <a:spLocks xmlns:a="http://schemas.openxmlformats.org/drawingml/2006/main" noGrp="1"/>
          </p:cNvSpPr>
          <p:nvPr/>
        </p:nvSpPr>
        <p:spPr>
          <a:xfrm xmlns:a="http://schemas.openxmlformats.org/drawingml/2006/main">
            <a:off x="666750" y="26765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2.</a:t>
            </a:r>
          </a:p>
        </p:txBody>
      </p:sp>
      <p:sp>
        <p:nvSpPr>
          <p:cNvPr id="6" name="exit-prompt-2">
            <a:extLst xmlns:a="http://schemas.openxmlformats.org/drawingml/2006/main">
              <a:ext uri="{FF2B5EF4-FFF2-40B4-BE49-F238E27FC236}">
                <a16:creationId xmlns:a16="http://schemas.microsoft.com/office/drawing/2014/main" id="{CEAE16BF-6F08-449D-A41D-BA884E34F920}"/>
              </a:ext>
            </a:extLst>
          </p:cNvPr>
          <p:cNvSpPr>
            <a:spLocks xmlns:a="http://schemas.openxmlformats.org/drawingml/2006/main" noGrp="1"/>
          </p:cNvSpPr>
          <p:nvPr/>
        </p:nvSpPr>
        <p:spPr>
          <a:xfrm xmlns:a="http://schemas.openxmlformats.org/drawingml/2006/main">
            <a:off x="1295400" y="26765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practical or design decision this changes is…</a:t>
            </a:r>
          </a:p>
        </p:txBody>
      </p:sp>
      <p:sp>
        <p:nvSpPr>
          <p:cNvPr id="7" name="exit-rule-2">
            <a:extLst xmlns:a="http://schemas.openxmlformats.org/drawingml/2006/main">
              <a:ext uri="{FF2B5EF4-FFF2-40B4-BE49-F238E27FC236}">
                <a16:creationId xmlns:a16="http://schemas.microsoft.com/office/drawing/2014/main" id="{A7A97C22-0F3A-4999-97F7-9A228C3CB95C}"/>
              </a:ext>
            </a:extLst>
          </p:cNvPr>
          <p:cNvSpPr>
            <a:spLocks xmlns:a="http://schemas.openxmlformats.org/drawingml/2006/main" noGrp="1"/>
          </p:cNvSpPr>
          <p:nvPr/>
        </p:nvSpPr>
        <p:spPr>
          <a:xfrm xmlns:a="http://schemas.openxmlformats.org/drawingml/2006/main">
            <a:off x="1295400" y="3190875"/>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8" name="exit-number-3">
            <a:extLst xmlns:a="http://schemas.openxmlformats.org/drawingml/2006/main">
              <a:ext uri="{FF2B5EF4-FFF2-40B4-BE49-F238E27FC236}">
                <a16:creationId xmlns:a16="http://schemas.microsoft.com/office/drawing/2014/main" id="{C1CC1BDD-3EB6-419F-965F-68F59043C5B4}"/>
              </a:ext>
            </a:extLst>
          </p:cNvPr>
          <p:cNvSpPr>
            <a:spLocks xmlns:a="http://schemas.openxmlformats.org/drawingml/2006/main" noGrp="1"/>
          </p:cNvSpPr>
          <p:nvPr/>
        </p:nvSpPr>
        <p:spPr>
          <a:xfrm xmlns:a="http://schemas.openxmlformats.org/drawingml/2006/main">
            <a:off x="666750" y="367665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D6A238"/>
                </a:solidFill>
              </a:defRPr>
            </a:pPr>
            <a:r>
              <a:rPr sz="2100" b="1">
                <a:solidFill>
                  <a:srgbClr val="D6A238"/>
                </a:solidFill>
              </a:rPr>
              <a:t>3.</a:t>
            </a:r>
          </a:p>
        </p:txBody>
      </p:sp>
      <p:sp>
        <p:nvSpPr>
          <p:cNvPr id="9" name="exit-prompt-3">
            <a:extLst xmlns:a="http://schemas.openxmlformats.org/drawingml/2006/main">
              <a:ext uri="{FF2B5EF4-FFF2-40B4-BE49-F238E27FC236}">
                <a16:creationId xmlns:a16="http://schemas.microsoft.com/office/drawing/2014/main" id="{7281AA3B-BF48-4DA4-8CB1-D20E3CEACB83}"/>
              </a:ext>
            </a:extLst>
          </p:cNvPr>
          <p:cNvSpPr>
            <a:spLocks xmlns:a="http://schemas.openxmlformats.org/drawingml/2006/main" noGrp="1"/>
          </p:cNvSpPr>
          <p:nvPr/>
        </p:nvSpPr>
        <p:spPr>
          <a:xfrm xmlns:a="http://schemas.openxmlformats.org/drawingml/2006/main">
            <a:off x="1295400" y="3676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One question or check I still need is…</a:t>
            </a:r>
          </a:p>
        </p:txBody>
      </p:sp>
      <p:sp>
        <p:nvSpPr>
          <p:cNvPr id="10" name="exit-rule-3">
            <a:extLst xmlns:a="http://schemas.openxmlformats.org/drawingml/2006/main">
              <a:ext uri="{FF2B5EF4-FFF2-40B4-BE49-F238E27FC236}">
                <a16:creationId xmlns:a16="http://schemas.microsoft.com/office/drawing/2014/main" id="{94CB21E5-FB5F-471D-9C22-A38C5B714FB3}"/>
              </a:ext>
            </a:extLst>
          </p:cNvPr>
          <p:cNvSpPr>
            <a:spLocks xmlns:a="http://schemas.openxmlformats.org/drawingml/2006/main" noGrp="1"/>
          </p:cNvSpPr>
          <p:nvPr/>
        </p:nvSpPr>
        <p:spPr>
          <a:xfrm xmlns:a="http://schemas.openxmlformats.org/drawingml/2006/main">
            <a:off x="1295400" y="4191000"/>
            <a:ext cx="8191500" cy="19050"/>
          </a:xfrm>
          <a:prstGeom xmlns:a="http://schemas.openxmlformats.org/drawingml/2006/main" prst="rect">
            <a:avLst/>
          </a:prstGeom>
          <a:solidFill xmlns:a="http://schemas.openxmlformats.org/drawingml/2006/main">
            <a:srgbClr val="F3C9CE"/>
          </a:solidFill>
          <a:ln xmlns:a="http://schemas.openxmlformats.org/drawingml/2006/main" w="0">
            <a:noFill/>
            <a:prstDash val="solid"/>
          </a:ln>
        </p:spPr>
      </p:sp>
      <p:sp>
        <p:nvSpPr>
          <p:cNvPr id="11" name="evidence-destination">
            <a:extLst xmlns:a="http://schemas.openxmlformats.org/drawingml/2006/main">
              <a:ext uri="{FF2B5EF4-FFF2-40B4-BE49-F238E27FC236}">
                <a16:creationId xmlns:a16="http://schemas.microsoft.com/office/drawing/2014/main" id="{23D4E445-0F4E-4FCD-B2A5-55D805AE585C}"/>
              </a:ext>
            </a:extLst>
          </p:cNvPr>
          <p:cNvSpPr>
            <a:spLocks xmlns:a="http://schemas.openxmlformats.org/drawingml/2006/main" noGrp="1"/>
          </p:cNvSpPr>
          <p:nvPr/>
        </p:nvSpPr>
        <p:spPr>
          <a:xfrm xmlns:a="http://schemas.openxmlformats.org/drawingml/2006/main">
            <a:off x="609600" y="4819650"/>
            <a:ext cx="8572500" cy="990600"/>
          </a:xfrm>
          <a:prstGeom xmlns:a="http://schemas.openxmlformats.org/drawingml/2006/main" prst="roundRect">
            <a:avLst>
              <a:gd name="adj" fmla="val 15385"/>
            </a:avLst>
          </a:prstGeom>
          <a:solidFill xmlns:a="http://schemas.openxmlformats.org/drawingml/2006/main">
            <a:srgbClr val="2A101C"/>
          </a:solidFill>
          <a:ln xmlns:a="http://schemas.openxmlformats.org/drawingml/2006/main" w="0">
            <a:noFill/>
            <a:prstDash val="solid"/>
          </a:ln>
        </p:spPr>
      </p:sp>
      <p:sp>
        <p:nvSpPr>
          <p:cNvPr id="12" name="evidence-label">
            <a:extLst xmlns:a="http://schemas.openxmlformats.org/drawingml/2006/main">
              <a:ext uri="{FF2B5EF4-FFF2-40B4-BE49-F238E27FC236}">
                <a16:creationId xmlns:a16="http://schemas.microsoft.com/office/drawing/2014/main" id="{FD1F439C-1991-4922-8ABB-82AF3DC8507F}"/>
              </a:ext>
            </a:extLst>
          </p:cNvPr>
          <p:cNvSpPr>
            <a:spLocks xmlns:a="http://schemas.openxmlformats.org/drawingml/2006/main" noGrp="1"/>
          </p:cNvSpPr>
          <p:nvPr/>
        </p:nvSpPr>
        <p:spPr>
          <a:xfrm xmlns:a="http://schemas.openxmlformats.org/drawingml/2006/main">
            <a:off x="838200" y="5010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6A238"/>
                </a:solidFill>
              </a:defRPr>
            </a:pPr>
            <a:r>
              <a:rPr sz="1125" b="1">
                <a:solidFill>
                  <a:srgbClr val="D6A238"/>
                </a:solidFill>
              </a:rPr>
              <a:t>EVIDENCE DESTINATION</a:t>
            </a:r>
          </a:p>
        </p:txBody>
      </p:sp>
      <p:sp>
        <p:nvSpPr>
          <p:cNvPr id="13" name="evidence-copy">
            <a:extLst xmlns:a="http://schemas.openxmlformats.org/drawingml/2006/main">
              <a:ext uri="{FF2B5EF4-FFF2-40B4-BE49-F238E27FC236}">
                <a16:creationId xmlns:a16="http://schemas.microsoft.com/office/drawing/2014/main" id="{9DC7843C-B8B1-43DF-A230-A69061534624}"/>
              </a:ext>
            </a:extLst>
          </p:cNvPr>
          <p:cNvSpPr>
            <a:spLocks xmlns:a="http://schemas.openxmlformats.org/drawingml/2006/main" noGrp="1"/>
          </p:cNvSpPr>
          <p:nvPr/>
        </p:nvSpPr>
        <p:spPr>
          <a:xfrm xmlns:a="http://schemas.openxmlformats.org/drawingml/2006/main">
            <a:off x="838200" y="53435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Complete the three learning packages and save your response on this module page.</a:t>
            </a:r>
          </a:p>
        </p:txBody>
      </p:sp>
      <p:sp>
        <p:nvSpPr>
          <p:cNvPr id="14" name="save-work-circle">
            <a:extLst xmlns:a="http://schemas.openxmlformats.org/drawingml/2006/main">
              <a:ext uri="{FF2B5EF4-FFF2-40B4-BE49-F238E27FC236}">
                <a16:creationId xmlns:a16="http://schemas.microsoft.com/office/drawing/2014/main" id="{29F9D61C-889E-444A-83C4-FECB39F2DD4A}"/>
              </a:ext>
            </a:extLst>
          </p:cNvPr>
          <p:cNvSpPr>
            <a:spLocks xmlns:a="http://schemas.openxmlformats.org/drawingml/2006/main" noGrp="1"/>
          </p:cNvSpPr>
          <p:nvPr/>
        </p:nvSpPr>
        <p:spPr>
          <a:xfrm xmlns:a="http://schemas.openxmlformats.org/drawingml/2006/main">
            <a:off x="9810750" y="2038350"/>
            <a:ext cx="1428750" cy="1428750"/>
          </a:xfrm>
          <a:prstGeom xmlns:a="http://schemas.openxmlformats.org/drawingml/2006/main" prst="roundRect">
            <a:avLst>
              <a:gd name="adj" fmla="val 50000"/>
            </a:avLst>
          </a:prstGeom>
          <a:solidFill xmlns:a="http://schemas.openxmlformats.org/drawingml/2006/main">
            <a:srgbClr val="D6A238"/>
          </a:solidFill>
          <a:ln xmlns:a="http://schemas.openxmlformats.org/drawingml/2006/main" w="0">
            <a:noFill/>
            <a:prstDash val="solid"/>
          </a:ln>
        </p:spPr>
      </p:sp>
      <p:sp>
        <p:nvSpPr>
          <p:cNvPr id="15" name="save-work-text">
            <a:extLst xmlns:a="http://schemas.openxmlformats.org/drawingml/2006/main">
              <a:ext uri="{FF2B5EF4-FFF2-40B4-BE49-F238E27FC236}">
                <a16:creationId xmlns:a16="http://schemas.microsoft.com/office/drawing/2014/main" id="{D1446BCA-3466-4146-9B57-D379FB90705E}"/>
              </a:ext>
            </a:extLst>
          </p:cNvPr>
          <p:cNvSpPr>
            <a:spLocks xmlns:a="http://schemas.openxmlformats.org/drawingml/2006/main" noGrp="1"/>
          </p:cNvSpPr>
          <p:nvPr/>
        </p:nvSpPr>
        <p:spPr>
          <a:xfrm xmlns:a="http://schemas.openxmlformats.org/drawingml/2006/main">
            <a:off x="10039350" y="2333625"/>
            <a:ext cx="971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A101C"/>
                </a:solidFill>
              </a:defRPr>
            </a:pPr>
            <a:r>
              <a:rPr sz="1650" b="1">
                <a:solidFill>
                  <a:srgbClr val="2A101C"/>
                </a:solidFill>
              </a:rPr>
              <a:t>SAVE</a:t>
            </a:r>
          </a:p>
          <a:p xmlns:a="http://schemas.openxmlformats.org/drawingml/2006/main">
            <a:pPr algn="ctr">
              <a:defRPr sz="1650" b="1">
                <a:solidFill>
                  <a:srgbClr val="2A101C"/>
                </a:solidFill>
              </a:defRPr>
            </a:pPr>
            <a:r>
              <a:rPr sz="1650" b="1">
                <a:solidFill>
                  <a:srgbClr val="2A101C"/>
                </a:solidFill>
              </a:rPr>
              <a:t>YOUR</a:t>
            </a:r>
          </a:p>
          <a:p xmlns:a="http://schemas.openxmlformats.org/drawingml/2006/main">
            <a:pPr algn="ctr">
              <a:defRPr sz="1650" b="1">
                <a:solidFill>
                  <a:srgbClr val="2A101C"/>
                </a:solidFill>
              </a:defRPr>
            </a:pPr>
            <a:r>
              <a:rPr sz="1650" b="1">
                <a:solidFill>
                  <a:srgbClr val="2A101C"/>
                </a:solidFill>
              </a:rPr>
              <a:t>WORK</a:t>
            </a:r>
          </a:p>
        </p:txBody>
      </p:sp>
      <p:sp>
        <p:nvSpPr>
          <p:cNvPr id="16" name="next-step">
            <a:extLst xmlns:a="http://schemas.openxmlformats.org/drawingml/2006/main">
              <a:ext uri="{FF2B5EF4-FFF2-40B4-BE49-F238E27FC236}">
                <a16:creationId xmlns:a16="http://schemas.microsoft.com/office/drawing/2014/main" id="{E22BEBE4-CF5E-499E-9865-CA74A4ECC934}"/>
              </a:ext>
            </a:extLst>
          </p:cNvPr>
          <p:cNvSpPr>
            <a:spLocks xmlns:a="http://schemas.openxmlformats.org/drawingml/2006/main" noGrp="1"/>
          </p:cNvSpPr>
          <p:nvPr/>
        </p:nvSpPr>
        <p:spPr>
          <a:xfrm xmlns:a="http://schemas.openxmlformats.org/drawingml/2006/main">
            <a:off x="609600" y="60579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Next: Pincushion Project</a:t>
            </a:r>
          </a:p>
        </p:txBody>
      </p:sp>
      <p:sp>
        <p:nvSpPr>
          <p:cNvPr id="17" name="footer-module-8">
            <a:extLst xmlns:a="http://schemas.openxmlformats.org/drawingml/2006/main">
              <a:ext uri="{FF2B5EF4-FFF2-40B4-BE49-F238E27FC236}">
                <a16:creationId xmlns:a16="http://schemas.microsoft.com/office/drawing/2014/main" id="{A4F0C82C-B976-472E-AAD3-90B2945FF660}"/>
              </a:ext>
            </a:extLst>
          </p:cNvPr>
          <p:cNvSpPr>
            <a:spLocks xmlns:a="http://schemas.openxmlformats.org/drawingml/2006/main" noGrp="1"/>
          </p:cNvSpPr>
          <p:nvPr/>
        </p:nvSpPr>
        <p:spPr>
          <a:xfrm xmlns:a="http://schemas.openxmlformats.org/drawingml/2006/main">
            <a:off x="571500" y="64960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5DCE5"/>
                </a:solidFill>
              </a:defRPr>
            </a:pPr>
            <a:r>
              <a:rPr sz="900" b="1">
                <a:solidFill>
                  <a:srgbClr val="F5DCE5"/>
                </a:solidFill>
              </a:rPr>
              <a:t>MODULE 02 · YEAR 8 TEXTILES TECHNOLOGY</a:t>
            </a:r>
          </a:p>
        </p:txBody>
      </p:sp>
      <p:sp>
        <p:nvSpPr>
          <p:cNvPr id="18" name="footer-number-8">
            <a:extLst xmlns:a="http://schemas.openxmlformats.org/drawingml/2006/main">
              <a:ext uri="{FF2B5EF4-FFF2-40B4-BE49-F238E27FC236}">
                <a16:creationId xmlns:a16="http://schemas.microsoft.com/office/drawing/2014/main" id="{E30300A2-AED7-45BB-AD76-EAC8EE40CABB}"/>
              </a:ext>
            </a:extLst>
          </p:cNvPr>
          <p:cNvSpPr>
            <a:spLocks xmlns:a="http://schemas.openxmlformats.org/drawingml/2006/main" noGrp="1"/>
          </p:cNvSpPr>
          <p:nvPr/>
        </p:nvSpPr>
        <p:spPr>
          <a:xfrm xmlns:a="http://schemas.openxmlformats.org/drawingml/2006/main">
            <a:off x="11191875" y="6496050"/>
            <a:ext cx="428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F5DCE5"/>
                </a:solidFill>
              </a:defRPr>
            </a:pPr>
            <a:r>
              <a:rPr sz="900" b="1">
                <a:solidFill>
                  <a:srgbClr val="F5DCE5"/>
                </a:solidFill>
              </a:rPr>
              <a:t>08</a:t>
            </a:r>
          </a:p>
        </p:txBody>
      </p:sp>
    </p:spTree>
    <p:extLst>
      <p:ext uri="{BB962C8B-B14F-4D97-AF65-F5344CB8AC3E}">
        <p14:creationId xmlns:p14="http://schemas.microsoft.com/office/powerpoint/2010/main" val="1772127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2026-08-27T11:20:20.4130000Z</dcterms:created>
  <dcterms:modified xsi:type="dcterms:W3CDTF">2026-08-27T11:20:20.4130000Z</dcterms:modified>
</coreProperties>
</file>