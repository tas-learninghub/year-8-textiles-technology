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fe8492879c42b5" /><Relationship Type="http://schemas.openxmlformats.org/officeDocument/2006/relationships/extended-properties" Target="/docProps/app.xml" Id="Re16083a8f1ef4208" /><Relationship Type="http://schemas.openxmlformats.org/officeDocument/2006/relationships/officeDocument" Target="/ppt/presentation.xml" Id="Rfb531a66feea4c04" /></Relationships>
</file>

<file path=ppt/presentation.xml><?xml version="1.0" encoding="utf-8"?>
<p:presentation xmlns:p="http://schemas.openxmlformats.org/presentationml/2006/main">
  <p:sldMasterIdLst>
    <p:sldMasterId xmlns:r="http://schemas.openxmlformats.org/officeDocument/2006/relationships" id="2147483648" r:id="R2e642ec0b59c4269"/>
  </p:sldMasterIdLst>
  <p:notesMasterIdLst>
    <p:notesMasterId xmlns:r="http://schemas.openxmlformats.org/officeDocument/2006/relationships" r:id="R922c142001764012"/>
  </p:notesMasterIdLst>
  <p:sldIdLst>
    <p:sldId xmlns:r="http://schemas.openxmlformats.org/officeDocument/2006/relationships" id="256" r:id="R7fdd2fb416734369"/>
    <p:sldId xmlns:r="http://schemas.openxmlformats.org/officeDocument/2006/relationships" id="257" r:id="R91b13430256d43e0"/>
    <p:sldId xmlns:r="http://schemas.openxmlformats.org/officeDocument/2006/relationships" id="258" r:id="R48de8e6793bd410e"/>
    <p:sldId xmlns:r="http://schemas.openxmlformats.org/officeDocument/2006/relationships" id="259" r:id="R1a7e7674d3ef4385"/>
    <p:sldId xmlns:r="http://schemas.openxmlformats.org/officeDocument/2006/relationships" id="260" r:id="Ra51ca862ebd24c23"/>
    <p:sldId xmlns:r="http://schemas.openxmlformats.org/officeDocument/2006/relationships" id="261" r:id="R689c9b0d7ffa493d"/>
    <p:sldId xmlns:r="http://schemas.openxmlformats.org/officeDocument/2006/relationships" id="262" r:id="R1e2505b60c154e40"/>
    <p:sldId xmlns:r="http://schemas.openxmlformats.org/officeDocument/2006/relationships" id="263" r:id="R9e40721befca4c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9b9bfc3d00480c" /><Relationship Type="http://schemas.openxmlformats.org/officeDocument/2006/relationships/slideMaster" Target="/ppt/slideMasters/slideMaster1.xml" Id="R2e642ec0b59c4269" /><Relationship Type="http://schemas.openxmlformats.org/officeDocument/2006/relationships/notesMaster" Target="/ppt/notesMasters/notesMaster1.xml" Id="R922c142001764012" /><Relationship Type="http://schemas.openxmlformats.org/officeDocument/2006/relationships/presProps" Target="/ppt/presProps.xml" Id="Rfd0ff2f731c24322" /><Relationship Type="http://schemas.openxmlformats.org/officeDocument/2006/relationships/tableStyles" Target="/ppt/tableStyles.xml" Id="R377256eb77ed42d3" /><Relationship Type="http://schemas.openxmlformats.org/officeDocument/2006/relationships/slide" Target="/ppt/slides/slide1.xml" Id="R7fdd2fb416734369" /><Relationship Type="http://schemas.openxmlformats.org/officeDocument/2006/relationships/slide" Target="/ppt/slides/slide2.xml" Id="R91b13430256d43e0" /><Relationship Type="http://schemas.openxmlformats.org/officeDocument/2006/relationships/slide" Target="/ppt/slides/slide3.xml" Id="R48de8e6793bd410e" /><Relationship Type="http://schemas.openxmlformats.org/officeDocument/2006/relationships/slide" Target="/ppt/slides/slide4.xml" Id="R1a7e7674d3ef4385" /><Relationship Type="http://schemas.openxmlformats.org/officeDocument/2006/relationships/slide" Target="/ppt/slides/slide5.xml" Id="Ra51ca862ebd24c23" /><Relationship Type="http://schemas.openxmlformats.org/officeDocument/2006/relationships/slide" Target="/ppt/slides/slide6.xml" Id="R689c9b0d7ffa493d" /><Relationship Type="http://schemas.openxmlformats.org/officeDocument/2006/relationships/slide" Target="/ppt/slides/slide7.xml" Id="R1e2505b60c154e40" /><Relationship Type="http://schemas.openxmlformats.org/officeDocument/2006/relationships/slide" Target="/ppt/slides/slide8.xml" Id="R9e40721befca4c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ca3e15147646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bbecd2d98c4980" /><Relationship Type="http://schemas.openxmlformats.org/officeDocument/2006/relationships/notesMaster" Target="/ppt/notesMasters/notesMaster1.xml" Id="Rf3d9bd37e7714f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827166082a4b5f" /><Relationship Type="http://schemas.openxmlformats.org/officeDocument/2006/relationships/notesMaster" Target="/ppt/notesMasters/notesMaster1.xml" Id="Rfb6ccba3cf5147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5e5a4218324700" /><Relationship Type="http://schemas.openxmlformats.org/officeDocument/2006/relationships/notesMaster" Target="/ppt/notesMasters/notesMaster1.xml" Id="Rbd2d472ccd8741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707b2f408348a5" /><Relationship Type="http://schemas.openxmlformats.org/officeDocument/2006/relationships/notesMaster" Target="/ppt/notesMasters/notesMaster1.xml" Id="R411a807b063c4f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f5612971b54c15" /><Relationship Type="http://schemas.openxmlformats.org/officeDocument/2006/relationships/notesMaster" Target="/ppt/notesMasters/notesMaster1.xml" Id="R10dc2919f6c24f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949c612ffa417f" /><Relationship Type="http://schemas.openxmlformats.org/officeDocument/2006/relationships/notesMaster" Target="/ppt/notesMasters/notesMaster1.xml" Id="Ra036c7f950cf4b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c5d5a338c74add" /><Relationship Type="http://schemas.openxmlformats.org/officeDocument/2006/relationships/notesMaster" Target="/ppt/notesMasters/notesMaster1.xml" Id="R62e2535b25af47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a9fd3e02df4369" /><Relationship Type="http://schemas.openxmlformats.org/officeDocument/2006/relationships/notesMaster" Target="/ppt/notesMasters/notesMaster1.xml" Id="R1b72949069f940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Introduce Fibres, Yarns and Fabrics as a connected set of three ideas, not three isolated worksheets.</a:t>
            </a:r>
          </a:p>
          <a:p xmlns:a="http://schemas.openxmlformats.org/drawingml/2006/main">
            <a:r>
              <a:t>- Read the outcome aloud and link it to the current project stage.</a:t>
            </a:r>
          </a:p>
          <a:p xmlns:a="http://schemas.openxmlformats.org/drawingml/2006/main">
            <a:r>
              <a:t>- Keep local machine, pattern, safety and assessment details within the current teacher demonstration and authorised class documents.</a:t>
            </a:r>
          </a:p>
          <a:p xmlns:a="http://schemas.openxmlformats.org/drawingml/2006/main">
            <a:r>
              <a:t/>
            </a:r>
          </a:p>
          <a:p xmlns:a="http://schemas.openxmlformats.org/drawingml/2006/main">
            <a:r>
              <a:t>Prompt: Which word in the outcome tells us what evidence we need to produce?</a:t>
            </a:r>
          </a:p>
          <a:p xmlns:a="http://schemas.openxmlformats.org/drawingml/2006/main">
            <a:r>
              <a:t>Likely misconception: Finishing a slide deck is the evidence; the evidence is the student's explanation and project decision.</a:t>
            </a:r>
          </a:p>
          <a:p xmlns:a="http://schemas.openxmlformats.org/drawingml/2006/main">
            <a:r>
              <a:t>Transition: Preview the three ideas and activate prior knowledge.</a:t>
            </a:r>
          </a:p>
          <a:p xmlns:a="http://schemas.openxmlformats.org/drawingml/2006/main">
            <a:r>
              <a:t/>
            </a:r>
          </a:p>
          <a:p xmlns:a="http://schemas.openxmlformats.org/drawingml/2006/main">
            <a:r>
              <a:t>[Sources]</a:t>
            </a:r>
          </a:p>
          <a:p xmlns:a="http://schemas.openxmlformats.org/drawingml/2006/main">
            <a:r>
              <a:t>- Course sequence: WWHS Year 8 Accessories and Shorts Textiles Technology Program 2024, as bounded by source map v1.0.</a:t>
            </a:r>
          </a:p>
          <a:p xmlns:a="http://schemas.openxmlformats.org/drawingml/2006/main">
            <a:r>
              <a:t>- Curriculum: NESA Textiles Technology 7–10 Syllabus (2025), https://curriculum.nsw.edu.au/learning-areas/tas/textiles-technology-7-10-2025/overview/course</a:t>
            </a:r>
          </a:p>
          <a:p xmlns:a="http://schemas.openxmlformats.org/drawingml/2006/main">
            <a:r>
              <a:t>- Visual: Stage 08 approved module asset module-06-fibres-yarns-fabrics.png;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all three substantive sections using the exact module language.</a:t>
            </a:r>
          </a:p>
          <a:p xmlns:a="http://schemas.openxmlformats.org/drawingml/2006/main">
            <a:r>
              <a:t>- Ask students to predict where the ideas connect to current project work.</a:t>
            </a:r>
          </a:p>
          <a:p xmlns:a="http://schemas.openxmlformats.org/drawingml/2006/main">
            <a:r>
              <a:t>- Accept a tentative response, but ask what evidence supports it.</a:t>
            </a:r>
          </a:p>
          <a:p xmlns:a="http://schemas.openxmlformats.org/drawingml/2006/main">
            <a:r>
              <a:t/>
            </a:r>
          </a:p>
          <a:p xmlns:a="http://schemas.openxmlformats.org/drawingml/2006/main">
            <a:r>
              <a:t>Prompt: Which idea is most likely to change a practical or design decision today?</a:t>
            </a:r>
          </a:p>
          <a:p xmlns:a="http://schemas.openxmlformats.org/drawingml/2006/main">
            <a:r>
              <a:t>Likely misconception: The sequence means students can forget idea one after moving to idea two; the ideas need to remain connected.</a:t>
            </a:r>
          </a:p>
          <a:p xmlns:a="http://schemas.openxmlformats.org/drawingml/2006/main">
            <a:r>
              <a:t>Transition: Begin with Fibre origins.</a:t>
            </a:r>
          </a:p>
          <a:p xmlns:a="http://schemas.openxmlformats.org/drawingml/2006/main">
            <a:r>
              <a:t/>
            </a:r>
          </a:p>
          <a:p xmlns:a="http://schemas.openxmlformats.org/drawingml/2006/main">
            <a:r>
              <a:t>[Sources]</a:t>
            </a:r>
          </a:p>
          <a:p xmlns:a="http://schemas.openxmlformats.org/drawingml/2006/main">
            <a:r>
              <a:t>- Named section sequence: frozen Stage 01 course inventory and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Build an accurate fibre-level vocabulary and connect origins with responsible, evidence-based material questions.</a:t>
            </a:r>
          </a:p>
          <a:p xmlns:a="http://schemas.openxmlformats.org/drawingml/2006/main">
            <a:r>
              <a:t>- Emphasise: Fibres are fine material units that contribute to yarns and textile structures.</a:t>
            </a:r>
          </a:p>
          <a:p xmlns:a="http://schemas.openxmlformats.org/drawingml/2006/main">
            <a:r>
              <a:t>- Connect the image to the decision: Show authentic fibre-to-yarn starting points for plant, animal, regenerated-cellulose and synthetic examples without implying one universal impact ranking.</a:t>
            </a:r>
          </a:p>
          <a:p xmlns:a="http://schemas.openxmlformats.org/drawingml/2006/main">
            <a:r>
              <a:t/>
            </a:r>
          </a:p>
          <a:p xmlns:a="http://schemas.openxmlformats.org/drawingml/2006/main">
            <a:r>
              <a:t>Prompt: Compare two fibre origins for one intended textile use, identifying what the fibre information supports and what must be tested or researched further.</a:t>
            </a:r>
          </a:p>
          <a:p xmlns:a="http://schemas.openxmlformats.org/drawingml/2006/main">
            <a:r>
              <a:t>Likely misconception: Natural fibres are always sustainable. Correction: Environmental outcomes also depend on production, processing, transport, durability, care, reuse and end of life.</a:t>
            </a:r>
          </a:p>
          <a:p xmlns:a="http://schemas.openxmlformats.org/drawingml/2006/main">
            <a:r>
              <a:t>Transition: Carry this decision into Yarn and fabric structures.</a:t>
            </a:r>
          </a:p>
          <a:p xmlns:a="http://schemas.openxmlformats.org/drawingml/2006/main">
            <a:r>
              <a:t/>
            </a:r>
          </a:p>
          <a:p xmlns:a="http://schemas.openxmlformats.org/drawingml/2006/main">
            <a:r>
              <a:t>[Sources]</a:t>
            </a:r>
          </a:p>
          <a:p xmlns:a="http://schemas.openxmlformats.org/drawingml/2006/main">
            <a:r>
              <a:t>- Content: Year 8 Textiles theory package v1.0; source domains fibre terminology; material origins and end use; Australian and global textile systems.</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m06-s01-fibre-origins.png;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Explain how fibres become yarns and how woven, knitted and nonwoven structures influence observable fabric behaviour.</a:t>
            </a:r>
          </a:p>
          <a:p xmlns:a="http://schemas.openxmlformats.org/drawingml/2006/main">
            <a:r>
              <a:t>- Emphasise: Yarn structure depends on how fibres or filaments are organised, twisted and combined.</a:t>
            </a:r>
          </a:p>
          <a:p xmlns:a="http://schemas.openxmlformats.org/drawingml/2006/main">
            <a:r>
              <a:t>- Connect the image to the decision: Use macro photographs and clear enlarged structure views of woven interlacing, knitted loops and a nonwoven fibre network.</a:t>
            </a:r>
          </a:p>
          <a:p xmlns:a="http://schemas.openxmlformats.org/drawingml/2006/main">
            <a:r>
              <a:t/>
            </a:r>
          </a:p>
          <a:p xmlns:a="http://schemas.openxmlformats.org/drawingml/2006/main">
            <a:r>
              <a:t>Prompt: Compare two labelled fabrics by fibre, yarn or fabric structure and use observations to explain one performance difference without overgeneralising.</a:t>
            </a:r>
          </a:p>
          <a:p xmlns:a="http://schemas.openxmlformats.org/drawingml/2006/main">
            <a:r>
              <a:t>Likely misconception: All fabrics made from the same fibre behave the same way. Correction: Yarn, fabric structure, finish and construction can produce different behaviour from the same fibre content.</a:t>
            </a:r>
          </a:p>
          <a:p xmlns:a="http://schemas.openxmlformats.org/drawingml/2006/main">
            <a:r>
              <a:t>Transition: Carry this decision into Properties, testing and end use.</a:t>
            </a:r>
          </a:p>
          <a:p xmlns:a="http://schemas.openxmlformats.org/drawingml/2006/main">
            <a:r>
              <a:t/>
            </a:r>
          </a:p>
          <a:p xmlns:a="http://schemas.openxmlformats.org/drawingml/2006/main">
            <a:r>
              <a:t>[Sources]</a:t>
            </a:r>
          </a:p>
          <a:p xmlns:a="http://schemas.openxmlformats.org/drawingml/2006/main">
            <a:r>
              <a:t>- Content: Year 8 Textiles theory package v1.0; source domains fibre-yarn-fabric relationship; woven knitted and nonwoven structures; material performance.</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m06-s02-yarn-fabric-structures.png;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Teach students to design fair material tests and use evidence to justify fabric suitability for a particular textile end use.</a:t>
            </a:r>
          </a:p>
          <a:p xmlns:a="http://schemas.openxmlformats.org/drawingml/2006/main">
            <a:r>
              <a:t>- Emphasise: Relevant properties are selected by starting with the product’s end-use needs.</a:t>
            </a:r>
          </a:p>
          <a:p xmlns:a="http://schemas.openxmlformats.org/drawingml/2006/main">
            <a:r>
              <a:t>- Connect the image to the decision: Show a photo-rich material-testing sequence with labelled samples, controlled conditions, observations and an end-use decision.</a:t>
            </a:r>
          </a:p>
          <a:p xmlns:a="http://schemas.openxmlformats.org/drawingml/2006/main">
            <a:r>
              <a:t/>
            </a:r>
          </a:p>
          <a:p xmlns:a="http://schemas.openxmlformats.org/drawingml/2006/main">
            <a:r>
              <a:t>Prompt: Design and interpret one fair material test, explaining how its evidence supports or limits a choice for a confirmed end use.</a:t>
            </a:r>
          </a:p>
          <a:p xmlns:a="http://schemas.openxmlformats.org/drawingml/2006/main">
            <a:r>
              <a:t>Likely misconception: The strongest fabric is the best choice for every product. Correction: Strength matters only in relation to other end-use needs, construction limits, comfort, appearance, care and resources.</a:t>
            </a:r>
          </a:p>
          <a:p xmlns:a="http://schemas.openxmlformats.org/drawingml/2006/main">
            <a:r>
              <a:t>Transition: Pause for retrieval before students construct evidence.</a:t>
            </a:r>
          </a:p>
          <a:p xmlns:a="http://schemas.openxmlformats.org/drawingml/2006/main">
            <a:r>
              <a:t/>
            </a:r>
          </a:p>
          <a:p xmlns:a="http://schemas.openxmlformats.org/drawingml/2006/main">
            <a:r>
              <a:t>[Sources]</a:t>
            </a:r>
          </a:p>
          <a:p xmlns:a="http://schemas.openxmlformats.org/drawingml/2006/main">
            <a:r>
              <a:t>- Content: Year 8 Textiles theory package v1.0; source domains textile properties; materials testing; end-use selection.</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m06-s03-properties-testing.png;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thinking time before taking answers.</a:t>
            </a:r>
          </a:p>
          <a:p xmlns:a="http://schemas.openxmlformats.org/drawingml/2006/main">
            <a:r>
              <a:t>- Require students to correct the claim, not only label it true or false.</a:t>
            </a:r>
          </a:p>
          <a:p xmlns:a="http://schemas.openxmlformats.org/drawingml/2006/main">
            <a:r>
              <a:t>- Ask a follow-up: What evidence from slides 3–5 supports that correction?</a:t>
            </a:r>
          </a:p>
          <a:p xmlns:a="http://schemas.openxmlformats.org/drawingml/2006/main">
            <a:r>
              <a:t/>
            </a:r>
          </a:p>
          <a:p xmlns:a="http://schemas.openxmlformats.org/drawingml/2006/main">
            <a:r>
              <a:t>Prompt: Which correction becomes stronger when you use an example from your own project?</a:t>
            </a:r>
          </a:p>
          <a:p xmlns:a="http://schemas.openxmlformats.org/drawingml/2006/main">
            <a:r>
              <a:t>Likely misconception: Retrieval is guessing; retrieval should reconstruct the idea and its evidence.</a:t>
            </a:r>
          </a:p>
          <a:p xmlns:a="http://schemas.openxmlformats.org/drawingml/2006/main">
            <a:r>
              <a:t>Transition: Use the corrected ideas to build one longer piece of evidence.</a:t>
            </a:r>
          </a:p>
          <a:p xmlns:a="http://schemas.openxmlformats.org/drawingml/2006/main">
            <a:r>
              <a:t/>
            </a:r>
          </a:p>
          <a:p xmlns:a="http://schemas.openxmlformats.org/drawingml/2006/main">
            <a:r>
              <a:t>[Sources]</a:t>
            </a:r>
          </a:p>
          <a:p xmlns:a="http://schemas.openxmlformats.org/drawingml/2006/main">
            <a:r>
              <a:t>- Retrieval claims: misconceptions and corrections in the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brief example, then remove the example from view.</a:t>
            </a:r>
          </a:p>
          <a:p xmlns:a="http://schemas.openxmlformats.org/drawingml/2006/main">
            <a:r>
              <a:t>- The selected evidence must answer the exact context, not merely repeat a definition.</a:t>
            </a:r>
          </a:p>
          <a:p xmlns:a="http://schemas.openxmlformats.org/drawingml/2006/main">
            <a:r>
              <a:t>- Use the sentence support as a starting structure; students may improve it in their own words.</a:t>
            </a:r>
          </a:p>
          <a:p xmlns:a="http://schemas.openxmlformats.org/drawingml/2006/main">
            <a:r>
              <a:t/>
            </a:r>
          </a:p>
          <a:p xmlns:a="http://schemas.openxmlformats.org/drawingml/2006/main">
            <a:r>
              <a:t>Prompt: Which evidence is most relevant, and which tempting detail should be left out?</a:t>
            </a:r>
          </a:p>
          <a:p xmlns:a="http://schemas.openxmlformats.org/drawingml/2006/main">
            <a:r>
              <a:t>Likely misconception: A longer response is automatically stronger; relevance and explanation matter more than length.</a:t>
            </a:r>
          </a:p>
          <a:p xmlns:a="http://schemas.openxmlformats.org/drawingml/2006/main">
            <a:r>
              <a:t>Transition: Students now save the response in the matching module learning package.</a:t>
            </a:r>
          </a:p>
          <a:p xmlns:a="http://schemas.openxmlformats.org/drawingml/2006/main">
            <a:r>
              <a:t/>
            </a:r>
          </a:p>
          <a:p xmlns:a="http://schemas.openxmlformats.org/drawingml/2006/main">
            <a:r>
              <a:t>[Sources]</a:t>
            </a:r>
          </a:p>
          <a:p xmlns:a="http://schemas.openxmlformats.org/drawingml/2006/main">
            <a:r>
              <a:t>- Guided response: evidence prompt for m06-s03 in the Year 8 Textiles theory package v1.0.</a:t>
            </a:r>
          </a:p>
          <a:p xmlns:a="http://schemas.openxmlformats.org/drawingml/2006/main">
            <a:r>
              <a:t>- Curriculum context: NESA Textiles Technology 7–10 Syllabus (2025), https://curriculum.nsw.edu.au/learning-areas/tas/textiles-technology-7-10-2025/outcomes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Use the three-part exit ticket as a quick verbal or written check.</a:t>
            </a:r>
          </a:p>
          <a:p xmlns:a="http://schemas.openxmlformats.org/drawingml/2006/main">
            <a:r>
              <a:t>- Direct students to the module page so the evidence is saved in the correct learning package.</a:t>
            </a:r>
          </a:p>
          <a:p xmlns:a="http://schemas.openxmlformats.org/drawingml/2006/main">
            <a:r>
              <a:t>- Preview the connection to Commercial Patterns.</a:t>
            </a:r>
          </a:p>
          <a:p xmlns:a="http://schemas.openxmlformats.org/drawingml/2006/main">
            <a:r>
              <a:t/>
            </a:r>
          </a:p>
          <a:p xmlns:a="http://schemas.openxmlformats.org/drawingml/2006/main">
            <a:r>
              <a:t>Prompt: Which answer would you be willing to improve after receiving feedback?</a:t>
            </a:r>
          </a:p>
          <a:p xmlns:a="http://schemas.openxmlformats.org/drawingml/2006/main">
            <a:r>
              <a:t>Likely misconception: Saving work means it is finished; saved evidence can still be reviewed and improved.</a:t>
            </a:r>
          </a:p>
          <a:p xmlns:a="http://schemas.openxmlformats.org/drawingml/2006/main">
            <a:r>
              <a:t>Transition: Continue to Commercial Patterns when the class sequence is ready.</a:t>
            </a:r>
          </a:p>
          <a:p xmlns:a="http://schemas.openxmlformats.org/drawingml/2006/main">
            <a:r>
              <a:t/>
            </a:r>
          </a:p>
          <a:p xmlns:a="http://schemas.openxmlformats.org/drawingml/2006/main">
            <a:r>
              <a:t>[Sources]</a:t>
            </a:r>
          </a:p>
          <a:p xmlns:a="http://schemas.openxmlformats.org/drawingml/2006/main">
            <a:r>
              <a:t>- Evidence destination: frozen family learning-package contract and local autosave workflow.</a:t>
            </a:r>
          </a:p>
          <a:p xmlns:a="http://schemas.openxmlformats.org/drawingml/2006/main">
            <a:r>
              <a:t>- Module sequence: WWHS Year 8 Accessories and Shorts Textiles Technology Program 2024, as bounded by source map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1ff1c702ac4f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b7f8ad995c4252" /><Relationship Type="http://schemas.openxmlformats.org/officeDocument/2006/relationships/slideLayout" Target="/ppt/slideLayouts/slideLayout1.xml" Id="Rdb4ab42c945b4f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4ab42c945b4f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d5ed6ab36e4e94" /><Relationship Type="http://schemas.openxmlformats.org/officeDocument/2006/relationships/image" Target="/ppt/media/image.png" Id="Rfafb062fe1034878" /><Relationship Type="http://schemas.openxmlformats.org/officeDocument/2006/relationships/notesSlide" Target="/ppt/notesSlides/notesSlide1.xml" Id="R7d49efd9593949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7676cf6c60453b" /><Relationship Type="http://schemas.openxmlformats.org/officeDocument/2006/relationships/notesSlide" Target="/ppt/notesSlides/notesSlide2.xml" Id="R915cad077f6849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635771e21e4c19" /><Relationship Type="http://schemas.openxmlformats.org/officeDocument/2006/relationships/image" Target="/ppt/media/image2.png" Id="R2c9df03727ac40ac" /><Relationship Type="http://schemas.openxmlformats.org/officeDocument/2006/relationships/notesSlide" Target="/ppt/notesSlides/notesSlide3.xml" Id="Rfd041a7cf4714e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fe9c0344bd4c40" /><Relationship Type="http://schemas.openxmlformats.org/officeDocument/2006/relationships/image" Target="/ppt/media/image3.png" Id="Rc74ec2e7a7444f5b" /><Relationship Type="http://schemas.openxmlformats.org/officeDocument/2006/relationships/notesSlide" Target="/ppt/notesSlides/notesSlide4.xml" Id="Re2c050a53ae849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e672cf07dc42f7" /><Relationship Type="http://schemas.openxmlformats.org/officeDocument/2006/relationships/image" Target="/ppt/media/image4.png" Id="Rf4ad52a6d6934099" /><Relationship Type="http://schemas.openxmlformats.org/officeDocument/2006/relationships/notesSlide" Target="/ppt/notesSlides/notesSlide5.xml" Id="R2f7b520991134c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eb492eb5d5413d" /><Relationship Type="http://schemas.openxmlformats.org/officeDocument/2006/relationships/notesSlide" Target="/ppt/notesSlides/notesSlide6.xml" Id="R8bdc692a371e40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0d2bb44a6e49f6" /><Relationship Type="http://schemas.openxmlformats.org/officeDocument/2006/relationships/notesSlide" Target="/ppt/notesSlides/notesSlide7.xml" Id="R71246b09562c41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55a2bc9de14a0a" /><Relationship Type="http://schemas.openxmlformats.org/officeDocument/2006/relationships/notesSlide" Target="/ppt/notesSlides/notesSlide8.xml" Id="Raee51f6325ae490b" /></Relationships>
</file>

<file path=ppt/slides/slide1.xml><?xml version="1.0" encoding="utf-8"?>
<p:sld xmlns:p="http://schemas.openxmlformats.org/presentationml/2006/main">
  <p:cSld>
    <p:bg>
      <p:bgPr>
        <a:solidFill xmlns:a="http://schemas.openxmlformats.org/drawingml/2006/main">
          <a:srgbClr val="2A101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afb062fe1034878"/>
          <a:srcRect xmlns:a="http://schemas.openxmlformats.org/drawingml/2006/main" l="16667" t="0" r="16667"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title-panel">
            <a:extLst xmlns:a="http://schemas.openxmlformats.org/drawingml/2006/main">
              <a:ext uri="{FF2B5EF4-FFF2-40B4-BE49-F238E27FC236}">
                <a16:creationId xmlns:a16="http://schemas.microsoft.com/office/drawing/2014/main" id="{B01F3E53-4B3A-48C0-96E6-B1019A7EFB3E}"/>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2A101C"/>
          </a:solidFill>
          <a:ln xmlns:a="http://schemas.openxmlformats.org/drawingml/2006/main" w="0">
            <a:noFill/>
            <a:prstDash val="solid"/>
          </a:ln>
        </p:spPr>
      </p:sp>
      <p:sp>
        <p:nvSpPr>
          <p:cNvPr id="3" name="title-accent">
            <a:extLst xmlns:a="http://schemas.openxmlformats.org/drawingml/2006/main">
              <a:ext uri="{FF2B5EF4-FFF2-40B4-BE49-F238E27FC236}">
                <a16:creationId xmlns:a16="http://schemas.microsoft.com/office/drawing/2014/main" id="{E3872C58-554C-408E-8C5B-6D91BE4DDFC2}"/>
              </a:ext>
            </a:extLst>
          </p:cNvPr>
          <p:cNvSpPr>
            <a:spLocks xmlns:a="http://schemas.openxmlformats.org/drawingml/2006/main" noGrp="1"/>
          </p:cNvSpPr>
          <p:nvPr/>
        </p:nvSpPr>
        <p:spPr>
          <a:xfrm xmlns:a="http://schemas.openxmlformats.org/drawingml/2006/main">
            <a:off x="5619750" y="0"/>
            <a:ext cx="133350" cy="68580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4" name="module-label">
            <a:extLst xmlns:a="http://schemas.openxmlformats.org/drawingml/2006/main">
              <a:ext uri="{FF2B5EF4-FFF2-40B4-BE49-F238E27FC236}">
                <a16:creationId xmlns:a16="http://schemas.microsoft.com/office/drawing/2014/main" id="{BDC7FCD4-F523-433D-9042-D50FA708AC73}"/>
              </a:ext>
            </a:extLst>
          </p:cNvPr>
          <p:cNvSpPr>
            <a:spLocks xmlns:a="http://schemas.openxmlformats.org/drawingml/2006/main" noGrp="1"/>
          </p:cNvSpPr>
          <p:nvPr/>
        </p:nvSpPr>
        <p:spPr>
          <a:xfrm xmlns:a="http://schemas.openxmlformats.org/drawingml/2006/main">
            <a:off x="647700" y="704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A238"/>
                </a:solidFill>
              </a:defRPr>
            </a:pPr>
            <a:r>
              <a:rPr sz="1275" b="1">
                <a:solidFill>
                  <a:srgbClr val="D6A238"/>
                </a:solidFill>
              </a:rPr>
              <a:t>MODULE 06 · WEEK 8</a:t>
            </a:r>
          </a:p>
        </p:txBody>
      </p:sp>
      <p:sp>
        <p:nvSpPr>
          <p:cNvPr id="5" name="deck-title">
            <a:extLst xmlns:a="http://schemas.openxmlformats.org/drawingml/2006/main">
              <a:ext uri="{FF2B5EF4-FFF2-40B4-BE49-F238E27FC236}">
                <a16:creationId xmlns:a16="http://schemas.microsoft.com/office/drawing/2014/main" id="{9198B4A4-2B93-447F-939E-3A26FB128E42}"/>
              </a:ext>
            </a:extLst>
          </p:cNvPr>
          <p:cNvSpPr>
            <a:spLocks xmlns:a="http://schemas.openxmlformats.org/drawingml/2006/main" noGrp="1"/>
          </p:cNvSpPr>
          <p:nvPr/>
        </p:nvSpPr>
        <p:spPr>
          <a:xfrm xmlns:a="http://schemas.openxmlformats.org/drawingml/2006/main">
            <a:off x="647700" y="1752600"/>
            <a:ext cx="46196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Fibres, Yarns and Fabrics</a:t>
            </a:r>
          </a:p>
        </p:txBody>
      </p:sp>
      <p:sp>
        <p:nvSpPr>
          <p:cNvPr id="6" name="module-outcome">
            <a:extLst xmlns:a="http://schemas.openxmlformats.org/drawingml/2006/main">
              <a:ext uri="{FF2B5EF4-FFF2-40B4-BE49-F238E27FC236}">
                <a16:creationId xmlns:a16="http://schemas.microsoft.com/office/drawing/2014/main" id="{EB5F644A-1B2F-4EC5-A2C2-1CF18C7A2180}"/>
              </a:ext>
            </a:extLst>
          </p:cNvPr>
          <p:cNvSpPr>
            <a:spLocks xmlns:a="http://schemas.openxmlformats.org/drawingml/2006/main" noGrp="1"/>
          </p:cNvSpPr>
          <p:nvPr/>
        </p:nvSpPr>
        <p:spPr>
          <a:xfrm xmlns:a="http://schemas.openxmlformats.org/drawingml/2006/main">
            <a:off x="647700" y="3857625"/>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7EAF0"/>
                </a:solidFill>
              </a:defRPr>
            </a:pPr>
            <a:r>
              <a:rPr sz="1800" b="0">
                <a:solidFill>
                  <a:srgbClr val="F7EAF0"/>
                </a:solidFill>
              </a:rPr>
              <a:t>Connect fibres, yarns and fabric structures to properties, testing and end use.</a:t>
            </a:r>
          </a:p>
        </p:txBody>
      </p:sp>
      <p:sp>
        <p:nvSpPr>
          <p:cNvPr id="7" name="deck-context">
            <a:extLst xmlns:a="http://schemas.openxmlformats.org/drawingml/2006/main">
              <a:ext uri="{FF2B5EF4-FFF2-40B4-BE49-F238E27FC236}">
                <a16:creationId xmlns:a16="http://schemas.microsoft.com/office/drawing/2014/main" id="{DC5A1552-7B0A-4CE8-B7C5-10B5F6B71282}"/>
              </a:ext>
            </a:extLst>
          </p:cNvPr>
          <p:cNvSpPr>
            <a:spLocks xmlns:a="http://schemas.openxmlformats.org/drawingml/2006/main" noGrp="1"/>
          </p:cNvSpPr>
          <p:nvPr/>
        </p:nvSpPr>
        <p:spPr>
          <a:xfrm xmlns:a="http://schemas.openxmlformats.org/drawingml/2006/main">
            <a:off x="647700" y="60198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D5BCC6"/>
                </a:solidFill>
              </a:defRPr>
            </a:pPr>
            <a:r>
              <a:rPr sz="1125" b="0">
                <a:solidFill>
                  <a:srgbClr val="D5BCC6"/>
                </a:solidFill>
              </a:rPr>
              <a:t>Teacher-led classroom presentation</a:t>
            </a:r>
          </a:p>
        </p:txBody>
      </p:sp>
    </p:spTree>
    <p:extLst>
      <p:ext uri="{BB962C8B-B14F-4D97-AF65-F5344CB8AC3E}">
        <p14:creationId xmlns:p14="http://schemas.microsoft.com/office/powerpoint/2010/main" val="876965474"/>
      </p:ext>
    </p:extLst>
  </p:cSld>
</p:sld>
</file>

<file path=ppt/slides/slide2.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AB376AAE-555F-4CA4-8158-7358880B7D4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690DEC13-C29F-4D0C-A99F-AEB3E8C8165E}"/>
              </a:ext>
            </a:extLst>
          </p:cNvPr>
          <p:cNvSpPr>
            <a:spLocks xmlns:a="http://schemas.openxmlformats.org/drawingml/2006/main" noGrp="1"/>
          </p:cNvSpPr>
          <p:nvPr/>
        </p:nvSpPr>
        <p:spPr>
          <a:xfrm xmlns:a="http://schemas.openxmlformats.org/drawingml/2006/main">
            <a:off x="609600" y="5524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Three ideas, one connected decision</a:t>
            </a:r>
          </a:p>
        </p:txBody>
      </p:sp>
      <p:sp>
        <p:nvSpPr>
          <p:cNvPr id="3" name="learning-map-intro">
            <a:extLst xmlns:a="http://schemas.openxmlformats.org/drawingml/2006/main">
              <a:ext uri="{FF2B5EF4-FFF2-40B4-BE49-F238E27FC236}">
                <a16:creationId xmlns:a16="http://schemas.microsoft.com/office/drawing/2014/main" id="{16575298-FFE9-42E6-BDF9-F986ED1E2D1A}"/>
              </a:ext>
            </a:extLst>
          </p:cNvPr>
          <p:cNvSpPr>
            <a:spLocks xmlns:a="http://schemas.openxmlformats.org/drawingml/2006/main" noGrp="1"/>
          </p:cNvSpPr>
          <p:nvPr/>
        </p:nvSpPr>
        <p:spPr>
          <a:xfrm xmlns:a="http://schemas.openxmlformats.org/drawingml/2006/main">
            <a:off x="609600" y="11430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C5357"/>
                </a:solidFill>
              </a:defRPr>
            </a:pPr>
            <a:r>
              <a:rPr sz="1575" b="0">
                <a:solidFill>
                  <a:srgbClr val="5C5357"/>
                </a:solidFill>
              </a:rPr>
              <a:t>Listen for the relationship between the ideas. Each one changes what you notice, choose or explain.</a:t>
            </a:r>
          </a:p>
        </p:txBody>
      </p:sp>
      <p:sp>
        <p:nvSpPr>
          <p:cNvPr id="4" name="path-number-1">
            <a:extLst xmlns:a="http://schemas.openxmlformats.org/drawingml/2006/main">
              <a:ext uri="{FF2B5EF4-FFF2-40B4-BE49-F238E27FC236}">
                <a16:creationId xmlns:a16="http://schemas.microsoft.com/office/drawing/2014/main" id="{CCE722DC-0D8A-4987-B6C5-8065B603482E}"/>
              </a:ext>
            </a:extLst>
          </p:cNvPr>
          <p:cNvSpPr>
            <a:spLocks xmlns:a="http://schemas.openxmlformats.org/drawingml/2006/main" noGrp="1"/>
          </p:cNvSpPr>
          <p:nvPr/>
        </p:nvSpPr>
        <p:spPr>
          <a:xfrm xmlns:a="http://schemas.openxmlformats.org/drawingml/2006/main">
            <a:off x="70485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AC2254"/>
                </a:solidFill>
              </a:defRPr>
            </a:pPr>
            <a:r>
              <a:rPr sz="4650" b="1">
                <a:solidFill>
                  <a:srgbClr val="AC2254"/>
                </a:solidFill>
              </a:rPr>
              <a:t>1</a:t>
            </a:r>
          </a:p>
        </p:txBody>
      </p:sp>
      <p:sp>
        <p:nvSpPr>
          <p:cNvPr id="5" name="path-title-1">
            <a:extLst xmlns:a="http://schemas.openxmlformats.org/drawingml/2006/main">
              <a:ext uri="{FF2B5EF4-FFF2-40B4-BE49-F238E27FC236}">
                <a16:creationId xmlns:a16="http://schemas.microsoft.com/office/drawing/2014/main" id="{92DCA4E0-831B-48CB-82D4-FE2A9A98B585}"/>
              </a:ext>
            </a:extLst>
          </p:cNvPr>
          <p:cNvSpPr>
            <a:spLocks xmlns:a="http://schemas.openxmlformats.org/drawingml/2006/main" noGrp="1"/>
          </p:cNvSpPr>
          <p:nvPr/>
        </p:nvSpPr>
        <p:spPr>
          <a:xfrm xmlns:a="http://schemas.openxmlformats.org/drawingml/2006/main">
            <a:off x="70485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Fibre origins</a:t>
            </a:r>
          </a:p>
        </p:txBody>
      </p:sp>
      <p:sp>
        <p:nvSpPr>
          <p:cNvPr id="6" name="path-rule-1">
            <a:extLst xmlns:a="http://schemas.openxmlformats.org/drawingml/2006/main">
              <a:ext uri="{FF2B5EF4-FFF2-40B4-BE49-F238E27FC236}">
                <a16:creationId xmlns:a16="http://schemas.microsoft.com/office/drawing/2014/main" id="{E5C59F5E-00CC-4D0B-BEF5-5133C4920AC8}"/>
              </a:ext>
            </a:extLst>
          </p:cNvPr>
          <p:cNvSpPr>
            <a:spLocks xmlns:a="http://schemas.openxmlformats.org/drawingml/2006/main" noGrp="1"/>
          </p:cNvSpPr>
          <p:nvPr/>
        </p:nvSpPr>
        <p:spPr>
          <a:xfrm xmlns:a="http://schemas.openxmlformats.org/drawingml/2006/main">
            <a:off x="704850" y="4171950"/>
            <a:ext cx="2724150" cy="47625"/>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7" name="path-number-2">
            <a:extLst xmlns:a="http://schemas.openxmlformats.org/drawingml/2006/main">
              <a:ext uri="{FF2B5EF4-FFF2-40B4-BE49-F238E27FC236}">
                <a16:creationId xmlns:a16="http://schemas.microsoft.com/office/drawing/2014/main" id="{D61C9354-E01D-4450-A4BA-CE2DEEF52223}"/>
              </a:ext>
            </a:extLst>
          </p:cNvPr>
          <p:cNvSpPr>
            <a:spLocks xmlns:a="http://schemas.openxmlformats.org/drawingml/2006/main" noGrp="1"/>
          </p:cNvSpPr>
          <p:nvPr/>
        </p:nvSpPr>
        <p:spPr>
          <a:xfrm xmlns:a="http://schemas.openxmlformats.org/drawingml/2006/main">
            <a:off x="4333875"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226A61"/>
                </a:solidFill>
              </a:defRPr>
            </a:pPr>
            <a:r>
              <a:rPr sz="4650" b="1">
                <a:solidFill>
                  <a:srgbClr val="226A61"/>
                </a:solidFill>
              </a:rPr>
              <a:t>2</a:t>
            </a:r>
          </a:p>
        </p:txBody>
      </p:sp>
      <p:sp>
        <p:nvSpPr>
          <p:cNvPr id="8" name="path-title-2">
            <a:extLst xmlns:a="http://schemas.openxmlformats.org/drawingml/2006/main">
              <a:ext uri="{FF2B5EF4-FFF2-40B4-BE49-F238E27FC236}">
                <a16:creationId xmlns:a16="http://schemas.microsoft.com/office/drawing/2014/main" id="{54665211-BB5C-41E2-B748-46C65428B0E8}"/>
              </a:ext>
            </a:extLst>
          </p:cNvPr>
          <p:cNvSpPr>
            <a:spLocks xmlns:a="http://schemas.openxmlformats.org/drawingml/2006/main" noGrp="1"/>
          </p:cNvSpPr>
          <p:nvPr/>
        </p:nvSpPr>
        <p:spPr>
          <a:xfrm xmlns:a="http://schemas.openxmlformats.org/drawingml/2006/main">
            <a:off x="4333875"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Yarn and fabric structures</a:t>
            </a:r>
          </a:p>
        </p:txBody>
      </p:sp>
      <p:sp>
        <p:nvSpPr>
          <p:cNvPr id="9" name="path-rule-2">
            <a:extLst xmlns:a="http://schemas.openxmlformats.org/drawingml/2006/main">
              <a:ext uri="{FF2B5EF4-FFF2-40B4-BE49-F238E27FC236}">
                <a16:creationId xmlns:a16="http://schemas.microsoft.com/office/drawing/2014/main" id="{E6D9F69A-37B7-4130-9008-71C726A7F0DE}"/>
              </a:ext>
            </a:extLst>
          </p:cNvPr>
          <p:cNvSpPr>
            <a:spLocks xmlns:a="http://schemas.openxmlformats.org/drawingml/2006/main" noGrp="1"/>
          </p:cNvSpPr>
          <p:nvPr/>
        </p:nvSpPr>
        <p:spPr>
          <a:xfrm xmlns:a="http://schemas.openxmlformats.org/drawingml/2006/main">
            <a:off x="4333875" y="4171950"/>
            <a:ext cx="2724150" cy="47625"/>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10" name="path-number-3">
            <a:extLst xmlns:a="http://schemas.openxmlformats.org/drawingml/2006/main">
              <a:ext uri="{FF2B5EF4-FFF2-40B4-BE49-F238E27FC236}">
                <a16:creationId xmlns:a16="http://schemas.microsoft.com/office/drawing/2014/main" id="{C407D80F-6B66-4985-AF01-692552526420}"/>
              </a:ext>
            </a:extLst>
          </p:cNvPr>
          <p:cNvSpPr>
            <a:spLocks xmlns:a="http://schemas.openxmlformats.org/drawingml/2006/main" noGrp="1"/>
          </p:cNvSpPr>
          <p:nvPr/>
        </p:nvSpPr>
        <p:spPr>
          <a:xfrm xmlns:a="http://schemas.openxmlformats.org/drawingml/2006/main">
            <a:off x="796290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C94C46"/>
                </a:solidFill>
              </a:defRPr>
            </a:pPr>
            <a:r>
              <a:rPr sz="4650" b="1">
                <a:solidFill>
                  <a:srgbClr val="C94C46"/>
                </a:solidFill>
              </a:rPr>
              <a:t>3</a:t>
            </a:r>
          </a:p>
        </p:txBody>
      </p:sp>
      <p:sp>
        <p:nvSpPr>
          <p:cNvPr id="11" name="path-title-3">
            <a:extLst xmlns:a="http://schemas.openxmlformats.org/drawingml/2006/main">
              <a:ext uri="{FF2B5EF4-FFF2-40B4-BE49-F238E27FC236}">
                <a16:creationId xmlns:a16="http://schemas.microsoft.com/office/drawing/2014/main" id="{67D87C1E-486F-4DEC-9280-EEFFF138ED2C}"/>
              </a:ext>
            </a:extLst>
          </p:cNvPr>
          <p:cNvSpPr>
            <a:spLocks xmlns:a="http://schemas.openxmlformats.org/drawingml/2006/main" noGrp="1"/>
          </p:cNvSpPr>
          <p:nvPr/>
        </p:nvSpPr>
        <p:spPr>
          <a:xfrm xmlns:a="http://schemas.openxmlformats.org/drawingml/2006/main">
            <a:off x="796290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Properties, testing and end use</a:t>
            </a:r>
          </a:p>
        </p:txBody>
      </p:sp>
      <p:sp>
        <p:nvSpPr>
          <p:cNvPr id="12" name="path-rule-3">
            <a:extLst xmlns:a="http://schemas.openxmlformats.org/drawingml/2006/main">
              <a:ext uri="{FF2B5EF4-FFF2-40B4-BE49-F238E27FC236}">
                <a16:creationId xmlns:a16="http://schemas.microsoft.com/office/drawing/2014/main" id="{429471AF-1FAA-48F2-A4B9-23E886B5CF23}"/>
              </a:ext>
            </a:extLst>
          </p:cNvPr>
          <p:cNvSpPr>
            <a:spLocks xmlns:a="http://schemas.openxmlformats.org/drawingml/2006/main" noGrp="1"/>
          </p:cNvSpPr>
          <p:nvPr/>
        </p:nvSpPr>
        <p:spPr>
          <a:xfrm xmlns:a="http://schemas.openxmlformats.org/drawingml/2006/main">
            <a:off x="7962900" y="4171950"/>
            <a:ext cx="2724150" cy="47625"/>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13" name="retrieval-strip">
            <a:extLst xmlns:a="http://schemas.openxmlformats.org/drawingml/2006/main">
              <a:ext uri="{FF2B5EF4-FFF2-40B4-BE49-F238E27FC236}">
                <a16:creationId xmlns:a16="http://schemas.microsoft.com/office/drawing/2014/main" id="{0BBFB779-4C11-4486-937D-78D126FC81EC}"/>
              </a:ext>
            </a:extLst>
          </p:cNvPr>
          <p:cNvSpPr>
            <a:spLocks xmlns:a="http://schemas.openxmlformats.org/drawingml/2006/main" noGrp="1"/>
          </p:cNvSpPr>
          <p:nvPr/>
        </p:nvSpPr>
        <p:spPr>
          <a:xfrm xmlns:a="http://schemas.openxmlformats.org/drawingml/2006/main">
            <a:off x="609600" y="4914900"/>
            <a:ext cx="10972800" cy="990600"/>
          </a:xfrm>
          <a:prstGeom xmlns:a="http://schemas.openxmlformats.org/drawingml/2006/main" prst="roundRect">
            <a:avLst>
              <a:gd name="adj" fmla="val 17308"/>
            </a:avLst>
          </a:prstGeom>
          <a:solidFill xmlns:a="http://schemas.openxmlformats.org/drawingml/2006/main">
            <a:srgbClr val="721735"/>
          </a:solidFill>
          <a:ln xmlns:a="http://schemas.openxmlformats.org/drawingml/2006/main" w="0">
            <a:noFill/>
            <a:prstDash val="solid"/>
          </a:ln>
        </p:spPr>
      </p:sp>
      <p:sp>
        <p:nvSpPr>
          <p:cNvPr id="14" name="warm-up-label">
            <a:extLst xmlns:a="http://schemas.openxmlformats.org/drawingml/2006/main">
              <a:ext uri="{FF2B5EF4-FFF2-40B4-BE49-F238E27FC236}">
                <a16:creationId xmlns:a16="http://schemas.microsoft.com/office/drawing/2014/main" id="{86F86DB6-FBFF-4E4D-9018-63D70C1022B0}"/>
              </a:ext>
            </a:extLst>
          </p:cNvPr>
          <p:cNvSpPr>
            <a:spLocks xmlns:a="http://schemas.openxmlformats.org/drawingml/2006/main" noGrp="1"/>
          </p:cNvSpPr>
          <p:nvPr/>
        </p:nvSpPr>
        <p:spPr>
          <a:xfrm xmlns:a="http://schemas.openxmlformats.org/drawingml/2006/main">
            <a:off x="876300" y="51054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A238"/>
                </a:solidFill>
              </a:defRPr>
            </a:pPr>
            <a:r>
              <a:rPr sz="1200" b="1">
                <a:solidFill>
                  <a:srgbClr val="D6A238"/>
                </a:solidFill>
              </a:rPr>
              <a:t>RETRIEVAL WARM-UP</a:t>
            </a:r>
          </a:p>
        </p:txBody>
      </p:sp>
      <p:sp>
        <p:nvSpPr>
          <p:cNvPr id="15" name="warm-up-question">
            <a:extLst xmlns:a="http://schemas.openxmlformats.org/drawingml/2006/main">
              <a:ext uri="{FF2B5EF4-FFF2-40B4-BE49-F238E27FC236}">
                <a16:creationId xmlns:a16="http://schemas.microsoft.com/office/drawing/2014/main" id="{3D4BD1E8-07F3-4A65-AE74-43B6D8DF0624}"/>
              </a:ext>
            </a:extLst>
          </p:cNvPr>
          <p:cNvSpPr>
            <a:spLocks xmlns:a="http://schemas.openxmlformats.org/drawingml/2006/main" noGrp="1"/>
          </p:cNvSpPr>
          <p:nvPr/>
        </p:nvSpPr>
        <p:spPr>
          <a:xfrm xmlns:a="http://schemas.openxmlformats.org/drawingml/2006/main">
            <a:off x="876300" y="5429250"/>
            <a:ext cx="9763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Which idea feels most familiar—and what evidence supports what you think you know?</a:t>
            </a:r>
          </a:p>
        </p:txBody>
      </p:sp>
      <p:sp>
        <p:nvSpPr>
          <p:cNvPr id="16" name="footer-module-2">
            <a:extLst xmlns:a="http://schemas.openxmlformats.org/drawingml/2006/main">
              <a:ext uri="{FF2B5EF4-FFF2-40B4-BE49-F238E27FC236}">
                <a16:creationId xmlns:a16="http://schemas.microsoft.com/office/drawing/2014/main" id="{BF7FA8FB-421F-4E0C-8ED0-7DD1CFDCEE31}"/>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06 · YEAR 8 TEXTILES TECHNOLOGY</a:t>
            </a:r>
          </a:p>
        </p:txBody>
      </p:sp>
      <p:sp>
        <p:nvSpPr>
          <p:cNvPr id="17" name="footer-number-2">
            <a:extLst xmlns:a="http://schemas.openxmlformats.org/drawingml/2006/main">
              <a:ext uri="{FF2B5EF4-FFF2-40B4-BE49-F238E27FC236}">
                <a16:creationId xmlns:a16="http://schemas.microsoft.com/office/drawing/2014/main" id="{35F7CEB2-0585-4FA8-A83B-473FAF4BF4F8}"/>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02</a:t>
            </a:r>
          </a:p>
        </p:txBody>
      </p:sp>
    </p:spTree>
    <p:extLst>
      <p:ext uri="{BB962C8B-B14F-4D97-AF65-F5344CB8AC3E}">
        <p14:creationId xmlns:p14="http://schemas.microsoft.com/office/powerpoint/2010/main" val="1879582429"/>
      </p:ext>
    </p:extLst>
  </p:cSld>
</p:sld>
</file>

<file path=ppt/slides/slide3.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312D6CFC-D653-4DD2-9BA6-06671892139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95F7C2A2-0881-4AF7-BFE2-6069FC09404F}"/>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AC2254"/>
                </a:solidFill>
              </a:defRPr>
            </a:pPr>
            <a:r>
              <a:rPr sz="1125" b="1">
                <a:solidFill>
                  <a:srgbClr val="AC2254"/>
                </a:solidFill>
              </a:rPr>
              <a:t>6.1 · UNDERSTAND THE FIBRE LEVEL</a:t>
            </a:r>
          </a:p>
        </p:txBody>
      </p:sp>
      <p:sp>
        <p:nvSpPr>
          <p:cNvPr id="3" name="slide-title">
            <a:extLst xmlns:a="http://schemas.openxmlformats.org/drawingml/2006/main">
              <a:ext uri="{FF2B5EF4-FFF2-40B4-BE49-F238E27FC236}">
                <a16:creationId xmlns:a16="http://schemas.microsoft.com/office/drawing/2014/main" id="{A3C3D1CC-1702-45E2-B22A-D84874F650B4}"/>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Fibre origins</a:t>
            </a:r>
          </a:p>
        </p:txBody>
      </p:sp>
      <p:sp>
        <p:nvSpPr>
          <p:cNvPr id="4" name="image-frame">
            <a:extLst xmlns:a="http://schemas.openxmlformats.org/drawingml/2006/main">
              <a:ext uri="{FF2B5EF4-FFF2-40B4-BE49-F238E27FC236}">
                <a16:creationId xmlns:a16="http://schemas.microsoft.com/office/drawing/2014/main" id="{1DDBE616-3AF8-4EFD-B06D-550A2DF1C339}"/>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AC2254"/>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c9df03727ac40ac"/>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936508F9-282C-4825-8C1F-101C8CE2896F}"/>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Fibres are fine material units that contribute to yarns and textile structures.</a:t>
            </a:r>
          </a:p>
        </p:txBody>
      </p:sp>
      <p:sp>
        <p:nvSpPr>
          <p:cNvPr id="7" name="key-idea-label">
            <a:extLst xmlns:a="http://schemas.openxmlformats.org/drawingml/2006/main">
              <a:ext uri="{FF2B5EF4-FFF2-40B4-BE49-F238E27FC236}">
                <a16:creationId xmlns:a16="http://schemas.microsoft.com/office/drawing/2014/main" id="{441DE0B3-875E-48D5-AFDC-2CE13E849646}"/>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THE KEY IDEA</a:t>
            </a:r>
          </a:p>
        </p:txBody>
      </p:sp>
      <p:sp>
        <p:nvSpPr>
          <p:cNvPr id="8" name="key-idea-copy">
            <a:extLst xmlns:a="http://schemas.openxmlformats.org/drawingml/2006/main">
              <a:ext uri="{FF2B5EF4-FFF2-40B4-BE49-F238E27FC236}">
                <a16:creationId xmlns:a16="http://schemas.microsoft.com/office/drawing/2014/main" id="{E37CE084-2621-42A6-A251-F1EF584B359B}"/>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Fibres are fine material units that contribute to yarns and textile structures. Natural fibres include plant and animal sources; manufactured fibres involve industrial production and may use different raw materials. Fibre origin influences possibilities but does not determine complete fabric performance. Environmental comparisons need evidence across relevant life-cycle stages and should avoid universal slogans.</a:t>
            </a:r>
          </a:p>
        </p:txBody>
      </p:sp>
      <p:sp>
        <p:nvSpPr>
          <p:cNvPr id="9" name="application-block">
            <a:extLst xmlns:a="http://schemas.openxmlformats.org/drawingml/2006/main">
              <a:ext uri="{FF2B5EF4-FFF2-40B4-BE49-F238E27FC236}">
                <a16:creationId xmlns:a16="http://schemas.microsoft.com/office/drawing/2014/main" id="{88DE9D9B-0041-4BDF-BF08-3831772B6075}"/>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115F6633-2C00-41FF-977F-CECDF1652FFB}"/>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USE THIS IDEA</a:t>
            </a:r>
          </a:p>
        </p:txBody>
      </p:sp>
      <p:sp>
        <p:nvSpPr>
          <p:cNvPr id="11" name="application-copy">
            <a:extLst xmlns:a="http://schemas.openxmlformats.org/drawingml/2006/main">
              <a:ext uri="{FF2B5EF4-FFF2-40B4-BE49-F238E27FC236}">
                <a16:creationId xmlns:a16="http://schemas.microsoft.com/office/drawing/2014/main" id="{CEC08CC8-A742-4084-B0FB-BF2DFAF23312}"/>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Use teacher-supplied labels or material records to classify several fibres by origin. For one product, write two questions about production, performance, care or end of life that the fibre name alone cannot answer.</a:t>
            </a:r>
          </a:p>
        </p:txBody>
      </p:sp>
      <p:sp>
        <p:nvSpPr>
          <p:cNvPr id="12" name="footer-module-3">
            <a:extLst xmlns:a="http://schemas.openxmlformats.org/drawingml/2006/main">
              <a:ext uri="{FF2B5EF4-FFF2-40B4-BE49-F238E27FC236}">
                <a16:creationId xmlns:a16="http://schemas.microsoft.com/office/drawing/2014/main" id="{B12CF2AE-B374-42D7-9453-0B2DE9CBC40A}"/>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06 · YEAR 8 TEXTILES TECHNOLOGY</a:t>
            </a:r>
          </a:p>
        </p:txBody>
      </p:sp>
      <p:sp>
        <p:nvSpPr>
          <p:cNvPr id="13" name="footer-number-3">
            <a:extLst xmlns:a="http://schemas.openxmlformats.org/drawingml/2006/main">
              <a:ext uri="{FF2B5EF4-FFF2-40B4-BE49-F238E27FC236}">
                <a16:creationId xmlns:a16="http://schemas.microsoft.com/office/drawing/2014/main" id="{A824501D-7434-4855-B845-764697ACB1A3}"/>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03</a:t>
            </a:r>
          </a:p>
        </p:txBody>
      </p:sp>
    </p:spTree>
    <p:extLst>
      <p:ext uri="{BB962C8B-B14F-4D97-AF65-F5344CB8AC3E}">
        <p14:creationId xmlns:p14="http://schemas.microsoft.com/office/powerpoint/2010/main" val="1177593092"/>
      </p:ext>
    </p:extLst>
  </p:cSld>
</p:sld>
</file>

<file path=ppt/slides/slide4.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99A5967C-D0A8-4B3F-83E1-CD4D1A8A1A4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CF656F61-0522-471A-8325-71623B97BD96}"/>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6A61"/>
                </a:solidFill>
              </a:defRPr>
            </a:pPr>
            <a:r>
              <a:rPr sz="1125" b="1">
                <a:solidFill>
                  <a:srgbClr val="226A61"/>
                </a:solidFill>
              </a:rPr>
              <a:t>6.2 · SEE HOW A YARN IS ORGANISED</a:t>
            </a:r>
          </a:p>
        </p:txBody>
      </p:sp>
      <p:sp>
        <p:nvSpPr>
          <p:cNvPr id="3" name="slide-title">
            <a:extLst xmlns:a="http://schemas.openxmlformats.org/drawingml/2006/main">
              <a:ext uri="{FF2B5EF4-FFF2-40B4-BE49-F238E27FC236}">
                <a16:creationId xmlns:a16="http://schemas.microsoft.com/office/drawing/2014/main" id="{DB3DD806-FE03-4569-B86B-D17843EC81FD}"/>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Yarn and fabric structures</a:t>
            </a:r>
          </a:p>
        </p:txBody>
      </p:sp>
      <p:sp>
        <p:nvSpPr>
          <p:cNvPr id="4" name="image-frame">
            <a:extLst xmlns:a="http://schemas.openxmlformats.org/drawingml/2006/main">
              <a:ext uri="{FF2B5EF4-FFF2-40B4-BE49-F238E27FC236}">
                <a16:creationId xmlns:a16="http://schemas.microsoft.com/office/drawing/2014/main" id="{56D1B025-A9E6-4A2D-A39B-BB4AA8743930}"/>
              </a:ext>
            </a:extLst>
          </p:cNvPr>
          <p:cNvSpPr>
            <a:spLocks xmlns:a="http://schemas.openxmlformats.org/drawingml/2006/main" noGrp="1"/>
          </p:cNvSpPr>
          <p:nvPr/>
        </p:nvSpPr>
        <p:spPr>
          <a:xfrm xmlns:a="http://schemas.openxmlformats.org/drawingml/2006/main">
            <a:off x="6686550" y="1504950"/>
            <a:ext cx="4953000" cy="3448050"/>
          </a:xfrm>
          <a:prstGeom xmlns:a="http://schemas.openxmlformats.org/drawingml/2006/main" prst="roundRect">
            <a:avLst>
              <a:gd name="adj" fmla="val 4972"/>
            </a:avLst>
          </a:prstGeom>
          <a:solidFill xmlns:a="http://schemas.openxmlformats.org/drawingml/2006/main">
            <a:srgbClr val="226A61"/>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74ec2e7a7444f5b"/>
          <a:srcRect xmlns:a="http://schemas.openxmlformats.org/drawingml/2006/main" l="1619" t="0" r="1619" b="0"/>
          <a:stretch xmlns:a="http://schemas.openxmlformats.org/drawingml/2006/main">
            <a:fillRect l="0" t="0" r="0" b="0"/>
          </a:stretch>
        </p:blipFill>
        <p:spPr>
          <a:xfrm xmlns:a="http://schemas.openxmlformats.org/drawingml/2006/main">
            <a:off x="67437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F2C27711-E6A7-451A-A2C4-F90A54471CB7}"/>
              </a:ext>
            </a:extLst>
          </p:cNvPr>
          <p:cNvSpPr>
            <a:spLocks xmlns:a="http://schemas.openxmlformats.org/drawingml/2006/main" noGrp="1"/>
          </p:cNvSpPr>
          <p:nvPr/>
        </p:nvSpPr>
        <p:spPr>
          <a:xfrm xmlns:a="http://schemas.openxmlformats.org/drawingml/2006/main">
            <a:off x="67437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Yarn structure depends on how fibres or filaments are organised, twisted and combined.</a:t>
            </a:r>
          </a:p>
        </p:txBody>
      </p:sp>
      <p:sp>
        <p:nvSpPr>
          <p:cNvPr id="7" name="key-idea-label">
            <a:extLst xmlns:a="http://schemas.openxmlformats.org/drawingml/2006/main">
              <a:ext uri="{FF2B5EF4-FFF2-40B4-BE49-F238E27FC236}">
                <a16:creationId xmlns:a16="http://schemas.microsoft.com/office/drawing/2014/main" id="{E70D3D1D-DF93-4B0B-8C83-E6C770E9C9BF}"/>
              </a:ext>
            </a:extLst>
          </p:cNvPr>
          <p:cNvSpPr>
            <a:spLocks xmlns:a="http://schemas.openxmlformats.org/drawingml/2006/main" noGrp="1"/>
          </p:cNvSpPr>
          <p:nvPr/>
        </p:nvSpPr>
        <p:spPr>
          <a:xfrm xmlns:a="http://schemas.openxmlformats.org/drawingml/2006/main">
            <a:off x="609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THE KEY IDEA</a:t>
            </a:r>
          </a:p>
        </p:txBody>
      </p:sp>
      <p:sp>
        <p:nvSpPr>
          <p:cNvPr id="8" name="key-idea-copy">
            <a:extLst xmlns:a="http://schemas.openxmlformats.org/drawingml/2006/main">
              <a:ext uri="{FF2B5EF4-FFF2-40B4-BE49-F238E27FC236}">
                <a16:creationId xmlns:a16="http://schemas.microsoft.com/office/drawing/2014/main" id="{665F04A6-451E-4AAB-9F4B-BD88E49C647B}"/>
              </a:ext>
            </a:extLst>
          </p:cNvPr>
          <p:cNvSpPr>
            <a:spLocks xmlns:a="http://schemas.openxmlformats.org/drawingml/2006/main" noGrp="1"/>
          </p:cNvSpPr>
          <p:nvPr/>
        </p:nvSpPr>
        <p:spPr>
          <a:xfrm xmlns:a="http://schemas.openxmlformats.org/drawingml/2006/main">
            <a:off x="609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Yarn structure depends on how fibres or filaments are organised, twisted and combined. Woven fabrics interlace yarn systems, knitted fabrics connect loops and nonwovens bond or entangle fibres. Structure can influence stretch, recovery, drape, stability, surface and edge behaviour. Claims should describe the actual sample and test rather than every fabric in a category.</a:t>
            </a:r>
          </a:p>
        </p:txBody>
      </p:sp>
      <p:sp>
        <p:nvSpPr>
          <p:cNvPr id="9" name="application-block">
            <a:extLst xmlns:a="http://schemas.openxmlformats.org/drawingml/2006/main">
              <a:ext uri="{FF2B5EF4-FFF2-40B4-BE49-F238E27FC236}">
                <a16:creationId xmlns:a16="http://schemas.microsoft.com/office/drawing/2014/main" id="{6B9C17CA-0CC0-46AC-ADDB-5C82F5AD5C5A}"/>
              </a:ext>
            </a:extLst>
          </p:cNvPr>
          <p:cNvSpPr>
            <a:spLocks xmlns:a="http://schemas.openxmlformats.org/drawingml/2006/main" noGrp="1"/>
          </p:cNvSpPr>
          <p:nvPr/>
        </p:nvSpPr>
        <p:spPr>
          <a:xfrm xmlns:a="http://schemas.openxmlformats.org/drawingml/2006/main">
            <a:off x="609600" y="4114800"/>
            <a:ext cx="4838700" cy="1524000"/>
          </a:xfrm>
          <a:prstGeom xmlns:a="http://schemas.openxmlformats.org/drawingml/2006/main" prst="roundRect">
            <a:avLst>
              <a:gd name="adj" fmla="val 10000"/>
            </a:avLst>
          </a:prstGeom>
          <a:solidFill xmlns:a="http://schemas.openxmlformats.org/drawingml/2006/main">
            <a:srgbClr val="DCE9E4"/>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EA1A685A-19BB-4188-BD0E-21496161EA0D}"/>
              </a:ext>
            </a:extLst>
          </p:cNvPr>
          <p:cNvSpPr>
            <a:spLocks xmlns:a="http://schemas.openxmlformats.org/drawingml/2006/main" noGrp="1"/>
          </p:cNvSpPr>
          <p:nvPr/>
        </p:nvSpPr>
        <p:spPr>
          <a:xfrm xmlns:a="http://schemas.openxmlformats.org/drawingml/2006/main">
            <a:off x="838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USE THIS IDEA</a:t>
            </a:r>
          </a:p>
        </p:txBody>
      </p:sp>
      <p:sp>
        <p:nvSpPr>
          <p:cNvPr id="11" name="application-copy">
            <a:extLst xmlns:a="http://schemas.openxmlformats.org/drawingml/2006/main">
              <a:ext uri="{FF2B5EF4-FFF2-40B4-BE49-F238E27FC236}">
                <a16:creationId xmlns:a16="http://schemas.microsoft.com/office/drawing/2014/main" id="{A462E40D-EA9F-4830-A0EF-D2690873E7BC}"/>
              </a:ext>
            </a:extLst>
          </p:cNvPr>
          <p:cNvSpPr>
            <a:spLocks xmlns:a="http://schemas.openxmlformats.org/drawingml/2006/main" noGrp="1"/>
          </p:cNvSpPr>
          <p:nvPr/>
        </p:nvSpPr>
        <p:spPr>
          <a:xfrm xmlns:a="http://schemas.openxmlformats.org/drawingml/2006/main">
            <a:off x="838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Observe three teacher-labelled fabric samples using sight, touch and magnification. Sketch the visible structure, identify the evidence for woven, knitted or nonwoven classification, and record one performance question for a fair test.</a:t>
            </a:r>
          </a:p>
        </p:txBody>
      </p:sp>
      <p:sp>
        <p:nvSpPr>
          <p:cNvPr id="12" name="footer-module-4">
            <a:extLst xmlns:a="http://schemas.openxmlformats.org/drawingml/2006/main">
              <a:ext uri="{FF2B5EF4-FFF2-40B4-BE49-F238E27FC236}">
                <a16:creationId xmlns:a16="http://schemas.microsoft.com/office/drawing/2014/main" id="{F55B07A2-9AB7-41BA-A77F-B7BEC1596781}"/>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06 · YEAR 8 TEXTILES TECHNOLOGY</a:t>
            </a:r>
          </a:p>
        </p:txBody>
      </p:sp>
      <p:sp>
        <p:nvSpPr>
          <p:cNvPr id="13" name="footer-number-4">
            <a:extLst xmlns:a="http://schemas.openxmlformats.org/drawingml/2006/main">
              <a:ext uri="{FF2B5EF4-FFF2-40B4-BE49-F238E27FC236}">
                <a16:creationId xmlns:a16="http://schemas.microsoft.com/office/drawing/2014/main" id="{469100CB-1819-4A78-A7C6-028001AA9106}"/>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04</a:t>
            </a:r>
          </a:p>
        </p:txBody>
      </p:sp>
    </p:spTree>
    <p:extLst>
      <p:ext uri="{BB962C8B-B14F-4D97-AF65-F5344CB8AC3E}">
        <p14:creationId xmlns:p14="http://schemas.microsoft.com/office/powerpoint/2010/main" val="1687245732"/>
      </p:ext>
    </p:extLst>
  </p:cSld>
</p:sld>
</file>

<file path=ppt/slides/slide5.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2D61C24D-2E13-457A-B089-A76C4039242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CE0893B0-B34A-4358-8D3B-79009344C747}"/>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C94C46"/>
                </a:solidFill>
              </a:defRPr>
            </a:pPr>
            <a:r>
              <a:rPr sz="1125" b="1">
                <a:solidFill>
                  <a:srgbClr val="C94C46"/>
                </a:solidFill>
              </a:rPr>
              <a:t>6.3 · SELECT PROPERTIES THAT MATTER</a:t>
            </a:r>
          </a:p>
        </p:txBody>
      </p:sp>
      <p:sp>
        <p:nvSpPr>
          <p:cNvPr id="3" name="slide-title">
            <a:extLst xmlns:a="http://schemas.openxmlformats.org/drawingml/2006/main">
              <a:ext uri="{FF2B5EF4-FFF2-40B4-BE49-F238E27FC236}">
                <a16:creationId xmlns:a16="http://schemas.microsoft.com/office/drawing/2014/main" id="{5D6A64D8-BD14-4119-B999-F2DE9FF0C2F5}"/>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Properties, testing and end use</a:t>
            </a:r>
          </a:p>
        </p:txBody>
      </p:sp>
      <p:sp>
        <p:nvSpPr>
          <p:cNvPr id="4" name="image-frame">
            <a:extLst xmlns:a="http://schemas.openxmlformats.org/drawingml/2006/main">
              <a:ext uri="{FF2B5EF4-FFF2-40B4-BE49-F238E27FC236}">
                <a16:creationId xmlns:a16="http://schemas.microsoft.com/office/drawing/2014/main" id="{6F30831D-BEC5-4FB5-AD43-C91E610148C6}"/>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C94C46"/>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4ad52a6d6934099"/>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3EB729C0-CB97-4030-9BD1-10D000DDE5AD}"/>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Relevant properties are selected by starting with the product’s end-use needs.</a:t>
            </a:r>
          </a:p>
        </p:txBody>
      </p:sp>
      <p:sp>
        <p:nvSpPr>
          <p:cNvPr id="7" name="key-idea-label">
            <a:extLst xmlns:a="http://schemas.openxmlformats.org/drawingml/2006/main">
              <a:ext uri="{FF2B5EF4-FFF2-40B4-BE49-F238E27FC236}">
                <a16:creationId xmlns:a16="http://schemas.microsoft.com/office/drawing/2014/main" id="{BDD05E65-5204-4DFB-88D8-0D11E66CF30F}"/>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THE KEY IDEA</a:t>
            </a:r>
          </a:p>
        </p:txBody>
      </p:sp>
      <p:sp>
        <p:nvSpPr>
          <p:cNvPr id="8" name="key-idea-copy">
            <a:extLst xmlns:a="http://schemas.openxmlformats.org/drawingml/2006/main">
              <a:ext uri="{FF2B5EF4-FFF2-40B4-BE49-F238E27FC236}">
                <a16:creationId xmlns:a16="http://schemas.microsoft.com/office/drawing/2014/main" id="{B5AF0668-60CF-4762-AD75-F2362DCB17A4}"/>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Relevant properties are selected by starting with the product’s end-use needs. A fair comparison controls important conditions and changes one main factor. Results need an evidence record and an explanation of what they mean. Material suitability is conditional and may involve competing criteria and limitations.</a:t>
            </a:r>
          </a:p>
        </p:txBody>
      </p:sp>
      <p:sp>
        <p:nvSpPr>
          <p:cNvPr id="9" name="application-block">
            <a:extLst xmlns:a="http://schemas.openxmlformats.org/drawingml/2006/main">
              <a:ext uri="{FF2B5EF4-FFF2-40B4-BE49-F238E27FC236}">
                <a16:creationId xmlns:a16="http://schemas.microsoft.com/office/drawing/2014/main" id="{C8F7BAAD-9B00-4980-82BE-3C0273124426}"/>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94391E6B-25AC-47BE-B52A-E83621D854F7}"/>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USE THIS IDEA</a:t>
            </a:r>
          </a:p>
        </p:txBody>
      </p:sp>
      <p:sp>
        <p:nvSpPr>
          <p:cNvPr id="11" name="application-copy">
            <a:extLst xmlns:a="http://schemas.openxmlformats.org/drawingml/2006/main">
              <a:ext uri="{FF2B5EF4-FFF2-40B4-BE49-F238E27FC236}">
                <a16:creationId xmlns:a16="http://schemas.microsoft.com/office/drawing/2014/main" id="{644AA918-9C0D-474B-AE68-6C96566C7524}"/>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one confirmed product need and one relevant property. Write a fair-test question, identify what will change and stay constant, follow the teacher-approved method, and conclude what the evidence does and does not show about suitability.</a:t>
            </a:r>
          </a:p>
        </p:txBody>
      </p:sp>
      <p:sp>
        <p:nvSpPr>
          <p:cNvPr id="12" name="footer-module-5">
            <a:extLst xmlns:a="http://schemas.openxmlformats.org/drawingml/2006/main">
              <a:ext uri="{FF2B5EF4-FFF2-40B4-BE49-F238E27FC236}">
                <a16:creationId xmlns:a16="http://schemas.microsoft.com/office/drawing/2014/main" id="{4D9CEA99-4A0A-484E-B66D-79E6667D1AE7}"/>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06 · YEAR 8 TEXTILES TECHNOLOGY</a:t>
            </a:r>
          </a:p>
        </p:txBody>
      </p:sp>
      <p:sp>
        <p:nvSpPr>
          <p:cNvPr id="13" name="footer-number-5">
            <a:extLst xmlns:a="http://schemas.openxmlformats.org/drawingml/2006/main">
              <a:ext uri="{FF2B5EF4-FFF2-40B4-BE49-F238E27FC236}">
                <a16:creationId xmlns:a16="http://schemas.microsoft.com/office/drawing/2014/main" id="{5206EFB3-03B9-47FE-A9CC-7268E30F3418}"/>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05</a:t>
            </a:r>
          </a:p>
        </p:txBody>
      </p:sp>
    </p:spTree>
    <p:extLst>
      <p:ext uri="{BB962C8B-B14F-4D97-AF65-F5344CB8AC3E}">
        <p14:creationId xmlns:p14="http://schemas.microsoft.com/office/powerpoint/2010/main" val="459993971"/>
      </p:ext>
    </p:extLst>
  </p:cSld>
</p:sld>
</file>

<file path=ppt/slides/slide6.xml><?xml version="1.0" encoding="utf-8"?>
<p:sld xmlns:p="http://schemas.openxmlformats.org/presentationml/2006/main">
  <p:cSld>
    <p:bg>
      <p:bgPr>
        <a:solidFill xmlns:a="http://schemas.openxmlformats.org/drawingml/2006/main">
          <a:srgbClr val="721735"/>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3B4AE7AA-A1E3-48DA-B4DC-38DA8A8408AB}"/>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Stop. Think. Explain.</a:t>
            </a:r>
          </a:p>
        </p:txBody>
      </p:sp>
      <p:sp>
        <p:nvSpPr>
          <p:cNvPr id="2" name="retrieval-instruction">
            <a:extLst xmlns:a="http://schemas.openxmlformats.org/drawingml/2006/main">
              <a:ext uri="{FF2B5EF4-FFF2-40B4-BE49-F238E27FC236}">
                <a16:creationId xmlns:a16="http://schemas.microsoft.com/office/drawing/2014/main" id="{10D98765-7118-4960-902F-2AC76013E16C}"/>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3DCE5"/>
                </a:solidFill>
              </a:defRPr>
            </a:pPr>
            <a:r>
              <a:rPr sz="1500" b="0">
                <a:solidFill>
                  <a:srgbClr val="F3DCE5"/>
                </a:solidFill>
              </a:rPr>
              <a:t>Correct or improve each claim, then support your answer with evidence from the module.</a:t>
            </a:r>
          </a:p>
        </p:txBody>
      </p:sp>
      <p:sp>
        <p:nvSpPr>
          <p:cNvPr id="3" name="retrieval-number-bg-1">
            <a:extLst xmlns:a="http://schemas.openxmlformats.org/drawingml/2006/main">
              <a:ext uri="{FF2B5EF4-FFF2-40B4-BE49-F238E27FC236}">
                <a16:creationId xmlns:a16="http://schemas.microsoft.com/office/drawing/2014/main" id="{80F0224B-D5C2-4F2B-A354-49E6C3794056}"/>
              </a:ext>
            </a:extLst>
          </p:cNvPr>
          <p:cNvSpPr>
            <a:spLocks xmlns:a="http://schemas.openxmlformats.org/drawingml/2006/main" noGrp="1"/>
          </p:cNvSpPr>
          <p:nvPr/>
        </p:nvSpPr>
        <p:spPr>
          <a:xfrm xmlns:a="http://schemas.openxmlformats.org/drawingml/2006/main">
            <a:off x="685800" y="192405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4" name="retrieval-number-1">
            <a:extLst xmlns:a="http://schemas.openxmlformats.org/drawingml/2006/main">
              <a:ext uri="{FF2B5EF4-FFF2-40B4-BE49-F238E27FC236}">
                <a16:creationId xmlns:a16="http://schemas.microsoft.com/office/drawing/2014/main" id="{9D131AC3-4766-489A-8F78-27838B55EAB4}"/>
              </a:ext>
            </a:extLst>
          </p:cNvPr>
          <p:cNvSpPr>
            <a:spLocks xmlns:a="http://schemas.openxmlformats.org/drawingml/2006/main" noGrp="1"/>
          </p:cNvSpPr>
          <p:nvPr/>
        </p:nvSpPr>
        <p:spPr>
          <a:xfrm xmlns:a="http://schemas.openxmlformats.org/drawingml/2006/main">
            <a:off x="685800" y="20097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1</a:t>
            </a:r>
          </a:p>
        </p:txBody>
      </p:sp>
      <p:sp>
        <p:nvSpPr>
          <p:cNvPr id="5" name="retrieval-question-1">
            <a:extLst xmlns:a="http://schemas.openxmlformats.org/drawingml/2006/main">
              <a:ext uri="{FF2B5EF4-FFF2-40B4-BE49-F238E27FC236}">
                <a16:creationId xmlns:a16="http://schemas.microsoft.com/office/drawing/2014/main" id="{D45BD516-317D-4507-9C33-7B4BCFCE9FE6}"/>
              </a:ext>
            </a:extLst>
          </p:cNvPr>
          <p:cNvSpPr>
            <a:spLocks xmlns:a="http://schemas.openxmlformats.org/drawingml/2006/main" noGrp="1"/>
          </p:cNvSpPr>
          <p:nvPr/>
        </p:nvSpPr>
        <p:spPr>
          <a:xfrm xmlns:a="http://schemas.openxmlformats.org/drawingml/2006/main">
            <a:off x="1428750" y="194310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“Natural fibres are always sustainable.”</a:t>
            </a:r>
          </a:p>
        </p:txBody>
      </p:sp>
      <p:sp>
        <p:nvSpPr>
          <p:cNvPr id="6" name="retrieval-rule-1">
            <a:extLst xmlns:a="http://schemas.openxmlformats.org/drawingml/2006/main">
              <a:ext uri="{FF2B5EF4-FFF2-40B4-BE49-F238E27FC236}">
                <a16:creationId xmlns:a16="http://schemas.microsoft.com/office/drawing/2014/main" id="{04D08E65-31A2-40A7-9338-A03B161FA5CF}"/>
              </a:ext>
            </a:extLst>
          </p:cNvPr>
          <p:cNvSpPr>
            <a:spLocks xmlns:a="http://schemas.openxmlformats.org/drawingml/2006/main" noGrp="1"/>
          </p:cNvSpPr>
          <p:nvPr/>
        </p:nvSpPr>
        <p:spPr>
          <a:xfrm xmlns:a="http://schemas.openxmlformats.org/drawingml/2006/main">
            <a:off x="1428750" y="265747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7" name="retrieval-number-bg-2">
            <a:extLst xmlns:a="http://schemas.openxmlformats.org/drawingml/2006/main">
              <a:ext uri="{FF2B5EF4-FFF2-40B4-BE49-F238E27FC236}">
                <a16:creationId xmlns:a16="http://schemas.microsoft.com/office/drawing/2014/main" id="{45E13283-5229-49EA-A6A8-6F0CC53792A7}"/>
              </a:ext>
            </a:extLst>
          </p:cNvPr>
          <p:cNvSpPr>
            <a:spLocks xmlns:a="http://schemas.openxmlformats.org/drawingml/2006/main" noGrp="1"/>
          </p:cNvSpPr>
          <p:nvPr/>
        </p:nvSpPr>
        <p:spPr>
          <a:xfrm xmlns:a="http://schemas.openxmlformats.org/drawingml/2006/main">
            <a:off x="685800" y="2924175"/>
            <a:ext cx="457200" cy="45720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8" name="retrieval-number-2">
            <a:extLst xmlns:a="http://schemas.openxmlformats.org/drawingml/2006/main">
              <a:ext uri="{FF2B5EF4-FFF2-40B4-BE49-F238E27FC236}">
                <a16:creationId xmlns:a16="http://schemas.microsoft.com/office/drawing/2014/main" id="{EE4C39A3-6945-4E89-A7E1-FDCB1390DA91}"/>
              </a:ext>
            </a:extLst>
          </p:cNvPr>
          <p:cNvSpPr>
            <a:spLocks xmlns:a="http://schemas.openxmlformats.org/drawingml/2006/main" noGrp="1"/>
          </p:cNvSpPr>
          <p:nvPr/>
        </p:nvSpPr>
        <p:spPr>
          <a:xfrm xmlns:a="http://schemas.openxmlformats.org/drawingml/2006/main">
            <a:off x="685800" y="30099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2</a:t>
            </a:r>
          </a:p>
        </p:txBody>
      </p:sp>
      <p:sp>
        <p:nvSpPr>
          <p:cNvPr id="9" name="retrieval-question-2">
            <a:extLst xmlns:a="http://schemas.openxmlformats.org/drawingml/2006/main">
              <a:ext uri="{FF2B5EF4-FFF2-40B4-BE49-F238E27FC236}">
                <a16:creationId xmlns:a16="http://schemas.microsoft.com/office/drawing/2014/main" id="{8DF3952B-E751-42C3-84B6-51107AFE21D3}"/>
              </a:ext>
            </a:extLst>
          </p:cNvPr>
          <p:cNvSpPr>
            <a:spLocks xmlns:a="http://schemas.openxmlformats.org/drawingml/2006/main" noGrp="1"/>
          </p:cNvSpPr>
          <p:nvPr/>
        </p:nvSpPr>
        <p:spPr>
          <a:xfrm xmlns:a="http://schemas.openxmlformats.org/drawingml/2006/main">
            <a:off x="1428750" y="294322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“All fabrics made from the same fibre behave the same way.”</a:t>
            </a:r>
          </a:p>
        </p:txBody>
      </p:sp>
      <p:sp>
        <p:nvSpPr>
          <p:cNvPr id="10" name="retrieval-rule-2">
            <a:extLst xmlns:a="http://schemas.openxmlformats.org/drawingml/2006/main">
              <a:ext uri="{FF2B5EF4-FFF2-40B4-BE49-F238E27FC236}">
                <a16:creationId xmlns:a16="http://schemas.microsoft.com/office/drawing/2014/main" id="{D8661B55-1973-4EDE-BD3F-38D145EB3CD7}"/>
              </a:ext>
            </a:extLst>
          </p:cNvPr>
          <p:cNvSpPr>
            <a:spLocks xmlns:a="http://schemas.openxmlformats.org/drawingml/2006/main" noGrp="1"/>
          </p:cNvSpPr>
          <p:nvPr/>
        </p:nvSpPr>
        <p:spPr>
          <a:xfrm xmlns:a="http://schemas.openxmlformats.org/drawingml/2006/main">
            <a:off x="1428750" y="3657600"/>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1" name="retrieval-number-bg-3">
            <a:extLst xmlns:a="http://schemas.openxmlformats.org/drawingml/2006/main">
              <a:ext uri="{FF2B5EF4-FFF2-40B4-BE49-F238E27FC236}">
                <a16:creationId xmlns:a16="http://schemas.microsoft.com/office/drawing/2014/main" id="{11C97BBA-0E47-4D2D-8F41-1AD29C38A015}"/>
              </a:ext>
            </a:extLst>
          </p:cNvPr>
          <p:cNvSpPr>
            <a:spLocks xmlns:a="http://schemas.openxmlformats.org/drawingml/2006/main" noGrp="1"/>
          </p:cNvSpPr>
          <p:nvPr/>
        </p:nvSpPr>
        <p:spPr>
          <a:xfrm xmlns:a="http://schemas.openxmlformats.org/drawingml/2006/main">
            <a:off x="685800" y="392430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retrieval-number-3">
            <a:extLst xmlns:a="http://schemas.openxmlformats.org/drawingml/2006/main">
              <a:ext uri="{FF2B5EF4-FFF2-40B4-BE49-F238E27FC236}">
                <a16:creationId xmlns:a16="http://schemas.microsoft.com/office/drawing/2014/main" id="{BEE63EA7-F6E6-4542-8683-60BF014DDD66}"/>
              </a:ext>
            </a:extLst>
          </p:cNvPr>
          <p:cNvSpPr>
            <a:spLocks xmlns:a="http://schemas.openxmlformats.org/drawingml/2006/main" noGrp="1"/>
          </p:cNvSpPr>
          <p:nvPr/>
        </p:nvSpPr>
        <p:spPr>
          <a:xfrm xmlns:a="http://schemas.openxmlformats.org/drawingml/2006/main">
            <a:off x="685800" y="4010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3</a:t>
            </a:r>
          </a:p>
        </p:txBody>
      </p:sp>
      <p:sp>
        <p:nvSpPr>
          <p:cNvPr id="13" name="retrieval-question-3">
            <a:extLst xmlns:a="http://schemas.openxmlformats.org/drawingml/2006/main">
              <a:ext uri="{FF2B5EF4-FFF2-40B4-BE49-F238E27FC236}">
                <a16:creationId xmlns:a16="http://schemas.microsoft.com/office/drawing/2014/main" id="{F8C55A5A-AB28-4A1A-B37E-FD18140F5ED1}"/>
              </a:ext>
            </a:extLst>
          </p:cNvPr>
          <p:cNvSpPr>
            <a:spLocks xmlns:a="http://schemas.openxmlformats.org/drawingml/2006/main" noGrp="1"/>
          </p:cNvSpPr>
          <p:nvPr/>
        </p:nvSpPr>
        <p:spPr>
          <a:xfrm xmlns:a="http://schemas.openxmlformats.org/drawingml/2006/main">
            <a:off x="1428750" y="394335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“The strongest fabric is the best choice for every product.”</a:t>
            </a:r>
          </a:p>
        </p:txBody>
      </p:sp>
      <p:sp>
        <p:nvSpPr>
          <p:cNvPr id="14" name="retrieval-rule-3">
            <a:extLst xmlns:a="http://schemas.openxmlformats.org/drawingml/2006/main">
              <a:ext uri="{FF2B5EF4-FFF2-40B4-BE49-F238E27FC236}">
                <a16:creationId xmlns:a16="http://schemas.microsoft.com/office/drawing/2014/main" id="{BCCF16B9-4847-43D3-95D4-8EAC0783ECB5}"/>
              </a:ext>
            </a:extLst>
          </p:cNvPr>
          <p:cNvSpPr>
            <a:spLocks xmlns:a="http://schemas.openxmlformats.org/drawingml/2006/main" noGrp="1"/>
          </p:cNvSpPr>
          <p:nvPr/>
        </p:nvSpPr>
        <p:spPr>
          <a:xfrm xmlns:a="http://schemas.openxmlformats.org/drawingml/2006/main">
            <a:off x="1428750" y="465772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5" name="retrieval-number-bg-4">
            <a:extLst xmlns:a="http://schemas.openxmlformats.org/drawingml/2006/main">
              <a:ext uri="{FF2B5EF4-FFF2-40B4-BE49-F238E27FC236}">
                <a16:creationId xmlns:a16="http://schemas.microsoft.com/office/drawing/2014/main" id="{2FDF0D52-ED49-468C-AF3D-BEFDD8588F71}"/>
              </a:ext>
            </a:extLst>
          </p:cNvPr>
          <p:cNvSpPr>
            <a:spLocks xmlns:a="http://schemas.openxmlformats.org/drawingml/2006/main" noGrp="1"/>
          </p:cNvSpPr>
          <p:nvPr/>
        </p:nvSpPr>
        <p:spPr>
          <a:xfrm xmlns:a="http://schemas.openxmlformats.org/drawingml/2006/main">
            <a:off x="685800" y="4924425"/>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retrieval-number-4">
            <a:extLst xmlns:a="http://schemas.openxmlformats.org/drawingml/2006/main">
              <a:ext uri="{FF2B5EF4-FFF2-40B4-BE49-F238E27FC236}">
                <a16:creationId xmlns:a16="http://schemas.microsoft.com/office/drawing/2014/main" id="{5C2DCA13-D761-44D6-8909-12CF79B206F6}"/>
              </a:ext>
            </a:extLst>
          </p:cNvPr>
          <p:cNvSpPr>
            <a:spLocks xmlns:a="http://schemas.openxmlformats.org/drawingml/2006/main" noGrp="1"/>
          </p:cNvSpPr>
          <p:nvPr/>
        </p:nvSpPr>
        <p:spPr>
          <a:xfrm xmlns:a="http://schemas.openxmlformats.org/drawingml/2006/main">
            <a:off x="685800" y="5010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4</a:t>
            </a:r>
          </a:p>
        </p:txBody>
      </p:sp>
      <p:sp>
        <p:nvSpPr>
          <p:cNvPr id="17" name="retrieval-question-4">
            <a:extLst xmlns:a="http://schemas.openxmlformats.org/drawingml/2006/main">
              <a:ext uri="{FF2B5EF4-FFF2-40B4-BE49-F238E27FC236}">
                <a16:creationId xmlns:a16="http://schemas.microsoft.com/office/drawing/2014/main" id="{A54E06BA-A668-4F16-8DB8-77B460B60585}"/>
              </a:ext>
            </a:extLst>
          </p:cNvPr>
          <p:cNvSpPr>
            <a:spLocks xmlns:a="http://schemas.openxmlformats.org/drawingml/2006/main" noGrp="1"/>
          </p:cNvSpPr>
          <p:nvPr/>
        </p:nvSpPr>
        <p:spPr>
          <a:xfrm xmlns:a="http://schemas.openxmlformats.org/drawingml/2006/main">
            <a:off x="1428750" y="494347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two ideas: how could one change a decision made with the other?</a:t>
            </a:r>
          </a:p>
        </p:txBody>
      </p:sp>
      <p:sp>
        <p:nvSpPr>
          <p:cNvPr id="18" name="footer-module-6">
            <a:extLst xmlns:a="http://schemas.openxmlformats.org/drawingml/2006/main">
              <a:ext uri="{FF2B5EF4-FFF2-40B4-BE49-F238E27FC236}">
                <a16:creationId xmlns:a16="http://schemas.microsoft.com/office/drawing/2014/main" id="{39990F05-6C9E-4EF0-B652-962563807191}"/>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06 · YEAR 8 TEXTILES TECHNOLOGY</a:t>
            </a:r>
          </a:p>
        </p:txBody>
      </p:sp>
      <p:sp>
        <p:nvSpPr>
          <p:cNvPr id="19" name="footer-number-6">
            <a:extLst xmlns:a="http://schemas.openxmlformats.org/drawingml/2006/main">
              <a:ext uri="{FF2B5EF4-FFF2-40B4-BE49-F238E27FC236}">
                <a16:creationId xmlns:a16="http://schemas.microsoft.com/office/drawing/2014/main" id="{379305F9-640F-4287-B059-1AFA7E699D11}"/>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06</a:t>
            </a:r>
          </a:p>
        </p:txBody>
      </p:sp>
    </p:spTree>
    <p:extLst>
      <p:ext uri="{BB962C8B-B14F-4D97-AF65-F5344CB8AC3E}">
        <p14:creationId xmlns:p14="http://schemas.microsoft.com/office/powerpoint/2010/main" val="284653021"/>
      </p:ext>
    </p:extLst>
  </p:cSld>
</p:sld>
</file>

<file path=ppt/slides/slide7.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24" name="top-accent">
            <a:extLst xmlns:a="http://schemas.openxmlformats.org/drawingml/2006/main">
              <a:ext uri="{FF2B5EF4-FFF2-40B4-BE49-F238E27FC236}">
                <a16:creationId xmlns:a16="http://schemas.microsoft.com/office/drawing/2014/main" id="{3D2BDAEA-A67E-49C8-94DA-8A73DA1020B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D6A238"/>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466B26E3-2EAC-49A9-8A4F-9713505C2F25}"/>
              </a:ext>
            </a:extLst>
          </p:cNvPr>
          <p:cNvSpPr>
            <a:spLocks xmlns:a="http://schemas.openxmlformats.org/drawingml/2006/main" noGrp="1"/>
          </p:cNvSpPr>
          <p:nvPr/>
        </p:nvSpPr>
        <p:spPr>
          <a:xfrm xmlns:a="http://schemas.openxmlformats.org/drawingml/2006/main">
            <a:off x="609600" y="495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Read → Select → Explain → Check</a:t>
            </a:r>
          </a:p>
        </p:txBody>
      </p:sp>
      <p:sp>
        <p:nvSpPr>
          <p:cNvPr id="3" name="guided-question">
            <a:extLst xmlns:a="http://schemas.openxmlformats.org/drawingml/2006/main">
              <a:ext uri="{FF2B5EF4-FFF2-40B4-BE49-F238E27FC236}">
                <a16:creationId xmlns:a16="http://schemas.microsoft.com/office/drawing/2014/main" id="{C8909E91-268A-42CB-A9DF-D68B37DC3C29}"/>
              </a:ext>
            </a:extLst>
          </p:cNvPr>
          <p:cNvSpPr>
            <a:spLocks xmlns:a="http://schemas.openxmlformats.org/drawingml/2006/main" noGrp="1"/>
          </p:cNvSpPr>
          <p:nvPr/>
        </p:nvSpPr>
        <p:spPr>
          <a:xfrm xmlns:a="http://schemas.openxmlformats.org/drawingml/2006/main">
            <a:off x="609600" y="12001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C5357"/>
                </a:solidFill>
              </a:defRPr>
            </a:pPr>
            <a:r>
              <a:rPr sz="1500" b="0">
                <a:solidFill>
                  <a:srgbClr val="5C5357"/>
                </a:solidFill>
              </a:rPr>
              <a:t>Design and interpret one fair material test, explaining how its evidence supports or limits a choice for a confirmed end use.</a:t>
            </a:r>
          </a:p>
        </p:txBody>
      </p:sp>
      <p:sp>
        <p:nvSpPr>
          <p:cNvPr id="4" name="response-number-1">
            <a:extLst xmlns:a="http://schemas.openxmlformats.org/drawingml/2006/main">
              <a:ext uri="{FF2B5EF4-FFF2-40B4-BE49-F238E27FC236}">
                <a16:creationId xmlns:a16="http://schemas.microsoft.com/office/drawing/2014/main" id="{B921ED03-46E1-4026-A029-0714A12820E1}"/>
              </a:ext>
            </a:extLst>
          </p:cNvPr>
          <p:cNvSpPr>
            <a:spLocks xmlns:a="http://schemas.openxmlformats.org/drawingml/2006/main" noGrp="1"/>
          </p:cNvSpPr>
          <p:nvPr/>
        </p:nvSpPr>
        <p:spPr>
          <a:xfrm xmlns:a="http://schemas.openxmlformats.org/drawingml/2006/main">
            <a:off x="6096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21735"/>
                </a:solidFill>
              </a:defRPr>
            </a:pPr>
            <a:r>
              <a:rPr sz="2700" b="1">
                <a:solidFill>
                  <a:srgbClr val="721735"/>
                </a:solidFill>
              </a:rPr>
              <a:t>1</a:t>
            </a:r>
          </a:p>
        </p:txBody>
      </p:sp>
      <p:sp>
        <p:nvSpPr>
          <p:cNvPr id="5" name="response-label-1">
            <a:extLst xmlns:a="http://schemas.openxmlformats.org/drawingml/2006/main">
              <a:ext uri="{FF2B5EF4-FFF2-40B4-BE49-F238E27FC236}">
                <a16:creationId xmlns:a16="http://schemas.microsoft.com/office/drawing/2014/main" id="{7DB65D10-AAD5-4B83-B607-638415FD388B}"/>
              </a:ext>
            </a:extLst>
          </p:cNvPr>
          <p:cNvSpPr>
            <a:spLocks xmlns:a="http://schemas.openxmlformats.org/drawingml/2006/main" noGrp="1"/>
          </p:cNvSpPr>
          <p:nvPr/>
        </p:nvSpPr>
        <p:spPr>
          <a:xfrm xmlns:a="http://schemas.openxmlformats.org/drawingml/2006/main">
            <a:off x="6096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21735"/>
                </a:solidFill>
              </a:defRPr>
            </a:pPr>
            <a:r>
              <a:rPr sz="1650" b="1">
                <a:solidFill>
                  <a:srgbClr val="721735"/>
                </a:solidFill>
              </a:rPr>
              <a:t>READ</a:t>
            </a:r>
          </a:p>
        </p:txBody>
      </p:sp>
      <p:sp>
        <p:nvSpPr>
          <p:cNvPr id="6" name="response-step-1">
            <a:extLst xmlns:a="http://schemas.openxmlformats.org/drawingml/2006/main">
              <a:ext uri="{FF2B5EF4-FFF2-40B4-BE49-F238E27FC236}">
                <a16:creationId xmlns:a16="http://schemas.microsoft.com/office/drawing/2014/main" id="{F92A3FF8-BF4E-4B56-8560-105A6B22DC86}"/>
              </a:ext>
            </a:extLst>
          </p:cNvPr>
          <p:cNvSpPr>
            <a:spLocks xmlns:a="http://schemas.openxmlformats.org/drawingml/2006/main" noGrp="1"/>
          </p:cNvSpPr>
          <p:nvPr/>
        </p:nvSpPr>
        <p:spPr>
          <a:xfrm xmlns:a="http://schemas.openxmlformats.org/drawingml/2006/main">
            <a:off x="6096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Underline the task word and the exact context.</a:t>
            </a:r>
          </a:p>
        </p:txBody>
      </p:sp>
      <p:sp>
        <p:nvSpPr>
          <p:cNvPr id="7" name="response-arrow-1">
            <a:extLst xmlns:a="http://schemas.openxmlformats.org/drawingml/2006/main">
              <a:ext uri="{FF2B5EF4-FFF2-40B4-BE49-F238E27FC236}">
                <a16:creationId xmlns:a16="http://schemas.microsoft.com/office/drawing/2014/main" id="{ACEFA483-780A-43F0-BA17-158310D4CA85}"/>
              </a:ext>
            </a:extLst>
          </p:cNvPr>
          <p:cNvSpPr>
            <a:spLocks xmlns:a="http://schemas.openxmlformats.org/drawingml/2006/main" noGrp="1"/>
          </p:cNvSpPr>
          <p:nvPr/>
        </p:nvSpPr>
        <p:spPr>
          <a:xfrm xmlns:a="http://schemas.openxmlformats.org/drawingml/2006/main">
            <a:off x="29432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8" name="response-number-2">
            <a:extLst xmlns:a="http://schemas.openxmlformats.org/drawingml/2006/main">
              <a:ext uri="{FF2B5EF4-FFF2-40B4-BE49-F238E27FC236}">
                <a16:creationId xmlns:a16="http://schemas.microsoft.com/office/drawing/2014/main" id="{E6CB0C0A-89E0-4C1B-B9DF-F26B0AF9595A}"/>
              </a:ext>
            </a:extLst>
          </p:cNvPr>
          <p:cNvSpPr>
            <a:spLocks xmlns:a="http://schemas.openxmlformats.org/drawingml/2006/main" noGrp="1"/>
          </p:cNvSpPr>
          <p:nvPr/>
        </p:nvSpPr>
        <p:spPr>
          <a:xfrm xmlns:a="http://schemas.openxmlformats.org/drawingml/2006/main">
            <a:off x="33337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AC2254"/>
                </a:solidFill>
              </a:defRPr>
            </a:pPr>
            <a:r>
              <a:rPr sz="2700" b="1">
                <a:solidFill>
                  <a:srgbClr val="AC2254"/>
                </a:solidFill>
              </a:rPr>
              <a:t>2</a:t>
            </a:r>
          </a:p>
        </p:txBody>
      </p:sp>
      <p:sp>
        <p:nvSpPr>
          <p:cNvPr id="9" name="response-label-2">
            <a:extLst xmlns:a="http://schemas.openxmlformats.org/drawingml/2006/main">
              <a:ext uri="{FF2B5EF4-FFF2-40B4-BE49-F238E27FC236}">
                <a16:creationId xmlns:a16="http://schemas.microsoft.com/office/drawing/2014/main" id="{9C4499B7-5E60-4989-A6F2-A294AC6F9E60}"/>
              </a:ext>
            </a:extLst>
          </p:cNvPr>
          <p:cNvSpPr>
            <a:spLocks xmlns:a="http://schemas.openxmlformats.org/drawingml/2006/main" noGrp="1"/>
          </p:cNvSpPr>
          <p:nvPr/>
        </p:nvSpPr>
        <p:spPr>
          <a:xfrm xmlns:a="http://schemas.openxmlformats.org/drawingml/2006/main">
            <a:off x="33337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AC2254"/>
                </a:solidFill>
              </a:defRPr>
            </a:pPr>
            <a:r>
              <a:rPr sz="1650" b="1">
                <a:solidFill>
                  <a:srgbClr val="AC2254"/>
                </a:solidFill>
              </a:rPr>
              <a:t>SELECT</a:t>
            </a:r>
          </a:p>
        </p:txBody>
      </p:sp>
      <p:sp>
        <p:nvSpPr>
          <p:cNvPr id="10" name="response-step-2">
            <a:extLst xmlns:a="http://schemas.openxmlformats.org/drawingml/2006/main">
              <a:ext uri="{FF2B5EF4-FFF2-40B4-BE49-F238E27FC236}">
                <a16:creationId xmlns:a16="http://schemas.microsoft.com/office/drawing/2014/main" id="{6A14FF27-BE49-46E5-AB25-8093F9301404}"/>
              </a:ext>
            </a:extLst>
          </p:cNvPr>
          <p:cNvSpPr>
            <a:spLocks xmlns:a="http://schemas.openxmlformats.org/drawingml/2006/main" noGrp="1"/>
          </p:cNvSpPr>
          <p:nvPr/>
        </p:nvSpPr>
        <p:spPr>
          <a:xfrm xmlns:a="http://schemas.openxmlformats.org/drawingml/2006/main">
            <a:off x="33337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theory and project evidence that answers it.</a:t>
            </a:r>
          </a:p>
        </p:txBody>
      </p:sp>
      <p:sp>
        <p:nvSpPr>
          <p:cNvPr id="11" name="response-arrow-2">
            <a:extLst xmlns:a="http://schemas.openxmlformats.org/drawingml/2006/main">
              <a:ext uri="{FF2B5EF4-FFF2-40B4-BE49-F238E27FC236}">
                <a16:creationId xmlns:a16="http://schemas.microsoft.com/office/drawing/2014/main" id="{373BF105-0E38-483F-830D-F5D2B778B27B}"/>
              </a:ext>
            </a:extLst>
          </p:cNvPr>
          <p:cNvSpPr>
            <a:spLocks xmlns:a="http://schemas.openxmlformats.org/drawingml/2006/main" noGrp="1"/>
          </p:cNvSpPr>
          <p:nvPr/>
        </p:nvSpPr>
        <p:spPr>
          <a:xfrm xmlns:a="http://schemas.openxmlformats.org/drawingml/2006/main">
            <a:off x="566737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2" name="response-number-3">
            <a:extLst xmlns:a="http://schemas.openxmlformats.org/drawingml/2006/main">
              <a:ext uri="{FF2B5EF4-FFF2-40B4-BE49-F238E27FC236}">
                <a16:creationId xmlns:a16="http://schemas.microsoft.com/office/drawing/2014/main" id="{3DCBAE48-E947-43E5-999F-4F7760ED815F}"/>
              </a:ext>
            </a:extLst>
          </p:cNvPr>
          <p:cNvSpPr>
            <a:spLocks xmlns:a="http://schemas.openxmlformats.org/drawingml/2006/main" noGrp="1"/>
          </p:cNvSpPr>
          <p:nvPr/>
        </p:nvSpPr>
        <p:spPr>
          <a:xfrm xmlns:a="http://schemas.openxmlformats.org/drawingml/2006/main">
            <a:off x="60579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D6A238"/>
                </a:solidFill>
              </a:defRPr>
            </a:pPr>
            <a:r>
              <a:rPr sz="2700" b="1">
                <a:solidFill>
                  <a:srgbClr val="D6A238"/>
                </a:solidFill>
              </a:rPr>
              <a:t>3</a:t>
            </a:r>
          </a:p>
        </p:txBody>
      </p:sp>
      <p:sp>
        <p:nvSpPr>
          <p:cNvPr id="13" name="response-label-3">
            <a:extLst xmlns:a="http://schemas.openxmlformats.org/drawingml/2006/main">
              <a:ext uri="{FF2B5EF4-FFF2-40B4-BE49-F238E27FC236}">
                <a16:creationId xmlns:a16="http://schemas.microsoft.com/office/drawing/2014/main" id="{086B224A-FE1F-40D5-AEFA-6501D5792F1E}"/>
              </a:ext>
            </a:extLst>
          </p:cNvPr>
          <p:cNvSpPr>
            <a:spLocks xmlns:a="http://schemas.openxmlformats.org/drawingml/2006/main" noGrp="1"/>
          </p:cNvSpPr>
          <p:nvPr/>
        </p:nvSpPr>
        <p:spPr>
          <a:xfrm xmlns:a="http://schemas.openxmlformats.org/drawingml/2006/main">
            <a:off x="60579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6A238"/>
                </a:solidFill>
              </a:defRPr>
            </a:pPr>
            <a:r>
              <a:rPr sz="1650" b="1">
                <a:solidFill>
                  <a:srgbClr val="D6A238"/>
                </a:solidFill>
              </a:rPr>
              <a:t>EXPLAIN</a:t>
            </a:r>
          </a:p>
        </p:txBody>
      </p:sp>
      <p:sp>
        <p:nvSpPr>
          <p:cNvPr id="14" name="response-step-3">
            <a:extLst xmlns:a="http://schemas.openxmlformats.org/drawingml/2006/main">
              <a:ext uri="{FF2B5EF4-FFF2-40B4-BE49-F238E27FC236}">
                <a16:creationId xmlns:a16="http://schemas.microsoft.com/office/drawing/2014/main" id="{F30FC4B3-CA1E-4ECD-80BC-336CEF899DDB}"/>
              </a:ext>
            </a:extLst>
          </p:cNvPr>
          <p:cNvSpPr>
            <a:spLocks xmlns:a="http://schemas.openxmlformats.org/drawingml/2006/main" noGrp="1"/>
          </p:cNvSpPr>
          <p:nvPr/>
        </p:nvSpPr>
        <p:spPr>
          <a:xfrm xmlns:a="http://schemas.openxmlformats.org/drawingml/2006/main">
            <a:off x="60579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Connect the evidence to a reason, effect or judgement.</a:t>
            </a:r>
          </a:p>
        </p:txBody>
      </p:sp>
      <p:sp>
        <p:nvSpPr>
          <p:cNvPr id="15" name="response-arrow-3">
            <a:extLst xmlns:a="http://schemas.openxmlformats.org/drawingml/2006/main">
              <a:ext uri="{FF2B5EF4-FFF2-40B4-BE49-F238E27FC236}">
                <a16:creationId xmlns:a16="http://schemas.microsoft.com/office/drawing/2014/main" id="{C152BB29-75EB-45AE-A92C-2F7CED672FD7}"/>
              </a:ext>
            </a:extLst>
          </p:cNvPr>
          <p:cNvSpPr>
            <a:spLocks xmlns:a="http://schemas.openxmlformats.org/drawingml/2006/main" noGrp="1"/>
          </p:cNvSpPr>
          <p:nvPr/>
        </p:nvSpPr>
        <p:spPr>
          <a:xfrm xmlns:a="http://schemas.openxmlformats.org/drawingml/2006/main">
            <a:off x="83915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6" name="response-number-4">
            <a:extLst xmlns:a="http://schemas.openxmlformats.org/drawingml/2006/main">
              <a:ext uri="{FF2B5EF4-FFF2-40B4-BE49-F238E27FC236}">
                <a16:creationId xmlns:a16="http://schemas.microsoft.com/office/drawing/2014/main" id="{63E411DB-C0E1-4EB6-B618-B7026A3B1460}"/>
              </a:ext>
            </a:extLst>
          </p:cNvPr>
          <p:cNvSpPr>
            <a:spLocks xmlns:a="http://schemas.openxmlformats.org/drawingml/2006/main" noGrp="1"/>
          </p:cNvSpPr>
          <p:nvPr/>
        </p:nvSpPr>
        <p:spPr>
          <a:xfrm xmlns:a="http://schemas.openxmlformats.org/drawingml/2006/main">
            <a:off x="87820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226A61"/>
                </a:solidFill>
              </a:defRPr>
            </a:pPr>
            <a:r>
              <a:rPr sz="2700" b="1">
                <a:solidFill>
                  <a:srgbClr val="226A61"/>
                </a:solidFill>
              </a:rPr>
              <a:t>4</a:t>
            </a:r>
          </a:p>
        </p:txBody>
      </p:sp>
      <p:sp>
        <p:nvSpPr>
          <p:cNvPr id="17" name="response-label-4">
            <a:extLst xmlns:a="http://schemas.openxmlformats.org/drawingml/2006/main">
              <a:ext uri="{FF2B5EF4-FFF2-40B4-BE49-F238E27FC236}">
                <a16:creationId xmlns:a16="http://schemas.microsoft.com/office/drawing/2014/main" id="{A5D059ED-845C-420C-9B21-B58AEF2F5B18}"/>
              </a:ext>
            </a:extLst>
          </p:cNvPr>
          <p:cNvSpPr>
            <a:spLocks xmlns:a="http://schemas.openxmlformats.org/drawingml/2006/main" noGrp="1"/>
          </p:cNvSpPr>
          <p:nvPr/>
        </p:nvSpPr>
        <p:spPr>
          <a:xfrm xmlns:a="http://schemas.openxmlformats.org/drawingml/2006/main">
            <a:off x="87820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26A61"/>
                </a:solidFill>
              </a:defRPr>
            </a:pPr>
            <a:r>
              <a:rPr sz="1650" b="1">
                <a:solidFill>
                  <a:srgbClr val="226A61"/>
                </a:solidFill>
              </a:rPr>
              <a:t>CHECK</a:t>
            </a:r>
          </a:p>
        </p:txBody>
      </p:sp>
      <p:sp>
        <p:nvSpPr>
          <p:cNvPr id="18" name="response-step-4">
            <a:extLst xmlns:a="http://schemas.openxmlformats.org/drawingml/2006/main">
              <a:ext uri="{FF2B5EF4-FFF2-40B4-BE49-F238E27FC236}">
                <a16:creationId xmlns:a16="http://schemas.microsoft.com/office/drawing/2014/main" id="{E86F9253-5989-41EE-9367-342DA19F6932}"/>
              </a:ext>
            </a:extLst>
          </p:cNvPr>
          <p:cNvSpPr>
            <a:spLocks xmlns:a="http://schemas.openxmlformats.org/drawingml/2006/main" noGrp="1"/>
          </p:cNvSpPr>
          <p:nvPr/>
        </p:nvSpPr>
        <p:spPr>
          <a:xfrm xmlns:a="http://schemas.openxmlformats.org/drawingml/2006/main">
            <a:off x="87820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Compare the response with the two success criteria.</a:t>
            </a:r>
          </a:p>
        </p:txBody>
      </p:sp>
      <p:sp>
        <p:nvSpPr>
          <p:cNvPr id="19" name="sentence-support">
            <a:extLst xmlns:a="http://schemas.openxmlformats.org/drawingml/2006/main">
              <a:ext uri="{FF2B5EF4-FFF2-40B4-BE49-F238E27FC236}">
                <a16:creationId xmlns:a16="http://schemas.microsoft.com/office/drawing/2014/main" id="{AAD30EBA-ED1B-4FD2-94F6-7CB3FDCAC18E}"/>
              </a:ext>
            </a:extLst>
          </p:cNvPr>
          <p:cNvSpPr>
            <a:spLocks xmlns:a="http://schemas.openxmlformats.org/drawingml/2006/main" noGrp="1"/>
          </p:cNvSpPr>
          <p:nvPr/>
        </p:nvSpPr>
        <p:spPr>
          <a:xfrm xmlns:a="http://schemas.openxmlformats.org/drawingml/2006/main">
            <a:off x="609600" y="4895850"/>
            <a:ext cx="10972800" cy="1123950"/>
          </a:xfrm>
          <a:prstGeom xmlns:a="http://schemas.openxmlformats.org/drawingml/2006/main" prst="roundRect">
            <a:avLst>
              <a:gd name="adj" fmla="val 13559"/>
            </a:avLst>
          </a:prstGeom>
          <a:solidFill xmlns:a="http://schemas.openxmlformats.org/drawingml/2006/main">
            <a:srgbClr val="721735"/>
          </a:solidFill>
          <a:ln xmlns:a="http://schemas.openxmlformats.org/drawingml/2006/main" w="0">
            <a:noFill/>
            <a:prstDash val="solid"/>
          </a:ln>
        </p:spPr>
      </p:sp>
      <p:sp>
        <p:nvSpPr>
          <p:cNvPr id="20" name="sentence-support-label">
            <a:extLst xmlns:a="http://schemas.openxmlformats.org/drawingml/2006/main">
              <a:ext uri="{FF2B5EF4-FFF2-40B4-BE49-F238E27FC236}">
                <a16:creationId xmlns:a16="http://schemas.microsoft.com/office/drawing/2014/main" id="{DEF6E6BC-5733-4C34-8A80-5FB82A2F4C1E}"/>
              </a:ext>
            </a:extLst>
          </p:cNvPr>
          <p:cNvSpPr>
            <a:spLocks xmlns:a="http://schemas.openxmlformats.org/drawingml/2006/main" noGrp="1"/>
          </p:cNvSpPr>
          <p:nvPr/>
        </p:nvSpPr>
        <p:spPr>
          <a:xfrm xmlns:a="http://schemas.openxmlformats.org/drawingml/2006/main">
            <a:off x="838200" y="5086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SENTENCE SUPPORT</a:t>
            </a:r>
          </a:p>
        </p:txBody>
      </p:sp>
      <p:sp>
        <p:nvSpPr>
          <p:cNvPr id="21" name="sentence-stem">
            <a:extLst xmlns:a="http://schemas.openxmlformats.org/drawingml/2006/main">
              <a:ext uri="{FF2B5EF4-FFF2-40B4-BE49-F238E27FC236}">
                <a16:creationId xmlns:a16="http://schemas.microsoft.com/office/drawing/2014/main" id="{24C11BAF-B97C-4711-9EBA-531D81C1E530}"/>
              </a:ext>
            </a:extLst>
          </p:cNvPr>
          <p:cNvSpPr>
            <a:spLocks xmlns:a="http://schemas.openxmlformats.org/drawingml/2006/main" noGrp="1"/>
          </p:cNvSpPr>
          <p:nvPr/>
        </p:nvSpPr>
        <p:spPr>
          <a:xfrm xmlns:a="http://schemas.openxmlformats.org/drawingml/2006/main">
            <a:off x="838200" y="54387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One decision I would make is ___ because evidence from ___ shows ___. I would check it by ___.</a:t>
            </a:r>
          </a:p>
        </p:txBody>
      </p:sp>
      <p:sp>
        <p:nvSpPr>
          <p:cNvPr id="22" name="footer-module-7">
            <a:extLst xmlns:a="http://schemas.openxmlformats.org/drawingml/2006/main">
              <a:ext uri="{FF2B5EF4-FFF2-40B4-BE49-F238E27FC236}">
                <a16:creationId xmlns:a16="http://schemas.microsoft.com/office/drawing/2014/main" id="{FB1C117F-8C67-4EF4-8C82-C3499F42477C}"/>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06 · YEAR 8 TEXTILES TECHNOLOGY</a:t>
            </a:r>
          </a:p>
        </p:txBody>
      </p:sp>
      <p:sp>
        <p:nvSpPr>
          <p:cNvPr id="23" name="footer-number-7">
            <a:extLst xmlns:a="http://schemas.openxmlformats.org/drawingml/2006/main">
              <a:ext uri="{FF2B5EF4-FFF2-40B4-BE49-F238E27FC236}">
                <a16:creationId xmlns:a16="http://schemas.microsoft.com/office/drawing/2014/main" id="{D2AB8E84-E931-40A3-AF8F-84204D4EEC9C}"/>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07</a:t>
            </a:r>
          </a:p>
        </p:txBody>
      </p:sp>
    </p:spTree>
    <p:extLst>
      <p:ext uri="{BB962C8B-B14F-4D97-AF65-F5344CB8AC3E}">
        <p14:creationId xmlns:p14="http://schemas.microsoft.com/office/powerpoint/2010/main" val="1067969127"/>
      </p:ext>
    </p:extLst>
  </p:cSld>
</p:sld>
</file>

<file path=ppt/slides/slide8.xml><?xml version="1.0" encoding="utf-8"?>
<p:sld xmlns:p="http://schemas.openxmlformats.org/presentationml/2006/main">
  <p:cSld>
    <p:bg>
      <p:bgPr>
        <a:solidFill xmlns:a="http://schemas.openxmlformats.org/drawingml/2006/main">
          <a:srgbClr val="226A61"/>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F3FCB113-CB58-4EE3-94B8-5B0496AD2813}"/>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Before you leave…</a:t>
            </a:r>
          </a:p>
        </p:txBody>
      </p:sp>
      <p:sp>
        <p:nvSpPr>
          <p:cNvPr id="2" name="exit-number-1">
            <a:extLst xmlns:a="http://schemas.openxmlformats.org/drawingml/2006/main">
              <a:ext uri="{FF2B5EF4-FFF2-40B4-BE49-F238E27FC236}">
                <a16:creationId xmlns:a16="http://schemas.microsoft.com/office/drawing/2014/main" id="{3FF1B1BD-0626-4913-A721-47541BDC4F2D}"/>
              </a:ext>
            </a:extLst>
          </p:cNvPr>
          <p:cNvSpPr>
            <a:spLocks xmlns:a="http://schemas.openxmlformats.org/drawingml/2006/main" noGrp="1"/>
          </p:cNvSpPr>
          <p:nvPr/>
        </p:nvSpPr>
        <p:spPr>
          <a:xfrm xmlns:a="http://schemas.openxmlformats.org/drawingml/2006/main">
            <a:off x="666750" y="16764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1.</a:t>
            </a:r>
          </a:p>
        </p:txBody>
      </p:sp>
      <p:sp>
        <p:nvSpPr>
          <p:cNvPr id="3" name="exit-prompt-1">
            <a:extLst xmlns:a="http://schemas.openxmlformats.org/drawingml/2006/main">
              <a:ext uri="{FF2B5EF4-FFF2-40B4-BE49-F238E27FC236}">
                <a16:creationId xmlns:a16="http://schemas.microsoft.com/office/drawing/2014/main" id="{6A7CDF28-DAA2-4AA3-90C3-B9ED0A20F623}"/>
              </a:ext>
            </a:extLst>
          </p:cNvPr>
          <p:cNvSpPr>
            <a:spLocks xmlns:a="http://schemas.openxmlformats.org/drawingml/2006/main" noGrp="1"/>
          </p:cNvSpPr>
          <p:nvPr/>
        </p:nvSpPr>
        <p:spPr>
          <a:xfrm xmlns:a="http://schemas.openxmlformats.org/drawingml/2006/main">
            <a:off x="1295400" y="16764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idea I can now explain is…</a:t>
            </a:r>
          </a:p>
        </p:txBody>
      </p:sp>
      <p:sp>
        <p:nvSpPr>
          <p:cNvPr id="4" name="exit-rule-1">
            <a:extLst xmlns:a="http://schemas.openxmlformats.org/drawingml/2006/main">
              <a:ext uri="{FF2B5EF4-FFF2-40B4-BE49-F238E27FC236}">
                <a16:creationId xmlns:a16="http://schemas.microsoft.com/office/drawing/2014/main" id="{E595860F-AD74-4AB1-8530-9E72A4C190D7}"/>
              </a:ext>
            </a:extLst>
          </p:cNvPr>
          <p:cNvSpPr>
            <a:spLocks xmlns:a="http://schemas.openxmlformats.org/drawingml/2006/main" noGrp="1"/>
          </p:cNvSpPr>
          <p:nvPr/>
        </p:nvSpPr>
        <p:spPr>
          <a:xfrm xmlns:a="http://schemas.openxmlformats.org/drawingml/2006/main">
            <a:off x="1295400" y="219075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5" name="exit-number-2">
            <a:extLst xmlns:a="http://schemas.openxmlformats.org/drawingml/2006/main">
              <a:ext uri="{FF2B5EF4-FFF2-40B4-BE49-F238E27FC236}">
                <a16:creationId xmlns:a16="http://schemas.microsoft.com/office/drawing/2014/main" id="{3324B7F1-CC2C-4048-977D-18C84200E49E}"/>
              </a:ext>
            </a:extLst>
          </p:cNvPr>
          <p:cNvSpPr>
            <a:spLocks xmlns:a="http://schemas.openxmlformats.org/drawingml/2006/main" noGrp="1"/>
          </p:cNvSpPr>
          <p:nvPr/>
        </p:nvSpPr>
        <p:spPr>
          <a:xfrm xmlns:a="http://schemas.openxmlformats.org/drawingml/2006/main">
            <a:off x="666750" y="26765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2.</a:t>
            </a:r>
          </a:p>
        </p:txBody>
      </p:sp>
      <p:sp>
        <p:nvSpPr>
          <p:cNvPr id="6" name="exit-prompt-2">
            <a:extLst xmlns:a="http://schemas.openxmlformats.org/drawingml/2006/main">
              <a:ext uri="{FF2B5EF4-FFF2-40B4-BE49-F238E27FC236}">
                <a16:creationId xmlns:a16="http://schemas.microsoft.com/office/drawing/2014/main" id="{617C9821-2143-4ADC-83E5-455C9633D7C8}"/>
              </a:ext>
            </a:extLst>
          </p:cNvPr>
          <p:cNvSpPr>
            <a:spLocks xmlns:a="http://schemas.openxmlformats.org/drawingml/2006/main" noGrp="1"/>
          </p:cNvSpPr>
          <p:nvPr/>
        </p:nvSpPr>
        <p:spPr>
          <a:xfrm xmlns:a="http://schemas.openxmlformats.org/drawingml/2006/main">
            <a:off x="1295400" y="26765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practical or design decision this changes is…</a:t>
            </a:r>
          </a:p>
        </p:txBody>
      </p:sp>
      <p:sp>
        <p:nvSpPr>
          <p:cNvPr id="7" name="exit-rule-2">
            <a:extLst xmlns:a="http://schemas.openxmlformats.org/drawingml/2006/main">
              <a:ext uri="{FF2B5EF4-FFF2-40B4-BE49-F238E27FC236}">
                <a16:creationId xmlns:a16="http://schemas.microsoft.com/office/drawing/2014/main" id="{08AC20C0-DB31-4705-AA23-3D60BC6EFFE6}"/>
              </a:ext>
            </a:extLst>
          </p:cNvPr>
          <p:cNvSpPr>
            <a:spLocks xmlns:a="http://schemas.openxmlformats.org/drawingml/2006/main" noGrp="1"/>
          </p:cNvSpPr>
          <p:nvPr/>
        </p:nvSpPr>
        <p:spPr>
          <a:xfrm xmlns:a="http://schemas.openxmlformats.org/drawingml/2006/main">
            <a:off x="1295400" y="3190875"/>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8" name="exit-number-3">
            <a:extLst xmlns:a="http://schemas.openxmlformats.org/drawingml/2006/main">
              <a:ext uri="{FF2B5EF4-FFF2-40B4-BE49-F238E27FC236}">
                <a16:creationId xmlns:a16="http://schemas.microsoft.com/office/drawing/2014/main" id="{1E694D56-B156-4AE3-B61C-3FBA81CAA5F2}"/>
              </a:ext>
            </a:extLst>
          </p:cNvPr>
          <p:cNvSpPr>
            <a:spLocks xmlns:a="http://schemas.openxmlformats.org/drawingml/2006/main" noGrp="1"/>
          </p:cNvSpPr>
          <p:nvPr/>
        </p:nvSpPr>
        <p:spPr>
          <a:xfrm xmlns:a="http://schemas.openxmlformats.org/drawingml/2006/main">
            <a:off x="666750" y="36766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3.</a:t>
            </a:r>
          </a:p>
        </p:txBody>
      </p:sp>
      <p:sp>
        <p:nvSpPr>
          <p:cNvPr id="9" name="exit-prompt-3">
            <a:extLst xmlns:a="http://schemas.openxmlformats.org/drawingml/2006/main">
              <a:ext uri="{FF2B5EF4-FFF2-40B4-BE49-F238E27FC236}">
                <a16:creationId xmlns:a16="http://schemas.microsoft.com/office/drawing/2014/main" id="{6E175B5E-071F-4201-BAE6-9C032B31467C}"/>
              </a:ext>
            </a:extLst>
          </p:cNvPr>
          <p:cNvSpPr>
            <a:spLocks xmlns:a="http://schemas.openxmlformats.org/drawingml/2006/main" noGrp="1"/>
          </p:cNvSpPr>
          <p:nvPr/>
        </p:nvSpPr>
        <p:spPr>
          <a:xfrm xmlns:a="http://schemas.openxmlformats.org/drawingml/2006/main">
            <a:off x="1295400" y="36766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question or check I still need is…</a:t>
            </a:r>
          </a:p>
        </p:txBody>
      </p:sp>
      <p:sp>
        <p:nvSpPr>
          <p:cNvPr id="10" name="exit-rule-3">
            <a:extLst xmlns:a="http://schemas.openxmlformats.org/drawingml/2006/main">
              <a:ext uri="{FF2B5EF4-FFF2-40B4-BE49-F238E27FC236}">
                <a16:creationId xmlns:a16="http://schemas.microsoft.com/office/drawing/2014/main" id="{B485E8B9-039B-42A9-9F1E-F7B5816B2EDA}"/>
              </a:ext>
            </a:extLst>
          </p:cNvPr>
          <p:cNvSpPr>
            <a:spLocks xmlns:a="http://schemas.openxmlformats.org/drawingml/2006/main" noGrp="1"/>
          </p:cNvSpPr>
          <p:nvPr/>
        </p:nvSpPr>
        <p:spPr>
          <a:xfrm xmlns:a="http://schemas.openxmlformats.org/drawingml/2006/main">
            <a:off x="1295400" y="419100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11" name="evidence-destination">
            <a:extLst xmlns:a="http://schemas.openxmlformats.org/drawingml/2006/main">
              <a:ext uri="{FF2B5EF4-FFF2-40B4-BE49-F238E27FC236}">
                <a16:creationId xmlns:a16="http://schemas.microsoft.com/office/drawing/2014/main" id="{D4E350ED-1A9B-4758-881D-FF6770EB1E25}"/>
              </a:ext>
            </a:extLst>
          </p:cNvPr>
          <p:cNvSpPr>
            <a:spLocks xmlns:a="http://schemas.openxmlformats.org/drawingml/2006/main" noGrp="1"/>
          </p:cNvSpPr>
          <p:nvPr/>
        </p:nvSpPr>
        <p:spPr>
          <a:xfrm xmlns:a="http://schemas.openxmlformats.org/drawingml/2006/main">
            <a:off x="609600" y="4819650"/>
            <a:ext cx="8572500" cy="990600"/>
          </a:xfrm>
          <a:prstGeom xmlns:a="http://schemas.openxmlformats.org/drawingml/2006/main" prst="roundRect">
            <a:avLst>
              <a:gd name="adj" fmla="val 15385"/>
            </a:avLst>
          </a:prstGeom>
          <a:solidFill xmlns:a="http://schemas.openxmlformats.org/drawingml/2006/main">
            <a:srgbClr val="2A101C"/>
          </a:solidFill>
          <a:ln xmlns:a="http://schemas.openxmlformats.org/drawingml/2006/main" w="0">
            <a:noFill/>
            <a:prstDash val="solid"/>
          </a:ln>
        </p:spPr>
      </p:sp>
      <p:sp>
        <p:nvSpPr>
          <p:cNvPr id="12" name="evidence-label">
            <a:extLst xmlns:a="http://schemas.openxmlformats.org/drawingml/2006/main">
              <a:ext uri="{FF2B5EF4-FFF2-40B4-BE49-F238E27FC236}">
                <a16:creationId xmlns:a16="http://schemas.microsoft.com/office/drawing/2014/main" id="{96EB0DA9-4579-487C-8220-FD019C975D24}"/>
              </a:ext>
            </a:extLst>
          </p:cNvPr>
          <p:cNvSpPr>
            <a:spLocks xmlns:a="http://schemas.openxmlformats.org/drawingml/2006/main" noGrp="1"/>
          </p:cNvSpPr>
          <p:nvPr/>
        </p:nvSpPr>
        <p:spPr>
          <a:xfrm xmlns:a="http://schemas.openxmlformats.org/drawingml/2006/main">
            <a:off x="838200" y="5010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EVIDENCE DESTINATION</a:t>
            </a:r>
          </a:p>
        </p:txBody>
      </p:sp>
      <p:sp>
        <p:nvSpPr>
          <p:cNvPr id="13" name="evidence-copy">
            <a:extLst xmlns:a="http://schemas.openxmlformats.org/drawingml/2006/main">
              <a:ext uri="{FF2B5EF4-FFF2-40B4-BE49-F238E27FC236}">
                <a16:creationId xmlns:a16="http://schemas.microsoft.com/office/drawing/2014/main" id="{65DE7E71-68B1-4F0A-96AC-AC22747BFB79}"/>
              </a:ext>
            </a:extLst>
          </p:cNvPr>
          <p:cNvSpPr>
            <a:spLocks xmlns:a="http://schemas.openxmlformats.org/drawingml/2006/main" noGrp="1"/>
          </p:cNvSpPr>
          <p:nvPr/>
        </p:nvSpPr>
        <p:spPr>
          <a:xfrm xmlns:a="http://schemas.openxmlformats.org/drawingml/2006/main">
            <a:off x="838200" y="53435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Complete the three learning packages and save your response on this module page.</a:t>
            </a:r>
          </a:p>
        </p:txBody>
      </p:sp>
      <p:sp>
        <p:nvSpPr>
          <p:cNvPr id="14" name="save-work-circle">
            <a:extLst xmlns:a="http://schemas.openxmlformats.org/drawingml/2006/main">
              <a:ext uri="{FF2B5EF4-FFF2-40B4-BE49-F238E27FC236}">
                <a16:creationId xmlns:a16="http://schemas.microsoft.com/office/drawing/2014/main" id="{E008DB5C-C103-4334-9121-244CD64F13A9}"/>
              </a:ext>
            </a:extLst>
          </p:cNvPr>
          <p:cNvSpPr>
            <a:spLocks xmlns:a="http://schemas.openxmlformats.org/drawingml/2006/main" noGrp="1"/>
          </p:cNvSpPr>
          <p:nvPr/>
        </p:nvSpPr>
        <p:spPr>
          <a:xfrm xmlns:a="http://schemas.openxmlformats.org/drawingml/2006/main">
            <a:off x="9810750" y="2038350"/>
            <a:ext cx="1428750" cy="142875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15" name="save-work-text">
            <a:extLst xmlns:a="http://schemas.openxmlformats.org/drawingml/2006/main">
              <a:ext uri="{FF2B5EF4-FFF2-40B4-BE49-F238E27FC236}">
                <a16:creationId xmlns:a16="http://schemas.microsoft.com/office/drawing/2014/main" id="{7E52CD64-BD2F-4907-8269-87DF8C11E34C}"/>
              </a:ext>
            </a:extLst>
          </p:cNvPr>
          <p:cNvSpPr>
            <a:spLocks xmlns:a="http://schemas.openxmlformats.org/drawingml/2006/main" noGrp="1"/>
          </p:cNvSpPr>
          <p:nvPr/>
        </p:nvSpPr>
        <p:spPr>
          <a:xfrm xmlns:a="http://schemas.openxmlformats.org/drawingml/2006/main">
            <a:off x="10039350" y="2333625"/>
            <a:ext cx="971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A101C"/>
                </a:solidFill>
              </a:defRPr>
            </a:pPr>
            <a:r>
              <a:rPr sz="1650" b="1">
                <a:solidFill>
                  <a:srgbClr val="2A101C"/>
                </a:solidFill>
              </a:rPr>
              <a:t>SAVE</a:t>
            </a:r>
          </a:p>
          <a:p xmlns:a="http://schemas.openxmlformats.org/drawingml/2006/main">
            <a:pPr algn="ctr">
              <a:defRPr sz="1650" b="1">
                <a:solidFill>
                  <a:srgbClr val="2A101C"/>
                </a:solidFill>
              </a:defRPr>
            </a:pPr>
            <a:r>
              <a:rPr sz="1650" b="1">
                <a:solidFill>
                  <a:srgbClr val="2A101C"/>
                </a:solidFill>
              </a:rPr>
              <a:t>YOUR</a:t>
            </a:r>
          </a:p>
          <a:p xmlns:a="http://schemas.openxmlformats.org/drawingml/2006/main">
            <a:pPr algn="ctr">
              <a:defRPr sz="1650" b="1">
                <a:solidFill>
                  <a:srgbClr val="2A101C"/>
                </a:solidFill>
              </a:defRPr>
            </a:pPr>
            <a:r>
              <a:rPr sz="1650" b="1">
                <a:solidFill>
                  <a:srgbClr val="2A101C"/>
                </a:solidFill>
              </a:rPr>
              <a:t>WORK</a:t>
            </a:r>
          </a:p>
        </p:txBody>
      </p:sp>
      <p:sp>
        <p:nvSpPr>
          <p:cNvPr id="16" name="next-step">
            <a:extLst xmlns:a="http://schemas.openxmlformats.org/drawingml/2006/main">
              <a:ext uri="{FF2B5EF4-FFF2-40B4-BE49-F238E27FC236}">
                <a16:creationId xmlns:a16="http://schemas.microsoft.com/office/drawing/2014/main" id="{9CACF67F-2086-44A8-808C-0C07B2CEEE59}"/>
              </a:ext>
            </a:extLst>
          </p:cNvPr>
          <p:cNvSpPr>
            <a:spLocks xmlns:a="http://schemas.openxmlformats.org/drawingml/2006/main" noGrp="1"/>
          </p:cNvSpPr>
          <p:nvPr/>
        </p:nvSpPr>
        <p:spPr>
          <a:xfrm xmlns:a="http://schemas.openxmlformats.org/drawingml/2006/main">
            <a:off x="609600" y="60579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Next: Commercial Patterns</a:t>
            </a:r>
          </a:p>
        </p:txBody>
      </p:sp>
      <p:sp>
        <p:nvSpPr>
          <p:cNvPr id="17" name="footer-module-8">
            <a:extLst xmlns:a="http://schemas.openxmlformats.org/drawingml/2006/main">
              <a:ext uri="{FF2B5EF4-FFF2-40B4-BE49-F238E27FC236}">
                <a16:creationId xmlns:a16="http://schemas.microsoft.com/office/drawing/2014/main" id="{FE8AB765-9D81-4355-9D4E-3E030FFACEB7}"/>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06 · YEAR 8 TEXTILES TECHNOLOGY</a:t>
            </a:r>
          </a:p>
        </p:txBody>
      </p:sp>
      <p:sp>
        <p:nvSpPr>
          <p:cNvPr id="18" name="footer-number-8">
            <a:extLst xmlns:a="http://schemas.openxmlformats.org/drawingml/2006/main">
              <a:ext uri="{FF2B5EF4-FFF2-40B4-BE49-F238E27FC236}">
                <a16:creationId xmlns:a16="http://schemas.microsoft.com/office/drawing/2014/main" id="{7AA7BCEC-2277-4BE3-8047-59C0DBB1C0AF}"/>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08</a:t>
            </a:r>
          </a:p>
        </p:txBody>
      </p:sp>
    </p:spTree>
    <p:extLst>
      <p:ext uri="{BB962C8B-B14F-4D97-AF65-F5344CB8AC3E}">
        <p14:creationId xmlns:p14="http://schemas.microsoft.com/office/powerpoint/2010/main" val="11962989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2026-08-27T11:20:25.9740000Z</dcterms:created>
  <dcterms:modified xsi:type="dcterms:W3CDTF">2026-08-27T11:20:25.9740000Z</dcterms:modified>
</coreProperties>
</file>