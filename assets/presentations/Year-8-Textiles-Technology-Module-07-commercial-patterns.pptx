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aeb1f0b7eaa43cd" /><Relationship Type="http://schemas.openxmlformats.org/officeDocument/2006/relationships/extended-properties" Target="/docProps/app.xml" Id="Re747b33405bf41fa" /><Relationship Type="http://schemas.openxmlformats.org/officeDocument/2006/relationships/officeDocument" Target="/ppt/presentation.xml" Id="R5824cceace374cf9" /></Relationships>
</file>

<file path=ppt/presentation.xml><?xml version="1.0" encoding="utf-8"?>
<p:presentation xmlns:p="http://schemas.openxmlformats.org/presentationml/2006/main">
  <p:sldMasterIdLst>
    <p:sldMasterId xmlns:r="http://schemas.openxmlformats.org/officeDocument/2006/relationships" id="2147483648" r:id="Rbd71b93013ef450a"/>
  </p:sldMasterIdLst>
  <p:notesMasterIdLst>
    <p:notesMasterId xmlns:r="http://schemas.openxmlformats.org/officeDocument/2006/relationships" r:id="Rcdd6ead1c9ed46b4"/>
  </p:notesMasterIdLst>
  <p:sldIdLst>
    <p:sldId xmlns:r="http://schemas.openxmlformats.org/officeDocument/2006/relationships" id="256" r:id="Rdf72df73d2394dbe"/>
    <p:sldId xmlns:r="http://schemas.openxmlformats.org/officeDocument/2006/relationships" id="257" r:id="R04f709e9a4f340a2"/>
    <p:sldId xmlns:r="http://schemas.openxmlformats.org/officeDocument/2006/relationships" id="258" r:id="Rfd6882f528cf4bf2"/>
    <p:sldId xmlns:r="http://schemas.openxmlformats.org/officeDocument/2006/relationships" id="259" r:id="R411d86c3d4b74dd0"/>
    <p:sldId xmlns:r="http://schemas.openxmlformats.org/officeDocument/2006/relationships" id="260" r:id="R94fa2c0ad25941d2"/>
    <p:sldId xmlns:r="http://schemas.openxmlformats.org/officeDocument/2006/relationships" id="261" r:id="R3aeb14c37cda444c"/>
    <p:sldId xmlns:r="http://schemas.openxmlformats.org/officeDocument/2006/relationships" id="262" r:id="R615e1e45fa6b4e24"/>
    <p:sldId xmlns:r="http://schemas.openxmlformats.org/officeDocument/2006/relationships" id="263" r:id="Rdd9e22ffaac649f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aef54ae390a4629" /><Relationship Type="http://schemas.openxmlformats.org/officeDocument/2006/relationships/slideMaster" Target="/ppt/slideMasters/slideMaster1.xml" Id="Rbd71b93013ef450a" /><Relationship Type="http://schemas.openxmlformats.org/officeDocument/2006/relationships/notesMaster" Target="/ppt/notesMasters/notesMaster1.xml" Id="Rcdd6ead1c9ed46b4" /><Relationship Type="http://schemas.openxmlformats.org/officeDocument/2006/relationships/presProps" Target="/ppt/presProps.xml" Id="R7add021555334cbc" /><Relationship Type="http://schemas.openxmlformats.org/officeDocument/2006/relationships/tableStyles" Target="/ppt/tableStyles.xml" Id="Rb4b6d2c740674f4b" /><Relationship Type="http://schemas.openxmlformats.org/officeDocument/2006/relationships/slide" Target="/ppt/slides/slide1.xml" Id="Rdf72df73d2394dbe" /><Relationship Type="http://schemas.openxmlformats.org/officeDocument/2006/relationships/slide" Target="/ppt/slides/slide2.xml" Id="R04f709e9a4f340a2" /><Relationship Type="http://schemas.openxmlformats.org/officeDocument/2006/relationships/slide" Target="/ppt/slides/slide3.xml" Id="Rfd6882f528cf4bf2" /><Relationship Type="http://schemas.openxmlformats.org/officeDocument/2006/relationships/slide" Target="/ppt/slides/slide4.xml" Id="R411d86c3d4b74dd0" /><Relationship Type="http://schemas.openxmlformats.org/officeDocument/2006/relationships/slide" Target="/ppt/slides/slide5.xml" Id="R94fa2c0ad25941d2" /><Relationship Type="http://schemas.openxmlformats.org/officeDocument/2006/relationships/slide" Target="/ppt/slides/slide6.xml" Id="R3aeb14c37cda444c" /><Relationship Type="http://schemas.openxmlformats.org/officeDocument/2006/relationships/slide" Target="/ppt/slides/slide7.xml" Id="R615e1e45fa6b4e24" /><Relationship Type="http://schemas.openxmlformats.org/officeDocument/2006/relationships/slide" Target="/ppt/slides/slide8.xml" Id="Rdd9e22ffaac649f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9498e65fee6459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f6270e4fb08432b" /><Relationship Type="http://schemas.openxmlformats.org/officeDocument/2006/relationships/notesMaster" Target="/ppt/notesMasters/notesMaster1.xml" Id="Ra6fa4b064b09459b" /></Relationships>
</file>

<file path=ppt/notesSlides/_rels/notesSlide2.xml.rels>&#65279;<?xml version="1.0" encoding="utf-8"?><Relationships xmlns="http://schemas.openxmlformats.org/package/2006/relationships"><Relationship Type="http://schemas.openxmlformats.org/officeDocument/2006/relationships/slide" Target="/ppt/slides/slide2.xml" Id="Rc862916c669e44cd" /><Relationship Type="http://schemas.openxmlformats.org/officeDocument/2006/relationships/notesMaster" Target="/ppt/notesMasters/notesMaster1.xml" Id="Re06f73d0181746f2" /></Relationships>
</file>

<file path=ppt/notesSlides/_rels/notesSlide3.xml.rels>&#65279;<?xml version="1.0" encoding="utf-8"?><Relationships xmlns="http://schemas.openxmlformats.org/package/2006/relationships"><Relationship Type="http://schemas.openxmlformats.org/officeDocument/2006/relationships/slide" Target="/ppt/slides/slide3.xml" Id="Rba3187ff8f834d3a" /><Relationship Type="http://schemas.openxmlformats.org/officeDocument/2006/relationships/notesMaster" Target="/ppt/notesMasters/notesMaster1.xml" Id="R408506e568ee4283" /></Relationships>
</file>

<file path=ppt/notesSlides/_rels/notesSlide4.xml.rels>&#65279;<?xml version="1.0" encoding="utf-8"?><Relationships xmlns="http://schemas.openxmlformats.org/package/2006/relationships"><Relationship Type="http://schemas.openxmlformats.org/officeDocument/2006/relationships/slide" Target="/ppt/slides/slide4.xml" Id="R157218dead52439d" /><Relationship Type="http://schemas.openxmlformats.org/officeDocument/2006/relationships/notesMaster" Target="/ppt/notesMasters/notesMaster1.xml" Id="R6faa6eedcd794852" /></Relationships>
</file>

<file path=ppt/notesSlides/_rels/notesSlide5.xml.rels>&#65279;<?xml version="1.0" encoding="utf-8"?><Relationships xmlns="http://schemas.openxmlformats.org/package/2006/relationships"><Relationship Type="http://schemas.openxmlformats.org/officeDocument/2006/relationships/slide" Target="/ppt/slides/slide5.xml" Id="Rfbb56eebe94747af" /><Relationship Type="http://schemas.openxmlformats.org/officeDocument/2006/relationships/notesMaster" Target="/ppt/notesMasters/notesMaster1.xml" Id="R2fcb29c2cfac4c12" /></Relationships>
</file>

<file path=ppt/notesSlides/_rels/notesSlide6.xml.rels>&#65279;<?xml version="1.0" encoding="utf-8"?><Relationships xmlns="http://schemas.openxmlformats.org/package/2006/relationships"><Relationship Type="http://schemas.openxmlformats.org/officeDocument/2006/relationships/slide" Target="/ppt/slides/slide6.xml" Id="Rbcee591483d04899" /><Relationship Type="http://schemas.openxmlformats.org/officeDocument/2006/relationships/notesMaster" Target="/ppt/notesMasters/notesMaster1.xml" Id="R8ae480894c664d46" /></Relationships>
</file>

<file path=ppt/notesSlides/_rels/notesSlide7.xml.rels>&#65279;<?xml version="1.0" encoding="utf-8"?><Relationships xmlns="http://schemas.openxmlformats.org/package/2006/relationships"><Relationship Type="http://schemas.openxmlformats.org/officeDocument/2006/relationships/slide" Target="/ppt/slides/slide7.xml" Id="R6b16134b71394617" /><Relationship Type="http://schemas.openxmlformats.org/officeDocument/2006/relationships/notesMaster" Target="/ppt/notesMasters/notesMaster1.xml" Id="Ra8260abb6e12478f" /></Relationships>
</file>

<file path=ppt/notesSlides/_rels/notesSlide8.xml.rels>&#65279;<?xml version="1.0" encoding="utf-8"?><Relationships xmlns="http://schemas.openxmlformats.org/package/2006/relationships"><Relationship Type="http://schemas.openxmlformats.org/officeDocument/2006/relationships/slide" Target="/ppt/slides/slide8.xml" Id="R295b0f7271774d41" /><Relationship Type="http://schemas.openxmlformats.org/officeDocument/2006/relationships/notesMaster" Target="/ppt/notesMasters/notesMaster1.xml" Id="R83e49d8e03fb41a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Talking points</a:t>
            </a:r>
          </a:p>
          <a:p xmlns:a="http://schemas.openxmlformats.org/drawingml/2006/main">
            <a:r>
              <a:t>- Introduce Commercial Patterns as a connected set of three ideas, not three isolated worksheets.</a:t>
            </a:r>
          </a:p>
          <a:p xmlns:a="http://schemas.openxmlformats.org/drawingml/2006/main">
            <a:r>
              <a:t>- Read the outcome aloud and link it to the current project stage.</a:t>
            </a:r>
          </a:p>
          <a:p xmlns:a="http://schemas.openxmlformats.org/drawingml/2006/main">
            <a:r>
              <a:t>- Keep local machine, pattern, safety and assessment details within the current teacher demonstration and authorised class documents.</a:t>
            </a:r>
          </a:p>
          <a:p xmlns:a="http://schemas.openxmlformats.org/drawingml/2006/main">
            <a:r>
              <a:t/>
            </a:r>
          </a:p>
          <a:p xmlns:a="http://schemas.openxmlformats.org/drawingml/2006/main">
            <a:r>
              <a:t>Prompt: Which word in the outcome tells us what evidence we need to produce?</a:t>
            </a:r>
          </a:p>
          <a:p xmlns:a="http://schemas.openxmlformats.org/drawingml/2006/main">
            <a:r>
              <a:t>Likely misconception: Finishing a slide deck is the evidence; the evidence is the student's explanation and project decision.</a:t>
            </a:r>
          </a:p>
          <a:p xmlns:a="http://schemas.openxmlformats.org/drawingml/2006/main">
            <a:r>
              <a:t>Transition: Preview the three ideas and activate prior knowledge.</a:t>
            </a:r>
          </a:p>
          <a:p xmlns:a="http://schemas.openxmlformats.org/drawingml/2006/main">
            <a:r>
              <a:t/>
            </a:r>
          </a:p>
          <a:p xmlns:a="http://schemas.openxmlformats.org/drawingml/2006/main">
            <a:r>
              <a:t>[Sources]</a:t>
            </a:r>
          </a:p>
          <a:p xmlns:a="http://schemas.openxmlformats.org/drawingml/2006/main">
            <a:r>
              <a:t>- Course sequence: WWHS Year 8 Accessories and Shorts Textiles Technology Program 2024, as bounded by source map v1.0.</a:t>
            </a:r>
          </a:p>
          <a:p xmlns:a="http://schemas.openxmlformats.org/drawingml/2006/main">
            <a:r>
              <a:t>- Curriculum: NESA Textiles Technology 7–10 Syllabus (2025), https://curriculum.nsw.edu.au/learning-areas/tas/textiles-technology-7-10-2025/overview/course</a:t>
            </a:r>
          </a:p>
          <a:p xmlns:a="http://schemas.openxmlformats.org/drawingml/2006/main">
            <a:r>
              <a:t>- Visual: Stage 08 approved module asset module-07-commercial-patterns.png; provenance retained in the visual production manifest.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Talking points</a:t>
            </a:r>
          </a:p>
          <a:p xmlns:a="http://schemas.openxmlformats.org/drawingml/2006/main">
            <a:r>
              <a:t>- Name all three substantive sections using the exact module language.</a:t>
            </a:r>
          </a:p>
          <a:p xmlns:a="http://schemas.openxmlformats.org/drawingml/2006/main">
            <a:r>
              <a:t>- Ask students to predict where the ideas connect to current project work.</a:t>
            </a:r>
          </a:p>
          <a:p xmlns:a="http://schemas.openxmlformats.org/drawingml/2006/main">
            <a:r>
              <a:t>- Accept a tentative response, but ask what evidence supports it.</a:t>
            </a:r>
          </a:p>
          <a:p xmlns:a="http://schemas.openxmlformats.org/drawingml/2006/main">
            <a:r>
              <a:t/>
            </a:r>
          </a:p>
          <a:p xmlns:a="http://schemas.openxmlformats.org/drawingml/2006/main">
            <a:r>
              <a:t>Prompt: Which idea is most likely to change a practical or design decision today?</a:t>
            </a:r>
          </a:p>
          <a:p xmlns:a="http://schemas.openxmlformats.org/drawingml/2006/main">
            <a:r>
              <a:t>Likely misconception: The sequence means students can forget idea one after moving to idea two; the ideas need to remain connected.</a:t>
            </a:r>
          </a:p>
          <a:p xmlns:a="http://schemas.openxmlformats.org/drawingml/2006/main">
            <a:r>
              <a:t>Transition: Begin with Envelope, measurements and size choice.</a:t>
            </a:r>
          </a:p>
          <a:p xmlns:a="http://schemas.openxmlformats.org/drawingml/2006/main">
            <a:r>
              <a:t/>
            </a:r>
          </a:p>
          <a:p xmlns:a="http://schemas.openxmlformats.org/drawingml/2006/main">
            <a:r>
              <a:t>[Sources]</a:t>
            </a:r>
          </a:p>
          <a:p xmlns:a="http://schemas.openxmlformats.org/drawingml/2006/main">
            <a:r>
              <a:t>- Named section sequence: frozen Stage 01 course inventory and Year 8 Textiles theory package v1.0.</a:t>
            </a:r>
          </a:p>
          <a:p xmlns:a="http://schemas.openxmlformats.org/drawingml/2006/main">
            <a:r>
              <a:t>- Curriculum context: NESA Textiles Technology 7–10 Syllabus (2025), https://curriculum.nsw.edu.au/learning-areas/tas/textiles-technology-7-10-2025/overview/course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Talking points</a:t>
            </a:r>
          </a:p>
          <a:p xmlns:a="http://schemas.openxmlformats.org/drawingml/2006/main">
            <a:r>
              <a:t>- Develop pattern-envelope literacy and an evidence-based approach to taking measurements and selecting a size from the current pattern information.</a:t>
            </a:r>
          </a:p>
          <a:p xmlns:a="http://schemas.openxmlformats.org/drawingml/2006/main">
            <a:r>
              <a:t>- Emphasise: A pattern envelope communicates design views, sizes, material guidance, components and quantities.</a:t>
            </a:r>
          </a:p>
          <a:p xmlns:a="http://schemas.openxmlformats.org/drawingml/2006/main">
            <a:r>
              <a:t>- Connect the image to the decision: Show an original generic pattern-envelope map with information zones and a separate private-measurement decision pathway.</a:t>
            </a:r>
          </a:p>
          <a:p xmlns:a="http://schemas.openxmlformats.org/drawingml/2006/main">
            <a:r>
              <a:t/>
            </a:r>
          </a:p>
          <a:p xmlns:a="http://schemas.openxmlformats.org/drawingml/2006/main">
            <a:r>
              <a:t>Prompt: Justify a fictional starting-size decision using chart evidence and explain which uncertainty would require pattern-specific teacher direction.</a:t>
            </a:r>
          </a:p>
          <a:p xmlns:a="http://schemas.openxmlformats.org/drawingml/2006/main">
            <a:r>
              <a:t>Likely misconception: My usual shop clothing size tells me which pattern size to cut. Correction: Use the body measurements and size chart supplied with the current pattern because sizing systems differ.</a:t>
            </a:r>
          </a:p>
          <a:p xmlns:a="http://schemas.openxmlformats.org/drawingml/2006/main">
            <a:r>
              <a:t>Transition: Carry this decision into Pieces, markings and grainline.</a:t>
            </a:r>
          </a:p>
          <a:p xmlns:a="http://schemas.openxmlformats.org/drawingml/2006/main">
            <a:r>
              <a:t/>
            </a:r>
          </a:p>
          <a:p xmlns:a="http://schemas.openxmlformats.org/drawingml/2006/main">
            <a:r>
              <a:t>[Sources]</a:t>
            </a:r>
          </a:p>
          <a:p xmlns:a="http://schemas.openxmlformats.org/drawingml/2006/main">
            <a:r>
              <a:t>- Content: Year 8 Textiles theory package v1.0; source domains commercial pattern envelope; body measurement; size selection.</a:t>
            </a:r>
          </a:p>
          <a:p xmlns:a="http://schemas.openxmlformats.org/drawingml/2006/main">
            <a:r>
              <a:t>- Curriculum: NESA Textiles Technology 7–10 Syllabus (2025), https://curriculum.nsw.edu.au/learning-areas/tas/textiles-technology-7-10-2025/overview/course</a:t>
            </a:r>
          </a:p>
          <a:p xmlns:a="http://schemas.openxmlformats.org/drawingml/2006/main">
            <a:r>
              <a:t>- Outcomes context: https://curriculum.nsw.edu.au/learning-areas/tas/textiles-technology-7-10-2025/outcomes</a:t>
            </a:r>
          </a:p>
          <a:p xmlns:a="http://schemas.openxmlformats.org/drawingml/2006/main">
            <a:r>
              <a:t>- Visual: Stage 08 approved teaching asset m07-s01-envelope-size.png; provenance retained in the visual production manifest.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Talking points</a:t>
            </a:r>
          </a:p>
          <a:p xmlns:a="http://schemas.openxmlformats.org/drawingml/2006/main">
            <a:r>
              <a:t>- Teach students to interpret pattern pieces and common markings as a precise communication system while deferring exact use to the current pattern.</a:t>
            </a:r>
          </a:p>
          <a:p xmlns:a="http://schemas.openxmlformats.org/drawingml/2006/main">
            <a:r>
              <a:t>- Emphasise: Pattern-piece labels identify the part, view, quantity and other instructions.</a:t>
            </a:r>
          </a:p>
          <a:p xmlns:a="http://schemas.openxmlformats.org/drawingml/2006/main">
            <a:r>
              <a:t>- Connect the image to the decision: Use an original generic pattern piece with clear callouts for identity, view, quantity, notches, grainline, fold and transfer information.</a:t>
            </a:r>
          </a:p>
          <a:p xmlns:a="http://schemas.openxmlformats.org/drawingml/2006/main">
            <a:r>
              <a:t/>
            </a:r>
          </a:p>
          <a:p xmlns:a="http://schemas.openxmlformats.org/drawingml/2006/main">
            <a:r>
              <a:t>Prompt: Explain how piece identity, markings and grainline each protect a different part of the making process.</a:t>
            </a:r>
          </a:p>
          <a:p xmlns:a="http://schemas.openxmlformats.org/drawingml/2006/main">
            <a:r>
              <a:t>Likely misconception: If two pieces have a similar outline, either one can be used. Correction: Piece identity, view, size, quantity and markings determine whether a piece belongs to the selected design.</a:t>
            </a:r>
          </a:p>
          <a:p xmlns:a="http://schemas.openxmlformats.org/drawingml/2006/main">
            <a:r>
              <a:t>Transition: Carry this decision into Layout, quantity, cost and alterations.</a:t>
            </a:r>
          </a:p>
          <a:p xmlns:a="http://schemas.openxmlformats.org/drawingml/2006/main">
            <a:r>
              <a:t/>
            </a:r>
          </a:p>
          <a:p xmlns:a="http://schemas.openxmlformats.org/drawingml/2006/main">
            <a:r>
              <a:t>[Sources]</a:t>
            </a:r>
          </a:p>
          <a:p xmlns:a="http://schemas.openxmlformats.org/drawingml/2006/main">
            <a:r>
              <a:t>- Content: Year 8 Textiles theory package v1.0; source domains pattern piece literacy; pattern symbols; grainline and layout preparation.</a:t>
            </a:r>
          </a:p>
          <a:p xmlns:a="http://schemas.openxmlformats.org/drawingml/2006/main">
            <a:r>
              <a:t>- Curriculum: NESA Textiles Technology 7–10 Syllabus (2025), https://curriculum.nsw.edu.au/learning-areas/tas/textiles-technology-7-10-2025/overview/course</a:t>
            </a:r>
          </a:p>
          <a:p xmlns:a="http://schemas.openxmlformats.org/drawingml/2006/main">
            <a:r>
              <a:t>- Outcomes context: https://curriculum.nsw.edu.au/learning-areas/tas/textiles-technology-7-10-2025/outcomes</a:t>
            </a:r>
          </a:p>
          <a:p xmlns:a="http://schemas.openxmlformats.org/drawingml/2006/main">
            <a:r>
              <a:t>- Visual: Stage 08 approved teaching asset m07-s02-markings-grainline.png; provenance retained in the visual production manifest.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Talking points</a:t>
            </a:r>
          </a:p>
          <a:p xmlns:a="http://schemas.openxmlformats.org/drawingml/2006/main">
            <a:r>
              <a:t>- Develop careful layout and resource reasoning that connects pattern rules, fabric characteristics, quantity, cost and authorised alterations.</a:t>
            </a:r>
          </a:p>
          <a:p xmlns:a="http://schemas.openxmlformats.org/drawingml/2006/main">
            <a:r>
              <a:t>- Emphasise: A layout must first satisfy view, piece, grain, fold and material-direction requirements.</a:t>
            </a:r>
          </a:p>
          <a:p xmlns:a="http://schemas.openxmlformats.org/drawingml/2006/main">
            <a:r>
              <a:t>- Connect the image to the decision: Show two realistic mini-layouts: one compact but invalid and one compliant, with grain, direction, fold and cost evidence visible.</a:t>
            </a:r>
          </a:p>
          <a:p xmlns:a="http://schemas.openxmlformats.org/drawingml/2006/main">
            <a:r>
              <a:t/>
            </a:r>
          </a:p>
          <a:p xmlns:a="http://schemas.openxmlformats.org/drawingml/2006/main">
            <a:r>
              <a:t>Prompt: Justify a compliant layout and cost estimate, then explain how one proposed alteration could affect another pattern or resource decision.</a:t>
            </a:r>
          </a:p>
          <a:p xmlns:a="http://schemas.openxmlformats.org/drawingml/2006/main">
            <a:r>
              <a:t>Likely misconception: The layout with the least empty space is always the most sustainable. Correction: A valid layout must preserve pattern and material requirements; an incorrect piece may waste the entire project.</a:t>
            </a:r>
          </a:p>
          <a:p xmlns:a="http://schemas.openxmlformats.org/drawingml/2006/main">
            <a:r>
              <a:t>Transition: Pause for retrieval before students construct evidence.</a:t>
            </a:r>
          </a:p>
          <a:p xmlns:a="http://schemas.openxmlformats.org/drawingml/2006/main">
            <a:r>
              <a:t/>
            </a:r>
          </a:p>
          <a:p xmlns:a="http://schemas.openxmlformats.org/drawingml/2006/main">
            <a:r>
              <a:t>[Sources]</a:t>
            </a:r>
          </a:p>
          <a:p xmlns:a="http://schemas.openxmlformats.org/drawingml/2006/main">
            <a:r>
              <a:t>- Content: Year 8 Textiles theory package v1.0; source domains pattern layout; resource quantity and cost; pattern alterations.</a:t>
            </a:r>
          </a:p>
          <a:p xmlns:a="http://schemas.openxmlformats.org/drawingml/2006/main">
            <a:r>
              <a:t>- Curriculum: NESA Textiles Technology 7–10 Syllabus (2025), https://curriculum.nsw.edu.au/learning-areas/tas/textiles-technology-7-10-2025/overview/course</a:t>
            </a:r>
          </a:p>
          <a:p xmlns:a="http://schemas.openxmlformats.org/drawingml/2006/main">
            <a:r>
              <a:t>- Outcomes context: https://curriculum.nsw.edu.au/learning-areas/tas/textiles-technology-7-10-2025/outcomes</a:t>
            </a:r>
          </a:p>
          <a:p xmlns:a="http://schemas.openxmlformats.org/drawingml/2006/main">
            <a:r>
              <a:t>- Visual: Stage 08 approved teaching asset m07-s03-layout-resources.png; provenance retained in the visual production manifest.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Talking points</a:t>
            </a:r>
          </a:p>
          <a:p xmlns:a="http://schemas.openxmlformats.org/drawingml/2006/main">
            <a:r>
              <a:t>- Give silent thinking time before taking answers.</a:t>
            </a:r>
          </a:p>
          <a:p xmlns:a="http://schemas.openxmlformats.org/drawingml/2006/main">
            <a:r>
              <a:t>- Require students to correct the claim, not only label it true or false.</a:t>
            </a:r>
          </a:p>
          <a:p xmlns:a="http://schemas.openxmlformats.org/drawingml/2006/main">
            <a:r>
              <a:t>- Ask a follow-up: What evidence from slides 3–5 supports that correction?</a:t>
            </a:r>
          </a:p>
          <a:p xmlns:a="http://schemas.openxmlformats.org/drawingml/2006/main">
            <a:r>
              <a:t/>
            </a:r>
          </a:p>
          <a:p xmlns:a="http://schemas.openxmlformats.org/drawingml/2006/main">
            <a:r>
              <a:t>Prompt: Which correction becomes stronger when you use an example from your own project?</a:t>
            </a:r>
          </a:p>
          <a:p xmlns:a="http://schemas.openxmlformats.org/drawingml/2006/main">
            <a:r>
              <a:t>Likely misconception: Retrieval is guessing; retrieval should reconstruct the idea and its evidence.</a:t>
            </a:r>
          </a:p>
          <a:p xmlns:a="http://schemas.openxmlformats.org/drawingml/2006/main">
            <a:r>
              <a:t>Transition: Use the corrected ideas to build one longer piece of evidence.</a:t>
            </a:r>
          </a:p>
          <a:p xmlns:a="http://schemas.openxmlformats.org/drawingml/2006/main">
            <a:r>
              <a:t/>
            </a:r>
          </a:p>
          <a:p xmlns:a="http://schemas.openxmlformats.org/drawingml/2006/main">
            <a:r>
              <a:t>[Sources]</a:t>
            </a:r>
          </a:p>
          <a:p xmlns:a="http://schemas.openxmlformats.org/drawingml/2006/main">
            <a:r>
              <a:t>- Retrieval claims: misconceptions and corrections in the Year 8 Textiles theory package v1.0.</a:t>
            </a:r>
          </a:p>
          <a:p xmlns:a="http://schemas.openxmlformats.org/drawingml/2006/main">
            <a:r>
              <a:t>- Curriculum context: NESA Textiles Technology 7–10 Syllabus (2025), https://curriculum.nsw.edu.au/learning-areas/tas/textiles-technology-7-10-2025/overview/course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Talking points</a:t>
            </a:r>
          </a:p>
          <a:p xmlns:a="http://schemas.openxmlformats.org/drawingml/2006/main">
            <a:r>
              <a:t>- Model the four moves with one brief example, then remove the example from view.</a:t>
            </a:r>
          </a:p>
          <a:p xmlns:a="http://schemas.openxmlformats.org/drawingml/2006/main">
            <a:r>
              <a:t>- The selected evidence must answer the exact context, not merely repeat a definition.</a:t>
            </a:r>
          </a:p>
          <a:p xmlns:a="http://schemas.openxmlformats.org/drawingml/2006/main">
            <a:r>
              <a:t>- Use the sentence support as a starting structure; students may improve it in their own words.</a:t>
            </a:r>
          </a:p>
          <a:p xmlns:a="http://schemas.openxmlformats.org/drawingml/2006/main">
            <a:r>
              <a:t/>
            </a:r>
          </a:p>
          <a:p xmlns:a="http://schemas.openxmlformats.org/drawingml/2006/main">
            <a:r>
              <a:t>Prompt: Which evidence is most relevant, and which tempting detail should be left out?</a:t>
            </a:r>
          </a:p>
          <a:p xmlns:a="http://schemas.openxmlformats.org/drawingml/2006/main">
            <a:r>
              <a:t>Likely misconception: A longer response is automatically stronger; relevance and explanation matter more than length.</a:t>
            </a:r>
          </a:p>
          <a:p xmlns:a="http://schemas.openxmlformats.org/drawingml/2006/main">
            <a:r>
              <a:t>Transition: Students now save the response in the matching module learning package.</a:t>
            </a:r>
          </a:p>
          <a:p xmlns:a="http://schemas.openxmlformats.org/drawingml/2006/main">
            <a:r>
              <a:t/>
            </a:r>
          </a:p>
          <a:p xmlns:a="http://schemas.openxmlformats.org/drawingml/2006/main">
            <a:r>
              <a:t>[Sources]</a:t>
            </a:r>
          </a:p>
          <a:p xmlns:a="http://schemas.openxmlformats.org/drawingml/2006/main">
            <a:r>
              <a:t>- Guided response: evidence prompt for m07-s03 in the Year 8 Textiles theory package v1.0.</a:t>
            </a:r>
          </a:p>
          <a:p xmlns:a="http://schemas.openxmlformats.org/drawingml/2006/main">
            <a:r>
              <a:t>- Curriculum context: NESA Textiles Technology 7–10 Syllabus (2025), https://curriculum.nsw.edu.au/learning-areas/tas/textiles-technology-7-10-2025/outcomes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Talking points</a:t>
            </a:r>
          </a:p>
          <a:p xmlns:a="http://schemas.openxmlformats.org/drawingml/2006/main">
            <a:r>
              <a:t>- Use the three-part exit ticket as a quick verbal or written check.</a:t>
            </a:r>
          </a:p>
          <a:p xmlns:a="http://schemas.openxmlformats.org/drawingml/2006/main">
            <a:r>
              <a:t>- Direct students to the module page so the evidence is saved in the correct learning package.</a:t>
            </a:r>
          </a:p>
          <a:p xmlns:a="http://schemas.openxmlformats.org/drawingml/2006/main">
            <a:r>
              <a:t>- Preview the connection to Apparel Design Plan.</a:t>
            </a:r>
          </a:p>
          <a:p xmlns:a="http://schemas.openxmlformats.org/drawingml/2006/main">
            <a:r>
              <a:t/>
            </a:r>
          </a:p>
          <a:p xmlns:a="http://schemas.openxmlformats.org/drawingml/2006/main">
            <a:r>
              <a:t>Prompt: Which answer would you be willing to improve after receiving feedback?</a:t>
            </a:r>
          </a:p>
          <a:p xmlns:a="http://schemas.openxmlformats.org/drawingml/2006/main">
            <a:r>
              <a:t>Likely misconception: Saving work means it is finished; saved evidence can still be reviewed and improved.</a:t>
            </a:r>
          </a:p>
          <a:p xmlns:a="http://schemas.openxmlformats.org/drawingml/2006/main">
            <a:r>
              <a:t>Transition: Continue to Apparel Design Plan when the class sequence is ready.</a:t>
            </a:r>
          </a:p>
          <a:p xmlns:a="http://schemas.openxmlformats.org/drawingml/2006/main">
            <a:r>
              <a:t/>
            </a:r>
          </a:p>
          <a:p xmlns:a="http://schemas.openxmlformats.org/drawingml/2006/main">
            <a:r>
              <a:t>[Sources]</a:t>
            </a:r>
          </a:p>
          <a:p xmlns:a="http://schemas.openxmlformats.org/drawingml/2006/main">
            <a:r>
              <a:t>- Evidence destination: frozen family learning-package contract and local autosave workflow.</a:t>
            </a:r>
          </a:p>
          <a:p xmlns:a="http://schemas.openxmlformats.org/drawingml/2006/main">
            <a:r>
              <a:t>- Module sequence: WWHS Year 8 Accessories and Shorts Textiles Technology Program 2024, as bounded by source map v1.0.</a:t>
            </a:r>
          </a:p>
          <a:p xmlns:a="http://schemas.openxmlformats.org/drawingml/2006/main">
            <a:r>
              <a:t>- Curriculum context: NESA Textiles Technology 7–10 Syllabus (2025), https://curriculum.nsw.edu.au/learning-areas/tas/textiles-technology-7-10-2025/overview/course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690a2733897459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31eaff4b53440c1" /><Relationship Type="http://schemas.openxmlformats.org/officeDocument/2006/relationships/slideLayout" Target="/ppt/slideLayouts/slideLayout1.xml" Id="Rf953096eb03e4ca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953096eb03e4ca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e7f179454b74154" /><Relationship Type="http://schemas.openxmlformats.org/officeDocument/2006/relationships/image" Target="/ppt/media/image.png" Id="R258df819ffb64386" /><Relationship Type="http://schemas.openxmlformats.org/officeDocument/2006/relationships/notesSlide" Target="/ppt/notesSlides/notesSlide1.xml" Id="R7b81d2b16854483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7c586290c784817" /><Relationship Type="http://schemas.openxmlformats.org/officeDocument/2006/relationships/notesSlide" Target="/ppt/notesSlides/notesSlide2.xml" Id="Rf583b4677675404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d0dad1adffe4b02" /><Relationship Type="http://schemas.openxmlformats.org/officeDocument/2006/relationships/image" Target="/ppt/media/image2.png" Id="R06d215f4af6e4861" /><Relationship Type="http://schemas.openxmlformats.org/officeDocument/2006/relationships/notesSlide" Target="/ppt/notesSlides/notesSlide3.xml" Id="R490705fa229e4ea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817abf42fb64d6f" /><Relationship Type="http://schemas.openxmlformats.org/officeDocument/2006/relationships/image" Target="/ppt/media/image3.png" Id="R57fef860a32c492a" /><Relationship Type="http://schemas.openxmlformats.org/officeDocument/2006/relationships/notesSlide" Target="/ppt/notesSlides/notesSlide4.xml" Id="Rb214cba3276f4620"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87e31a5c4214ee8" /><Relationship Type="http://schemas.openxmlformats.org/officeDocument/2006/relationships/image" Target="/ppt/media/image4.png" Id="R5c32ac146c6943ea" /><Relationship Type="http://schemas.openxmlformats.org/officeDocument/2006/relationships/notesSlide" Target="/ppt/notesSlides/notesSlide5.xml" Id="R828f3c47fde6457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7521bcf918404676" /><Relationship Type="http://schemas.openxmlformats.org/officeDocument/2006/relationships/notesSlide" Target="/ppt/notesSlides/notesSlide6.xml" Id="Re578b132d5964d4d"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08e01fd5b9e4af9" /><Relationship Type="http://schemas.openxmlformats.org/officeDocument/2006/relationships/notesSlide" Target="/ppt/notesSlides/notesSlide7.xml" Id="R661650a8940e4802"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004cb94accf74289" /><Relationship Type="http://schemas.openxmlformats.org/officeDocument/2006/relationships/notesSlide" Target="/ppt/notesSlides/notesSlide8.xml" Id="R120331a8eec3499e" /></Relationships>
</file>

<file path=ppt/slides/slide1.xml><?xml version="1.0" encoding="utf-8"?>
<p:sld xmlns:p="http://schemas.openxmlformats.org/presentationml/2006/main">
  <p:cSld>
    <p:bg>
      <p:bgPr>
        <a:solidFill xmlns:a="http://schemas.openxmlformats.org/drawingml/2006/main">
          <a:srgbClr val="2A101C"/>
        </a:solidFill>
      </p:bgPr>
    </p:bg>
    <p:spTree>
      <p:nvGrpSpPr>
        <p:cNvPr id="1" name=""/>
        <p:cNvGrpSpPr/>
        <p:nvPr/>
      </p:nvGrpSpPr>
      <p:grpSpPr>
        <a:xfrm xmlns:a="http://schemas.openxmlformats.org/drawingml/2006/main"/>
      </p:grpSpPr>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258df819ffb64386"/>
          <a:srcRect xmlns:a="http://schemas.openxmlformats.org/drawingml/2006/main" l="21860" t="0" r="21860" b="0"/>
          <a:stretch xmlns:a="http://schemas.openxmlformats.org/drawingml/2006/main">
            <a:fillRect l="0" t="0" r="0" b="0"/>
          </a:stretch>
        </p:blipFill>
        <p:spPr>
          <a:xfrm xmlns:a="http://schemas.openxmlformats.org/drawingml/2006/main">
            <a:off x="5334000" y="0"/>
            <a:ext cx="6858000" cy="6858000"/>
          </a:xfrm>
          <a:prstGeom xmlns:a="http://schemas.openxmlformats.org/drawingml/2006/main" prst="rect">
            <a:avLst/>
          </a:prstGeom>
        </p:spPr>
      </p:pic>
      <p:sp>
        <p:nvSpPr>
          <p:cNvPr id="2" name="title-panel">
            <a:extLst xmlns:a="http://schemas.openxmlformats.org/drawingml/2006/main">
              <a:ext uri="{FF2B5EF4-FFF2-40B4-BE49-F238E27FC236}">
                <a16:creationId xmlns:a16="http://schemas.microsoft.com/office/drawing/2014/main" id="{651A0E7D-B72B-428B-B783-EA6C95116A7F}"/>
              </a:ext>
            </a:extLst>
          </p:cNvPr>
          <p:cNvSpPr>
            <a:spLocks xmlns:a="http://schemas.openxmlformats.org/drawingml/2006/main" noGrp="1"/>
          </p:cNvSpPr>
          <p:nvPr/>
        </p:nvSpPr>
        <p:spPr>
          <a:xfrm xmlns:a="http://schemas.openxmlformats.org/drawingml/2006/main">
            <a:off x="0" y="0"/>
            <a:ext cx="6191250" cy="6858000"/>
          </a:xfrm>
          <a:prstGeom xmlns:a="http://schemas.openxmlformats.org/drawingml/2006/main" prst="rect">
            <a:avLst/>
          </a:prstGeom>
          <a:solidFill xmlns:a="http://schemas.openxmlformats.org/drawingml/2006/main">
            <a:srgbClr val="2A101C"/>
          </a:solidFill>
          <a:ln xmlns:a="http://schemas.openxmlformats.org/drawingml/2006/main" w="0">
            <a:noFill/>
            <a:prstDash val="solid"/>
          </a:ln>
        </p:spPr>
      </p:sp>
      <p:sp>
        <p:nvSpPr>
          <p:cNvPr id="3" name="title-accent">
            <a:extLst xmlns:a="http://schemas.openxmlformats.org/drawingml/2006/main">
              <a:ext uri="{FF2B5EF4-FFF2-40B4-BE49-F238E27FC236}">
                <a16:creationId xmlns:a16="http://schemas.microsoft.com/office/drawing/2014/main" id="{7693E1EF-535D-4C25-BD48-4A137FF7E136}"/>
              </a:ext>
            </a:extLst>
          </p:cNvPr>
          <p:cNvSpPr>
            <a:spLocks xmlns:a="http://schemas.openxmlformats.org/drawingml/2006/main" noGrp="1"/>
          </p:cNvSpPr>
          <p:nvPr/>
        </p:nvSpPr>
        <p:spPr>
          <a:xfrm xmlns:a="http://schemas.openxmlformats.org/drawingml/2006/main">
            <a:off x="5619750" y="0"/>
            <a:ext cx="133350" cy="6858000"/>
          </a:xfrm>
          <a:prstGeom xmlns:a="http://schemas.openxmlformats.org/drawingml/2006/main" prst="rect">
            <a:avLst/>
          </a:prstGeom>
          <a:solidFill xmlns:a="http://schemas.openxmlformats.org/drawingml/2006/main">
            <a:srgbClr val="AC2254"/>
          </a:solidFill>
          <a:ln xmlns:a="http://schemas.openxmlformats.org/drawingml/2006/main" w="0">
            <a:noFill/>
            <a:prstDash val="solid"/>
          </a:ln>
        </p:spPr>
      </p:sp>
      <p:sp>
        <p:nvSpPr>
          <p:cNvPr id="4" name="module-label">
            <a:extLst xmlns:a="http://schemas.openxmlformats.org/drawingml/2006/main">
              <a:ext uri="{FF2B5EF4-FFF2-40B4-BE49-F238E27FC236}">
                <a16:creationId xmlns:a16="http://schemas.microsoft.com/office/drawing/2014/main" id="{10EDF852-9492-47A5-B04F-1B8936D49C53}"/>
              </a:ext>
            </a:extLst>
          </p:cNvPr>
          <p:cNvSpPr>
            <a:spLocks xmlns:a="http://schemas.openxmlformats.org/drawingml/2006/main" noGrp="1"/>
          </p:cNvSpPr>
          <p:nvPr/>
        </p:nvSpPr>
        <p:spPr>
          <a:xfrm xmlns:a="http://schemas.openxmlformats.org/drawingml/2006/main">
            <a:off x="647700" y="704850"/>
            <a:ext cx="419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D6A238"/>
                </a:solidFill>
              </a:defRPr>
            </a:pPr>
            <a:r>
              <a:rPr sz="1275" b="1">
                <a:solidFill>
                  <a:srgbClr val="D6A238"/>
                </a:solidFill>
              </a:rPr>
              <a:t>MODULE 07 · WEEKS 9–10</a:t>
            </a:r>
          </a:p>
        </p:txBody>
      </p:sp>
      <p:sp>
        <p:nvSpPr>
          <p:cNvPr id="5" name="deck-title">
            <a:extLst xmlns:a="http://schemas.openxmlformats.org/drawingml/2006/main">
              <a:ext uri="{FF2B5EF4-FFF2-40B4-BE49-F238E27FC236}">
                <a16:creationId xmlns:a16="http://schemas.microsoft.com/office/drawing/2014/main" id="{3CA7A6AA-6F53-4638-8D92-82A002BC606D}"/>
              </a:ext>
            </a:extLst>
          </p:cNvPr>
          <p:cNvSpPr>
            <a:spLocks xmlns:a="http://schemas.openxmlformats.org/drawingml/2006/main" noGrp="1"/>
          </p:cNvSpPr>
          <p:nvPr/>
        </p:nvSpPr>
        <p:spPr>
          <a:xfrm xmlns:a="http://schemas.openxmlformats.org/drawingml/2006/main">
            <a:off x="647700" y="1752600"/>
            <a:ext cx="4619625" cy="1676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4350" b="1">
                <a:solidFill>
                  <a:srgbClr val="FFFFFF"/>
                </a:solidFill>
              </a:defRPr>
            </a:pPr>
            <a:r>
              <a:rPr sz="4350" b="1">
                <a:solidFill>
                  <a:srgbClr val="FFFFFF"/>
                </a:solidFill>
              </a:rPr>
              <a:t>Commercial Patterns</a:t>
            </a:r>
          </a:p>
        </p:txBody>
      </p:sp>
      <p:sp>
        <p:nvSpPr>
          <p:cNvPr id="6" name="module-outcome">
            <a:extLst xmlns:a="http://schemas.openxmlformats.org/drawingml/2006/main">
              <a:ext uri="{FF2B5EF4-FFF2-40B4-BE49-F238E27FC236}">
                <a16:creationId xmlns:a16="http://schemas.microsoft.com/office/drawing/2014/main" id="{29694628-05DF-4BFD-9F25-160D68BAA9FC}"/>
              </a:ext>
            </a:extLst>
          </p:cNvPr>
          <p:cNvSpPr>
            <a:spLocks xmlns:a="http://schemas.openxmlformats.org/drawingml/2006/main" noGrp="1"/>
          </p:cNvSpPr>
          <p:nvPr/>
        </p:nvSpPr>
        <p:spPr>
          <a:xfrm xmlns:a="http://schemas.openxmlformats.org/drawingml/2006/main">
            <a:off x="647700" y="3857625"/>
            <a:ext cx="447675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F7EAF0"/>
                </a:solidFill>
              </a:defRPr>
            </a:pPr>
            <a:r>
              <a:rPr sz="1800" b="0">
                <a:solidFill>
                  <a:srgbClr val="F7EAF0"/>
                </a:solidFill>
              </a:rPr>
              <a:t>Read a commercial pattern and use measurements, markings and layout information to plan resources.</a:t>
            </a:r>
          </a:p>
        </p:txBody>
      </p:sp>
      <p:sp>
        <p:nvSpPr>
          <p:cNvPr id="7" name="deck-context">
            <a:extLst xmlns:a="http://schemas.openxmlformats.org/drawingml/2006/main">
              <a:ext uri="{FF2B5EF4-FFF2-40B4-BE49-F238E27FC236}">
                <a16:creationId xmlns:a16="http://schemas.microsoft.com/office/drawing/2014/main" id="{47836120-37AD-4CBD-AD65-71D6658D2A67}"/>
              </a:ext>
            </a:extLst>
          </p:cNvPr>
          <p:cNvSpPr>
            <a:spLocks xmlns:a="http://schemas.openxmlformats.org/drawingml/2006/main" noGrp="1"/>
          </p:cNvSpPr>
          <p:nvPr/>
        </p:nvSpPr>
        <p:spPr>
          <a:xfrm xmlns:a="http://schemas.openxmlformats.org/drawingml/2006/main">
            <a:off x="647700" y="6019800"/>
            <a:ext cx="3905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D5BCC6"/>
                </a:solidFill>
              </a:defRPr>
            </a:pPr>
            <a:r>
              <a:rPr sz="1125" b="0">
                <a:solidFill>
                  <a:srgbClr val="D5BCC6"/>
                </a:solidFill>
              </a:rPr>
              <a:t>Teacher-led classroom presentation</a:t>
            </a:r>
          </a:p>
        </p:txBody>
      </p:sp>
    </p:spTree>
    <p:extLst>
      <p:ext uri="{BB962C8B-B14F-4D97-AF65-F5344CB8AC3E}">
        <p14:creationId xmlns:p14="http://schemas.microsoft.com/office/powerpoint/2010/main" val="1932190230"/>
      </p:ext>
    </p:extLst>
  </p:cSld>
</p:sld>
</file>

<file path=ppt/slides/slide2.xml><?xml version="1.0" encoding="utf-8"?>
<p:sld xmlns:p="http://schemas.openxmlformats.org/presentationml/2006/main">
  <p:cSld>
    <p:bg>
      <p:bgPr>
        <a:solidFill xmlns:a="http://schemas.openxmlformats.org/drawingml/2006/main">
          <a:srgbClr val="FBF6F0"/>
        </a:solidFill>
      </p:bgPr>
    </p:bg>
    <p:spTree>
      <p:nvGrpSpPr>
        <p:cNvPr id="1" name=""/>
        <p:cNvGrpSpPr/>
        <p:nvPr/>
      </p:nvGrpSpPr>
      <p:grpSpPr>
        <a:xfrm xmlns:a="http://schemas.openxmlformats.org/drawingml/2006/main"/>
      </p:grpSpPr>
      <p:sp>
        <p:nvSpPr>
          <p:cNvPr id="18" name="top-accent">
            <a:extLst xmlns:a="http://schemas.openxmlformats.org/drawingml/2006/main">
              <a:ext uri="{FF2B5EF4-FFF2-40B4-BE49-F238E27FC236}">
                <a16:creationId xmlns:a16="http://schemas.microsoft.com/office/drawing/2014/main" id="{1FF63211-9619-4522-ADD3-C4FD3407C3A1}"/>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AC2254"/>
          </a:solidFill>
          <a:ln xmlns:a="http://schemas.openxmlformats.org/drawingml/2006/main" w="0">
            <a:noFill/>
            <a:prstDash val="solid"/>
          </a:ln>
        </p:spPr>
      </p:sp>
      <p:sp>
        <p:nvSpPr>
          <p:cNvPr id="2" name="slide-title">
            <a:extLst xmlns:a="http://schemas.openxmlformats.org/drawingml/2006/main">
              <a:ext uri="{FF2B5EF4-FFF2-40B4-BE49-F238E27FC236}">
                <a16:creationId xmlns:a16="http://schemas.microsoft.com/office/drawing/2014/main" id="{32B44A02-9AD9-455D-ACA1-2880B602E82F}"/>
              </a:ext>
            </a:extLst>
          </p:cNvPr>
          <p:cNvSpPr>
            <a:spLocks xmlns:a="http://schemas.openxmlformats.org/drawingml/2006/main" noGrp="1"/>
          </p:cNvSpPr>
          <p:nvPr/>
        </p:nvSpPr>
        <p:spPr>
          <a:xfrm xmlns:a="http://schemas.openxmlformats.org/drawingml/2006/main">
            <a:off x="609600" y="552450"/>
            <a:ext cx="10477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000" b="1">
                <a:solidFill>
                  <a:srgbClr val="2A101C"/>
                </a:solidFill>
              </a:defRPr>
            </a:pPr>
            <a:r>
              <a:rPr sz="3000" b="1">
                <a:solidFill>
                  <a:srgbClr val="2A101C"/>
                </a:solidFill>
              </a:rPr>
              <a:t>Three ideas, one connected decision</a:t>
            </a:r>
          </a:p>
        </p:txBody>
      </p:sp>
      <p:sp>
        <p:nvSpPr>
          <p:cNvPr id="3" name="learning-map-intro">
            <a:extLst xmlns:a="http://schemas.openxmlformats.org/drawingml/2006/main">
              <a:ext uri="{FF2B5EF4-FFF2-40B4-BE49-F238E27FC236}">
                <a16:creationId xmlns:a16="http://schemas.microsoft.com/office/drawing/2014/main" id="{AAE47E1D-5BAB-49F3-979B-7C25959CA0FF}"/>
              </a:ext>
            </a:extLst>
          </p:cNvPr>
          <p:cNvSpPr>
            <a:spLocks xmlns:a="http://schemas.openxmlformats.org/drawingml/2006/main" noGrp="1"/>
          </p:cNvSpPr>
          <p:nvPr/>
        </p:nvSpPr>
        <p:spPr>
          <a:xfrm xmlns:a="http://schemas.openxmlformats.org/drawingml/2006/main">
            <a:off x="609600" y="1143000"/>
            <a:ext cx="10287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0">
                <a:solidFill>
                  <a:srgbClr val="5C5357"/>
                </a:solidFill>
              </a:defRPr>
            </a:pPr>
            <a:r>
              <a:rPr sz="1575" b="0">
                <a:solidFill>
                  <a:srgbClr val="5C5357"/>
                </a:solidFill>
              </a:rPr>
              <a:t>Listen for the relationship between the ideas. Each one changes what you notice, choose or explain.</a:t>
            </a:r>
          </a:p>
        </p:txBody>
      </p:sp>
      <p:sp>
        <p:nvSpPr>
          <p:cNvPr id="4" name="path-number-1">
            <a:extLst xmlns:a="http://schemas.openxmlformats.org/drawingml/2006/main">
              <a:ext uri="{FF2B5EF4-FFF2-40B4-BE49-F238E27FC236}">
                <a16:creationId xmlns:a16="http://schemas.microsoft.com/office/drawing/2014/main" id="{F076A065-E6F5-4967-9EF0-2B084C0911F7}"/>
              </a:ext>
            </a:extLst>
          </p:cNvPr>
          <p:cNvSpPr>
            <a:spLocks xmlns:a="http://schemas.openxmlformats.org/drawingml/2006/main" noGrp="1"/>
          </p:cNvSpPr>
          <p:nvPr/>
        </p:nvSpPr>
        <p:spPr>
          <a:xfrm xmlns:a="http://schemas.openxmlformats.org/drawingml/2006/main">
            <a:off x="704850" y="2076450"/>
            <a:ext cx="666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4650" b="1">
                <a:solidFill>
                  <a:srgbClr val="AC2254"/>
                </a:solidFill>
              </a:defRPr>
            </a:pPr>
            <a:r>
              <a:rPr sz="4650" b="1">
                <a:solidFill>
                  <a:srgbClr val="AC2254"/>
                </a:solidFill>
              </a:rPr>
              <a:t>1</a:t>
            </a:r>
          </a:p>
        </p:txBody>
      </p:sp>
      <p:sp>
        <p:nvSpPr>
          <p:cNvPr id="5" name="path-title-1">
            <a:extLst xmlns:a="http://schemas.openxmlformats.org/drawingml/2006/main">
              <a:ext uri="{FF2B5EF4-FFF2-40B4-BE49-F238E27FC236}">
                <a16:creationId xmlns:a16="http://schemas.microsoft.com/office/drawing/2014/main" id="{2CF81906-C0EA-4306-B244-6FE8A35E2E7A}"/>
              </a:ext>
            </a:extLst>
          </p:cNvPr>
          <p:cNvSpPr>
            <a:spLocks xmlns:a="http://schemas.openxmlformats.org/drawingml/2006/main" noGrp="1"/>
          </p:cNvSpPr>
          <p:nvPr/>
        </p:nvSpPr>
        <p:spPr>
          <a:xfrm xmlns:a="http://schemas.openxmlformats.org/drawingml/2006/main">
            <a:off x="704850" y="2971800"/>
            <a:ext cx="3000375"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2A101C"/>
                </a:solidFill>
              </a:defRPr>
            </a:pPr>
            <a:r>
              <a:rPr sz="1875" b="1">
                <a:solidFill>
                  <a:srgbClr val="2A101C"/>
                </a:solidFill>
              </a:rPr>
              <a:t>Envelope, measurements and size choice</a:t>
            </a:r>
          </a:p>
        </p:txBody>
      </p:sp>
      <p:sp>
        <p:nvSpPr>
          <p:cNvPr id="6" name="path-rule-1">
            <a:extLst xmlns:a="http://schemas.openxmlformats.org/drawingml/2006/main">
              <a:ext uri="{FF2B5EF4-FFF2-40B4-BE49-F238E27FC236}">
                <a16:creationId xmlns:a16="http://schemas.microsoft.com/office/drawing/2014/main" id="{D78412C2-958B-47EB-9EE8-542D19CD9852}"/>
              </a:ext>
            </a:extLst>
          </p:cNvPr>
          <p:cNvSpPr>
            <a:spLocks xmlns:a="http://schemas.openxmlformats.org/drawingml/2006/main" noGrp="1"/>
          </p:cNvSpPr>
          <p:nvPr/>
        </p:nvSpPr>
        <p:spPr>
          <a:xfrm xmlns:a="http://schemas.openxmlformats.org/drawingml/2006/main">
            <a:off x="704850" y="4171950"/>
            <a:ext cx="2724150" cy="47625"/>
          </a:xfrm>
          <a:prstGeom xmlns:a="http://schemas.openxmlformats.org/drawingml/2006/main" prst="rect">
            <a:avLst/>
          </a:prstGeom>
          <a:solidFill xmlns:a="http://schemas.openxmlformats.org/drawingml/2006/main">
            <a:srgbClr val="AC2254"/>
          </a:solidFill>
          <a:ln xmlns:a="http://schemas.openxmlformats.org/drawingml/2006/main" w="0">
            <a:noFill/>
            <a:prstDash val="solid"/>
          </a:ln>
        </p:spPr>
      </p:sp>
      <p:sp>
        <p:nvSpPr>
          <p:cNvPr id="7" name="path-number-2">
            <a:extLst xmlns:a="http://schemas.openxmlformats.org/drawingml/2006/main">
              <a:ext uri="{FF2B5EF4-FFF2-40B4-BE49-F238E27FC236}">
                <a16:creationId xmlns:a16="http://schemas.microsoft.com/office/drawing/2014/main" id="{3EAB194C-4801-4D78-9BBD-E12DF35DF4D1}"/>
              </a:ext>
            </a:extLst>
          </p:cNvPr>
          <p:cNvSpPr>
            <a:spLocks xmlns:a="http://schemas.openxmlformats.org/drawingml/2006/main" noGrp="1"/>
          </p:cNvSpPr>
          <p:nvPr/>
        </p:nvSpPr>
        <p:spPr>
          <a:xfrm xmlns:a="http://schemas.openxmlformats.org/drawingml/2006/main">
            <a:off x="4333875" y="2076450"/>
            <a:ext cx="666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4650" b="1">
                <a:solidFill>
                  <a:srgbClr val="226A61"/>
                </a:solidFill>
              </a:defRPr>
            </a:pPr>
            <a:r>
              <a:rPr sz="4650" b="1">
                <a:solidFill>
                  <a:srgbClr val="226A61"/>
                </a:solidFill>
              </a:rPr>
              <a:t>2</a:t>
            </a:r>
          </a:p>
        </p:txBody>
      </p:sp>
      <p:sp>
        <p:nvSpPr>
          <p:cNvPr id="8" name="path-title-2">
            <a:extLst xmlns:a="http://schemas.openxmlformats.org/drawingml/2006/main">
              <a:ext uri="{FF2B5EF4-FFF2-40B4-BE49-F238E27FC236}">
                <a16:creationId xmlns:a16="http://schemas.microsoft.com/office/drawing/2014/main" id="{3F3D31D6-3F57-4DE8-9216-20716A4662C1}"/>
              </a:ext>
            </a:extLst>
          </p:cNvPr>
          <p:cNvSpPr>
            <a:spLocks xmlns:a="http://schemas.openxmlformats.org/drawingml/2006/main" noGrp="1"/>
          </p:cNvSpPr>
          <p:nvPr/>
        </p:nvSpPr>
        <p:spPr>
          <a:xfrm xmlns:a="http://schemas.openxmlformats.org/drawingml/2006/main">
            <a:off x="4333875" y="2971800"/>
            <a:ext cx="3000375"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2A101C"/>
                </a:solidFill>
              </a:defRPr>
            </a:pPr>
            <a:r>
              <a:rPr sz="1875" b="1">
                <a:solidFill>
                  <a:srgbClr val="2A101C"/>
                </a:solidFill>
              </a:rPr>
              <a:t>Pieces, markings and grainline</a:t>
            </a:r>
          </a:p>
        </p:txBody>
      </p:sp>
      <p:sp>
        <p:nvSpPr>
          <p:cNvPr id="9" name="path-rule-2">
            <a:extLst xmlns:a="http://schemas.openxmlformats.org/drawingml/2006/main">
              <a:ext uri="{FF2B5EF4-FFF2-40B4-BE49-F238E27FC236}">
                <a16:creationId xmlns:a16="http://schemas.microsoft.com/office/drawing/2014/main" id="{E3F52196-FBF1-4E4C-96F4-071EFF2C4AE4}"/>
              </a:ext>
            </a:extLst>
          </p:cNvPr>
          <p:cNvSpPr>
            <a:spLocks xmlns:a="http://schemas.openxmlformats.org/drawingml/2006/main" noGrp="1"/>
          </p:cNvSpPr>
          <p:nvPr/>
        </p:nvSpPr>
        <p:spPr>
          <a:xfrm xmlns:a="http://schemas.openxmlformats.org/drawingml/2006/main">
            <a:off x="4333875" y="4171950"/>
            <a:ext cx="2724150" cy="47625"/>
          </a:xfrm>
          <a:prstGeom xmlns:a="http://schemas.openxmlformats.org/drawingml/2006/main" prst="rect">
            <a:avLst/>
          </a:prstGeom>
          <a:solidFill xmlns:a="http://schemas.openxmlformats.org/drawingml/2006/main">
            <a:srgbClr val="226A61"/>
          </a:solidFill>
          <a:ln xmlns:a="http://schemas.openxmlformats.org/drawingml/2006/main" w="0">
            <a:noFill/>
            <a:prstDash val="solid"/>
          </a:ln>
        </p:spPr>
      </p:sp>
      <p:sp>
        <p:nvSpPr>
          <p:cNvPr id="10" name="path-number-3">
            <a:extLst xmlns:a="http://schemas.openxmlformats.org/drawingml/2006/main">
              <a:ext uri="{FF2B5EF4-FFF2-40B4-BE49-F238E27FC236}">
                <a16:creationId xmlns:a16="http://schemas.microsoft.com/office/drawing/2014/main" id="{53AB33D6-4986-40A4-A96C-95E8D26BFBB9}"/>
              </a:ext>
            </a:extLst>
          </p:cNvPr>
          <p:cNvSpPr>
            <a:spLocks xmlns:a="http://schemas.openxmlformats.org/drawingml/2006/main" noGrp="1"/>
          </p:cNvSpPr>
          <p:nvPr/>
        </p:nvSpPr>
        <p:spPr>
          <a:xfrm xmlns:a="http://schemas.openxmlformats.org/drawingml/2006/main">
            <a:off x="7962900" y="2076450"/>
            <a:ext cx="666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4650" b="1">
                <a:solidFill>
                  <a:srgbClr val="C94C46"/>
                </a:solidFill>
              </a:defRPr>
            </a:pPr>
            <a:r>
              <a:rPr sz="4650" b="1">
                <a:solidFill>
                  <a:srgbClr val="C94C46"/>
                </a:solidFill>
              </a:rPr>
              <a:t>3</a:t>
            </a:r>
          </a:p>
        </p:txBody>
      </p:sp>
      <p:sp>
        <p:nvSpPr>
          <p:cNvPr id="11" name="path-title-3">
            <a:extLst xmlns:a="http://schemas.openxmlformats.org/drawingml/2006/main">
              <a:ext uri="{FF2B5EF4-FFF2-40B4-BE49-F238E27FC236}">
                <a16:creationId xmlns:a16="http://schemas.microsoft.com/office/drawing/2014/main" id="{973317E2-383D-4A38-811B-A1E8243A2BBE}"/>
              </a:ext>
            </a:extLst>
          </p:cNvPr>
          <p:cNvSpPr>
            <a:spLocks xmlns:a="http://schemas.openxmlformats.org/drawingml/2006/main" noGrp="1"/>
          </p:cNvSpPr>
          <p:nvPr/>
        </p:nvSpPr>
        <p:spPr>
          <a:xfrm xmlns:a="http://schemas.openxmlformats.org/drawingml/2006/main">
            <a:off x="7962900" y="2971800"/>
            <a:ext cx="3000375"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2A101C"/>
                </a:solidFill>
              </a:defRPr>
            </a:pPr>
            <a:r>
              <a:rPr sz="1875" b="1">
                <a:solidFill>
                  <a:srgbClr val="2A101C"/>
                </a:solidFill>
              </a:rPr>
              <a:t>Layout, quantity, cost and alterations</a:t>
            </a:r>
          </a:p>
        </p:txBody>
      </p:sp>
      <p:sp>
        <p:nvSpPr>
          <p:cNvPr id="12" name="path-rule-3">
            <a:extLst xmlns:a="http://schemas.openxmlformats.org/drawingml/2006/main">
              <a:ext uri="{FF2B5EF4-FFF2-40B4-BE49-F238E27FC236}">
                <a16:creationId xmlns:a16="http://schemas.microsoft.com/office/drawing/2014/main" id="{41B22762-DF3F-4CF0-9F8D-67CFB76FC259}"/>
              </a:ext>
            </a:extLst>
          </p:cNvPr>
          <p:cNvSpPr>
            <a:spLocks xmlns:a="http://schemas.openxmlformats.org/drawingml/2006/main" noGrp="1"/>
          </p:cNvSpPr>
          <p:nvPr/>
        </p:nvSpPr>
        <p:spPr>
          <a:xfrm xmlns:a="http://schemas.openxmlformats.org/drawingml/2006/main">
            <a:off x="7962900" y="4171950"/>
            <a:ext cx="2724150" cy="47625"/>
          </a:xfrm>
          <a:prstGeom xmlns:a="http://schemas.openxmlformats.org/drawingml/2006/main" prst="rect">
            <a:avLst/>
          </a:prstGeom>
          <a:solidFill xmlns:a="http://schemas.openxmlformats.org/drawingml/2006/main">
            <a:srgbClr val="C94C46"/>
          </a:solidFill>
          <a:ln xmlns:a="http://schemas.openxmlformats.org/drawingml/2006/main" w="0">
            <a:noFill/>
            <a:prstDash val="solid"/>
          </a:ln>
        </p:spPr>
      </p:sp>
      <p:sp>
        <p:nvSpPr>
          <p:cNvPr id="13" name="retrieval-strip">
            <a:extLst xmlns:a="http://schemas.openxmlformats.org/drawingml/2006/main">
              <a:ext uri="{FF2B5EF4-FFF2-40B4-BE49-F238E27FC236}">
                <a16:creationId xmlns:a16="http://schemas.microsoft.com/office/drawing/2014/main" id="{DCFA0739-5787-43DA-A560-7DAC02860CC5}"/>
              </a:ext>
            </a:extLst>
          </p:cNvPr>
          <p:cNvSpPr>
            <a:spLocks xmlns:a="http://schemas.openxmlformats.org/drawingml/2006/main" noGrp="1"/>
          </p:cNvSpPr>
          <p:nvPr/>
        </p:nvSpPr>
        <p:spPr>
          <a:xfrm xmlns:a="http://schemas.openxmlformats.org/drawingml/2006/main">
            <a:off x="609600" y="4914900"/>
            <a:ext cx="10972800" cy="990600"/>
          </a:xfrm>
          <a:prstGeom xmlns:a="http://schemas.openxmlformats.org/drawingml/2006/main" prst="roundRect">
            <a:avLst>
              <a:gd name="adj" fmla="val 17308"/>
            </a:avLst>
          </a:prstGeom>
          <a:solidFill xmlns:a="http://schemas.openxmlformats.org/drawingml/2006/main">
            <a:srgbClr val="721735"/>
          </a:solidFill>
          <a:ln xmlns:a="http://schemas.openxmlformats.org/drawingml/2006/main" w="0">
            <a:noFill/>
            <a:prstDash val="solid"/>
          </a:ln>
        </p:spPr>
      </p:sp>
      <p:sp>
        <p:nvSpPr>
          <p:cNvPr id="14" name="warm-up-label">
            <a:extLst xmlns:a="http://schemas.openxmlformats.org/drawingml/2006/main">
              <a:ext uri="{FF2B5EF4-FFF2-40B4-BE49-F238E27FC236}">
                <a16:creationId xmlns:a16="http://schemas.microsoft.com/office/drawing/2014/main" id="{E85899E1-0934-4887-8115-A948209C291C}"/>
              </a:ext>
            </a:extLst>
          </p:cNvPr>
          <p:cNvSpPr>
            <a:spLocks xmlns:a="http://schemas.openxmlformats.org/drawingml/2006/main" noGrp="1"/>
          </p:cNvSpPr>
          <p:nvPr/>
        </p:nvSpPr>
        <p:spPr>
          <a:xfrm xmlns:a="http://schemas.openxmlformats.org/drawingml/2006/main">
            <a:off x="876300" y="5105400"/>
            <a:ext cx="247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D6A238"/>
                </a:solidFill>
              </a:defRPr>
            </a:pPr>
            <a:r>
              <a:rPr sz="1200" b="1">
                <a:solidFill>
                  <a:srgbClr val="D6A238"/>
                </a:solidFill>
              </a:rPr>
              <a:t>RETRIEVAL WARM-UP</a:t>
            </a:r>
          </a:p>
        </p:txBody>
      </p:sp>
      <p:sp>
        <p:nvSpPr>
          <p:cNvPr id="15" name="warm-up-question">
            <a:extLst xmlns:a="http://schemas.openxmlformats.org/drawingml/2006/main">
              <a:ext uri="{FF2B5EF4-FFF2-40B4-BE49-F238E27FC236}">
                <a16:creationId xmlns:a16="http://schemas.microsoft.com/office/drawing/2014/main" id="{56976D8A-2B37-4561-9C98-80103894778D}"/>
              </a:ext>
            </a:extLst>
          </p:cNvPr>
          <p:cNvSpPr>
            <a:spLocks xmlns:a="http://schemas.openxmlformats.org/drawingml/2006/main" noGrp="1"/>
          </p:cNvSpPr>
          <p:nvPr/>
        </p:nvSpPr>
        <p:spPr>
          <a:xfrm xmlns:a="http://schemas.openxmlformats.org/drawingml/2006/main">
            <a:off x="876300" y="5429250"/>
            <a:ext cx="97631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FFFFFF"/>
                </a:solidFill>
              </a:defRPr>
            </a:pPr>
            <a:r>
              <a:rPr sz="1575" b="1">
                <a:solidFill>
                  <a:srgbClr val="FFFFFF"/>
                </a:solidFill>
              </a:rPr>
              <a:t>Which idea feels most familiar—and what evidence supports what you think you know?</a:t>
            </a:r>
          </a:p>
        </p:txBody>
      </p:sp>
      <p:sp>
        <p:nvSpPr>
          <p:cNvPr id="16" name="footer-module-2">
            <a:extLst xmlns:a="http://schemas.openxmlformats.org/drawingml/2006/main">
              <a:ext uri="{FF2B5EF4-FFF2-40B4-BE49-F238E27FC236}">
                <a16:creationId xmlns:a16="http://schemas.microsoft.com/office/drawing/2014/main" id="{7C20E70C-8BFD-4F45-A13D-9D8A73E2AA2E}"/>
              </a:ext>
            </a:extLst>
          </p:cNvPr>
          <p:cNvSpPr>
            <a:spLocks xmlns:a="http://schemas.openxmlformats.org/drawingml/2006/main" noGrp="1"/>
          </p:cNvSpPr>
          <p:nvPr/>
        </p:nvSpPr>
        <p:spPr>
          <a:xfrm xmlns:a="http://schemas.openxmlformats.org/drawingml/2006/main">
            <a:off x="571500" y="649605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7A6D72"/>
                </a:solidFill>
              </a:defRPr>
            </a:pPr>
            <a:r>
              <a:rPr sz="900" b="1">
                <a:solidFill>
                  <a:srgbClr val="7A6D72"/>
                </a:solidFill>
              </a:rPr>
              <a:t>MODULE 07 · YEAR 8 TEXTILES TECHNOLOGY</a:t>
            </a:r>
          </a:p>
        </p:txBody>
      </p:sp>
      <p:sp>
        <p:nvSpPr>
          <p:cNvPr id="17" name="footer-number-2">
            <a:extLst xmlns:a="http://schemas.openxmlformats.org/drawingml/2006/main">
              <a:ext uri="{FF2B5EF4-FFF2-40B4-BE49-F238E27FC236}">
                <a16:creationId xmlns:a16="http://schemas.microsoft.com/office/drawing/2014/main" id="{8F27BA40-52E5-4DF0-BB4A-55D325368B3C}"/>
              </a:ext>
            </a:extLst>
          </p:cNvPr>
          <p:cNvSpPr>
            <a:spLocks xmlns:a="http://schemas.openxmlformats.org/drawingml/2006/main" noGrp="1"/>
          </p:cNvSpPr>
          <p:nvPr/>
        </p:nvSpPr>
        <p:spPr>
          <a:xfrm xmlns:a="http://schemas.openxmlformats.org/drawingml/2006/main">
            <a:off x="11191875" y="6496050"/>
            <a:ext cx="428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7A6D72"/>
                </a:solidFill>
              </a:defRPr>
            </a:pPr>
            <a:r>
              <a:rPr sz="900" b="1">
                <a:solidFill>
                  <a:srgbClr val="7A6D72"/>
                </a:solidFill>
              </a:rPr>
              <a:t>02</a:t>
            </a:r>
          </a:p>
        </p:txBody>
      </p:sp>
    </p:spTree>
    <p:extLst>
      <p:ext uri="{BB962C8B-B14F-4D97-AF65-F5344CB8AC3E}">
        <p14:creationId xmlns:p14="http://schemas.microsoft.com/office/powerpoint/2010/main" val="1149866209"/>
      </p:ext>
    </p:extLst>
  </p:cSld>
</p:sld>
</file>

<file path=ppt/slides/slide3.xml><?xml version="1.0" encoding="utf-8"?>
<p:sld xmlns:p="http://schemas.openxmlformats.org/presentationml/2006/main">
  <p:cSld>
    <p:bg>
      <p:bgPr>
        <a:solidFill xmlns:a="http://schemas.openxmlformats.org/drawingml/2006/main">
          <a:srgbClr val="FBF6F0"/>
        </a:solidFill>
      </p:bgPr>
    </p:bg>
    <p:spTree>
      <p:nvGrpSpPr>
        <p:cNvPr id="1" name=""/>
        <p:cNvGrpSpPr/>
        <p:nvPr/>
      </p:nvGrpSpPr>
      <p:grpSpPr>
        <a:xfrm xmlns:a="http://schemas.openxmlformats.org/drawingml/2006/main"/>
      </p:grpSpPr>
      <p:sp>
        <p:nvSpPr>
          <p:cNvPr id="14" name="top-accent">
            <a:extLst xmlns:a="http://schemas.openxmlformats.org/drawingml/2006/main">
              <a:ext uri="{FF2B5EF4-FFF2-40B4-BE49-F238E27FC236}">
                <a16:creationId xmlns:a16="http://schemas.microsoft.com/office/drawing/2014/main" id="{8836D97C-D0A4-4366-A6E5-11C950FD1C51}"/>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AC2254"/>
          </a:solidFill>
          <a:ln xmlns:a="http://schemas.openxmlformats.org/drawingml/2006/main" w="0">
            <a:noFill/>
            <a:prstDash val="solid"/>
          </a:ln>
        </p:spPr>
      </p:sp>
      <p:sp>
        <p:nvSpPr>
          <p:cNvPr id="2" name="section-eyebrow">
            <a:extLst xmlns:a="http://schemas.openxmlformats.org/drawingml/2006/main">
              <a:ext uri="{FF2B5EF4-FFF2-40B4-BE49-F238E27FC236}">
                <a16:creationId xmlns:a16="http://schemas.microsoft.com/office/drawing/2014/main" id="{01B6BFC3-C2DD-42D9-9F59-D1D4990B502A}"/>
              </a:ext>
            </a:extLst>
          </p:cNvPr>
          <p:cNvSpPr>
            <a:spLocks xmlns:a="http://schemas.openxmlformats.org/drawingml/2006/main" noGrp="1"/>
          </p:cNvSpPr>
          <p:nvPr/>
        </p:nvSpPr>
        <p:spPr>
          <a:xfrm xmlns:a="http://schemas.openxmlformats.org/drawingml/2006/main">
            <a:off x="609600" y="400050"/>
            <a:ext cx="1047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AC2254"/>
                </a:solidFill>
              </a:defRPr>
            </a:pPr>
            <a:r>
              <a:rPr sz="1125" b="1">
                <a:solidFill>
                  <a:srgbClr val="AC2254"/>
                </a:solidFill>
              </a:rPr>
              <a:t>7.1 · USE THE ENVELOPE AS AN INFORMATION MAP</a:t>
            </a:r>
          </a:p>
        </p:txBody>
      </p:sp>
      <p:sp>
        <p:nvSpPr>
          <p:cNvPr id="3" name="slide-title">
            <a:extLst xmlns:a="http://schemas.openxmlformats.org/drawingml/2006/main">
              <a:ext uri="{FF2B5EF4-FFF2-40B4-BE49-F238E27FC236}">
                <a16:creationId xmlns:a16="http://schemas.microsoft.com/office/drawing/2014/main" id="{2C5A5FEA-8A95-4EB1-A1F1-75F3263D2C33}"/>
              </a:ext>
            </a:extLst>
          </p:cNvPr>
          <p:cNvSpPr>
            <a:spLocks xmlns:a="http://schemas.openxmlformats.org/drawingml/2006/main" noGrp="1"/>
          </p:cNvSpPr>
          <p:nvPr/>
        </p:nvSpPr>
        <p:spPr>
          <a:xfrm xmlns:a="http://schemas.openxmlformats.org/drawingml/2006/main">
            <a:off x="609600" y="723900"/>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2A101C"/>
                </a:solidFill>
              </a:defRPr>
            </a:pPr>
            <a:r>
              <a:rPr sz="2850" b="1">
                <a:solidFill>
                  <a:srgbClr val="2A101C"/>
                </a:solidFill>
              </a:rPr>
              <a:t>Envelope, measurements and size choice</a:t>
            </a:r>
          </a:p>
        </p:txBody>
      </p:sp>
      <p:sp>
        <p:nvSpPr>
          <p:cNvPr id="4" name="image-frame">
            <a:extLst xmlns:a="http://schemas.openxmlformats.org/drawingml/2006/main">
              <a:ext uri="{FF2B5EF4-FFF2-40B4-BE49-F238E27FC236}">
                <a16:creationId xmlns:a16="http://schemas.microsoft.com/office/drawing/2014/main" id="{30BB278F-AA91-44A2-93EE-DF55833390C5}"/>
              </a:ext>
            </a:extLst>
          </p:cNvPr>
          <p:cNvSpPr>
            <a:spLocks xmlns:a="http://schemas.openxmlformats.org/drawingml/2006/main" noGrp="1"/>
          </p:cNvSpPr>
          <p:nvPr/>
        </p:nvSpPr>
        <p:spPr>
          <a:xfrm xmlns:a="http://schemas.openxmlformats.org/drawingml/2006/main">
            <a:off x="552450" y="1504950"/>
            <a:ext cx="4953000" cy="3448050"/>
          </a:xfrm>
          <a:prstGeom xmlns:a="http://schemas.openxmlformats.org/drawingml/2006/main" prst="roundRect">
            <a:avLst>
              <a:gd name="adj" fmla="val 4972"/>
            </a:avLst>
          </a:prstGeom>
          <a:solidFill xmlns:a="http://schemas.openxmlformats.org/drawingml/2006/main">
            <a:srgbClr val="AC2254"/>
          </a:solidFill>
          <a:ln xmlns:a="http://schemas.openxmlformats.org/drawingml/2006/main" w="0">
            <a:noFill/>
            <a:prstDash val="solid"/>
          </a:ln>
        </p:spPr>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06d215f4af6e4861"/>
          <a:srcRect xmlns:a="http://schemas.openxmlformats.org/drawingml/2006/main" l="1619" t="0" r="1619" b="0"/>
          <a:stretch xmlns:a="http://schemas.openxmlformats.org/drawingml/2006/main">
            <a:fillRect l="0" t="0" r="0" b="0"/>
          </a:stretch>
        </p:blipFill>
        <p:spPr>
          <a:xfrm xmlns:a="http://schemas.openxmlformats.org/drawingml/2006/main">
            <a:off x="609600" y="1562100"/>
            <a:ext cx="4838700" cy="3333750"/>
          </a:xfrm>
          <a:prstGeom xmlns:a="http://schemas.openxmlformats.org/drawingml/2006/main" prst="rect">
            <a:avLst/>
          </a:prstGeom>
        </p:spPr>
      </p:pic>
      <p:sp>
        <p:nvSpPr>
          <p:cNvPr id="6" name="visual-caption">
            <a:extLst xmlns:a="http://schemas.openxmlformats.org/drawingml/2006/main">
              <a:ext uri="{FF2B5EF4-FFF2-40B4-BE49-F238E27FC236}">
                <a16:creationId xmlns:a16="http://schemas.microsoft.com/office/drawing/2014/main" id="{DA9F978C-82C1-41A2-8845-6B023FABC74B}"/>
              </a:ext>
            </a:extLst>
          </p:cNvPr>
          <p:cNvSpPr>
            <a:spLocks xmlns:a="http://schemas.openxmlformats.org/drawingml/2006/main" noGrp="1"/>
          </p:cNvSpPr>
          <p:nvPr/>
        </p:nvSpPr>
        <p:spPr>
          <a:xfrm xmlns:a="http://schemas.openxmlformats.org/drawingml/2006/main">
            <a:off x="609600" y="5029200"/>
            <a:ext cx="48387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5C5357"/>
                </a:solidFill>
              </a:defRPr>
            </a:pPr>
            <a:r>
              <a:rPr sz="1200" b="0">
                <a:solidFill>
                  <a:srgbClr val="5C5357"/>
                </a:solidFill>
              </a:rPr>
              <a:t>Look closely: find visible evidence for this claim — A pattern envelope communicates design views, sizes, material guidance, components and quantities.</a:t>
            </a:r>
          </a:p>
        </p:txBody>
      </p:sp>
      <p:sp>
        <p:nvSpPr>
          <p:cNvPr id="7" name="key-idea-label">
            <a:extLst xmlns:a="http://schemas.openxmlformats.org/drawingml/2006/main">
              <a:ext uri="{FF2B5EF4-FFF2-40B4-BE49-F238E27FC236}">
                <a16:creationId xmlns:a16="http://schemas.microsoft.com/office/drawing/2014/main" id="{D7DB787C-FAF8-4A2A-8E8C-AEE426F680E4}"/>
              </a:ext>
            </a:extLst>
          </p:cNvPr>
          <p:cNvSpPr>
            <a:spLocks xmlns:a="http://schemas.openxmlformats.org/drawingml/2006/main" noGrp="1"/>
          </p:cNvSpPr>
          <p:nvPr/>
        </p:nvSpPr>
        <p:spPr>
          <a:xfrm xmlns:a="http://schemas.openxmlformats.org/drawingml/2006/main">
            <a:off x="5943600" y="1562100"/>
            <a:ext cx="4838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AC2254"/>
                </a:solidFill>
              </a:defRPr>
            </a:pPr>
            <a:r>
              <a:rPr sz="1200" b="1">
                <a:solidFill>
                  <a:srgbClr val="AC2254"/>
                </a:solidFill>
              </a:rPr>
              <a:t>THE KEY IDEA</a:t>
            </a:r>
          </a:p>
        </p:txBody>
      </p:sp>
      <p:sp>
        <p:nvSpPr>
          <p:cNvPr id="8" name="key-idea-copy">
            <a:extLst xmlns:a="http://schemas.openxmlformats.org/drawingml/2006/main">
              <a:ext uri="{FF2B5EF4-FFF2-40B4-BE49-F238E27FC236}">
                <a16:creationId xmlns:a16="http://schemas.microsoft.com/office/drawing/2014/main" id="{D79AE09C-C64D-483F-B848-30B9352A7673}"/>
              </a:ext>
            </a:extLst>
          </p:cNvPr>
          <p:cNvSpPr>
            <a:spLocks xmlns:a="http://schemas.openxmlformats.org/drawingml/2006/main" noGrp="1"/>
          </p:cNvSpPr>
          <p:nvPr/>
        </p:nvSpPr>
        <p:spPr>
          <a:xfrm xmlns:a="http://schemas.openxmlformats.org/drawingml/2006/main">
            <a:off x="5943600" y="1924050"/>
            <a:ext cx="4838700" cy="1981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2A101C"/>
                </a:solidFill>
              </a:defRPr>
            </a:pPr>
            <a:r>
              <a:rPr sz="1500" b="0">
                <a:solidFill>
                  <a:srgbClr val="2A101C"/>
                </a:solidFill>
              </a:rPr>
              <a:t>A pattern envelope communicates design views, sizes, material guidance, components and quantities. Line drawings and view labels help match a design with its pieces and instructions. Pattern size is based on relevant measurements and the current pattern chart, not ready-to-wear size. Cross-size decisions and alterations require the pattern guidance and teacher approval.</a:t>
            </a:r>
          </a:p>
        </p:txBody>
      </p:sp>
      <p:sp>
        <p:nvSpPr>
          <p:cNvPr id="9" name="application-block">
            <a:extLst xmlns:a="http://schemas.openxmlformats.org/drawingml/2006/main">
              <a:ext uri="{FF2B5EF4-FFF2-40B4-BE49-F238E27FC236}">
                <a16:creationId xmlns:a16="http://schemas.microsoft.com/office/drawing/2014/main" id="{3F7261BF-D382-4F0C-9E94-DC9A4E71447C}"/>
              </a:ext>
            </a:extLst>
          </p:cNvPr>
          <p:cNvSpPr>
            <a:spLocks xmlns:a="http://schemas.openxmlformats.org/drawingml/2006/main" noGrp="1"/>
          </p:cNvSpPr>
          <p:nvPr/>
        </p:nvSpPr>
        <p:spPr>
          <a:xfrm xmlns:a="http://schemas.openxmlformats.org/drawingml/2006/main">
            <a:off x="5943600" y="4114800"/>
            <a:ext cx="4838700" cy="1524000"/>
          </a:xfrm>
          <a:prstGeom xmlns:a="http://schemas.openxmlformats.org/drawingml/2006/main" prst="roundRect">
            <a:avLst>
              <a:gd name="adj" fmla="val 10000"/>
            </a:avLst>
          </a:prstGeom>
          <a:solidFill xmlns:a="http://schemas.openxmlformats.org/drawingml/2006/main">
            <a:srgbClr val="F1D5DE"/>
          </a:solidFill>
          <a:ln xmlns:a="http://schemas.openxmlformats.org/drawingml/2006/main" w="0">
            <a:noFill/>
            <a:prstDash val="solid"/>
          </a:ln>
        </p:spPr>
      </p:sp>
      <p:sp>
        <p:nvSpPr>
          <p:cNvPr id="10" name="application-label">
            <a:extLst xmlns:a="http://schemas.openxmlformats.org/drawingml/2006/main">
              <a:ext uri="{FF2B5EF4-FFF2-40B4-BE49-F238E27FC236}">
                <a16:creationId xmlns:a16="http://schemas.microsoft.com/office/drawing/2014/main" id="{0DDDD997-76B7-4813-BA5F-E524BA6971A3}"/>
              </a:ext>
            </a:extLst>
          </p:cNvPr>
          <p:cNvSpPr>
            <a:spLocks xmlns:a="http://schemas.openxmlformats.org/drawingml/2006/main" noGrp="1"/>
          </p:cNvSpPr>
          <p:nvPr/>
        </p:nvSpPr>
        <p:spPr>
          <a:xfrm xmlns:a="http://schemas.openxmlformats.org/drawingml/2006/main">
            <a:off x="6172200" y="4295775"/>
            <a:ext cx="438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AC2254"/>
                </a:solidFill>
              </a:defRPr>
            </a:pPr>
            <a:r>
              <a:rPr sz="1200" b="1">
                <a:solidFill>
                  <a:srgbClr val="AC2254"/>
                </a:solidFill>
              </a:rPr>
              <a:t>USE THIS IDEA</a:t>
            </a:r>
          </a:p>
        </p:txBody>
      </p:sp>
      <p:sp>
        <p:nvSpPr>
          <p:cNvPr id="11" name="application-copy">
            <a:extLst xmlns:a="http://schemas.openxmlformats.org/drawingml/2006/main">
              <a:ext uri="{FF2B5EF4-FFF2-40B4-BE49-F238E27FC236}">
                <a16:creationId xmlns:a16="http://schemas.microsoft.com/office/drawing/2014/main" id="{6AA4B828-AF9D-413E-8E39-9C54F91B5B15}"/>
              </a:ext>
            </a:extLst>
          </p:cNvPr>
          <p:cNvSpPr>
            <a:spLocks xmlns:a="http://schemas.openxmlformats.org/drawingml/2006/main" noGrp="1"/>
          </p:cNvSpPr>
          <p:nvPr/>
        </p:nvSpPr>
        <p:spPr>
          <a:xfrm xmlns:a="http://schemas.openxmlformats.org/drawingml/2006/main">
            <a:off x="6172200" y="4629150"/>
            <a:ext cx="4381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2A101C"/>
                </a:solidFill>
              </a:defRPr>
            </a:pPr>
            <a:r>
              <a:rPr sz="1350" b="0">
                <a:solidFill>
                  <a:srgbClr val="2A101C"/>
                </a:solidFill>
              </a:rPr>
              <a:t>Annotate the current pattern envelope to locate view information, suggested fabrics, components, quantities and the size chart. Use the approved measurement process and record the evidence for the teacher-confirmed starting size privately.</a:t>
            </a:r>
          </a:p>
        </p:txBody>
      </p:sp>
      <p:sp>
        <p:nvSpPr>
          <p:cNvPr id="12" name="footer-module-3">
            <a:extLst xmlns:a="http://schemas.openxmlformats.org/drawingml/2006/main">
              <a:ext uri="{FF2B5EF4-FFF2-40B4-BE49-F238E27FC236}">
                <a16:creationId xmlns:a16="http://schemas.microsoft.com/office/drawing/2014/main" id="{DDB3AB27-422F-4E5E-A87A-BFA363893193}"/>
              </a:ext>
            </a:extLst>
          </p:cNvPr>
          <p:cNvSpPr>
            <a:spLocks xmlns:a="http://schemas.openxmlformats.org/drawingml/2006/main" noGrp="1"/>
          </p:cNvSpPr>
          <p:nvPr/>
        </p:nvSpPr>
        <p:spPr>
          <a:xfrm xmlns:a="http://schemas.openxmlformats.org/drawingml/2006/main">
            <a:off x="571500" y="649605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7A6D72"/>
                </a:solidFill>
              </a:defRPr>
            </a:pPr>
            <a:r>
              <a:rPr sz="900" b="1">
                <a:solidFill>
                  <a:srgbClr val="7A6D72"/>
                </a:solidFill>
              </a:rPr>
              <a:t>MODULE 07 · YEAR 8 TEXTILES TECHNOLOGY</a:t>
            </a:r>
          </a:p>
        </p:txBody>
      </p:sp>
      <p:sp>
        <p:nvSpPr>
          <p:cNvPr id="13" name="footer-number-3">
            <a:extLst xmlns:a="http://schemas.openxmlformats.org/drawingml/2006/main">
              <a:ext uri="{FF2B5EF4-FFF2-40B4-BE49-F238E27FC236}">
                <a16:creationId xmlns:a16="http://schemas.microsoft.com/office/drawing/2014/main" id="{6B50D4C3-D92F-494D-B196-300AD8429336}"/>
              </a:ext>
            </a:extLst>
          </p:cNvPr>
          <p:cNvSpPr>
            <a:spLocks xmlns:a="http://schemas.openxmlformats.org/drawingml/2006/main" noGrp="1"/>
          </p:cNvSpPr>
          <p:nvPr/>
        </p:nvSpPr>
        <p:spPr>
          <a:xfrm xmlns:a="http://schemas.openxmlformats.org/drawingml/2006/main">
            <a:off x="11191875" y="6496050"/>
            <a:ext cx="428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7A6D72"/>
                </a:solidFill>
              </a:defRPr>
            </a:pPr>
            <a:r>
              <a:rPr sz="900" b="1">
                <a:solidFill>
                  <a:srgbClr val="7A6D72"/>
                </a:solidFill>
              </a:rPr>
              <a:t>03</a:t>
            </a:r>
          </a:p>
        </p:txBody>
      </p:sp>
    </p:spTree>
    <p:extLst>
      <p:ext uri="{BB962C8B-B14F-4D97-AF65-F5344CB8AC3E}">
        <p14:creationId xmlns:p14="http://schemas.microsoft.com/office/powerpoint/2010/main" val="444803674"/>
      </p:ext>
    </p:extLst>
  </p:cSld>
</p:sld>
</file>

<file path=ppt/slides/slide4.xml><?xml version="1.0" encoding="utf-8"?>
<p:sld xmlns:p="http://schemas.openxmlformats.org/presentationml/2006/main">
  <p:cSld>
    <p:bg>
      <p:bgPr>
        <a:solidFill xmlns:a="http://schemas.openxmlformats.org/drawingml/2006/main">
          <a:srgbClr val="FBF6F0"/>
        </a:solidFill>
      </p:bgPr>
    </p:bg>
    <p:spTree>
      <p:nvGrpSpPr>
        <p:cNvPr id="1" name=""/>
        <p:cNvGrpSpPr/>
        <p:nvPr/>
      </p:nvGrpSpPr>
      <p:grpSpPr>
        <a:xfrm xmlns:a="http://schemas.openxmlformats.org/drawingml/2006/main"/>
      </p:grpSpPr>
      <p:sp>
        <p:nvSpPr>
          <p:cNvPr id="14" name="top-accent">
            <a:extLst xmlns:a="http://schemas.openxmlformats.org/drawingml/2006/main">
              <a:ext uri="{FF2B5EF4-FFF2-40B4-BE49-F238E27FC236}">
                <a16:creationId xmlns:a16="http://schemas.microsoft.com/office/drawing/2014/main" id="{4B7EE0DC-79D9-4513-858E-69B4486B1A21}"/>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226A61"/>
          </a:solidFill>
          <a:ln xmlns:a="http://schemas.openxmlformats.org/drawingml/2006/main" w="0">
            <a:noFill/>
            <a:prstDash val="solid"/>
          </a:ln>
        </p:spPr>
      </p:sp>
      <p:sp>
        <p:nvSpPr>
          <p:cNvPr id="2" name="section-eyebrow">
            <a:extLst xmlns:a="http://schemas.openxmlformats.org/drawingml/2006/main">
              <a:ext uri="{FF2B5EF4-FFF2-40B4-BE49-F238E27FC236}">
                <a16:creationId xmlns:a16="http://schemas.microsoft.com/office/drawing/2014/main" id="{0FAC2340-0410-432E-B203-5655AE63B2FD}"/>
              </a:ext>
            </a:extLst>
          </p:cNvPr>
          <p:cNvSpPr>
            <a:spLocks xmlns:a="http://schemas.openxmlformats.org/drawingml/2006/main" noGrp="1"/>
          </p:cNvSpPr>
          <p:nvPr/>
        </p:nvSpPr>
        <p:spPr>
          <a:xfrm xmlns:a="http://schemas.openxmlformats.org/drawingml/2006/main">
            <a:off x="609600" y="400050"/>
            <a:ext cx="1047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226A61"/>
                </a:solidFill>
              </a:defRPr>
            </a:pPr>
            <a:r>
              <a:rPr sz="1125" b="1">
                <a:solidFill>
                  <a:srgbClr val="226A61"/>
                </a:solidFill>
              </a:rPr>
              <a:t>7.2 · READ THE IDENTITY OF EACH PIECE</a:t>
            </a:r>
          </a:p>
        </p:txBody>
      </p:sp>
      <p:sp>
        <p:nvSpPr>
          <p:cNvPr id="3" name="slide-title">
            <a:extLst xmlns:a="http://schemas.openxmlformats.org/drawingml/2006/main">
              <a:ext uri="{FF2B5EF4-FFF2-40B4-BE49-F238E27FC236}">
                <a16:creationId xmlns:a16="http://schemas.microsoft.com/office/drawing/2014/main" id="{723A24F8-53A5-47C6-AD69-C7A530B7C378}"/>
              </a:ext>
            </a:extLst>
          </p:cNvPr>
          <p:cNvSpPr>
            <a:spLocks xmlns:a="http://schemas.openxmlformats.org/drawingml/2006/main" noGrp="1"/>
          </p:cNvSpPr>
          <p:nvPr/>
        </p:nvSpPr>
        <p:spPr>
          <a:xfrm xmlns:a="http://schemas.openxmlformats.org/drawingml/2006/main">
            <a:off x="609600" y="723900"/>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2A101C"/>
                </a:solidFill>
              </a:defRPr>
            </a:pPr>
            <a:r>
              <a:rPr sz="2850" b="1">
                <a:solidFill>
                  <a:srgbClr val="2A101C"/>
                </a:solidFill>
              </a:rPr>
              <a:t>Pieces, markings and grainline</a:t>
            </a:r>
          </a:p>
        </p:txBody>
      </p:sp>
      <p:sp>
        <p:nvSpPr>
          <p:cNvPr id="4" name="image-frame">
            <a:extLst xmlns:a="http://schemas.openxmlformats.org/drawingml/2006/main">
              <a:ext uri="{FF2B5EF4-FFF2-40B4-BE49-F238E27FC236}">
                <a16:creationId xmlns:a16="http://schemas.microsoft.com/office/drawing/2014/main" id="{AC617106-59DD-4D90-8744-D7F8ED3AADA2}"/>
              </a:ext>
            </a:extLst>
          </p:cNvPr>
          <p:cNvSpPr>
            <a:spLocks xmlns:a="http://schemas.openxmlformats.org/drawingml/2006/main" noGrp="1"/>
          </p:cNvSpPr>
          <p:nvPr/>
        </p:nvSpPr>
        <p:spPr>
          <a:xfrm xmlns:a="http://schemas.openxmlformats.org/drawingml/2006/main">
            <a:off x="6686550" y="1504950"/>
            <a:ext cx="4953000" cy="3448050"/>
          </a:xfrm>
          <a:prstGeom xmlns:a="http://schemas.openxmlformats.org/drawingml/2006/main" prst="roundRect">
            <a:avLst>
              <a:gd name="adj" fmla="val 4972"/>
            </a:avLst>
          </a:prstGeom>
          <a:solidFill xmlns:a="http://schemas.openxmlformats.org/drawingml/2006/main">
            <a:srgbClr val="226A61"/>
          </a:solidFill>
          <a:ln xmlns:a="http://schemas.openxmlformats.org/drawingml/2006/main" w="0">
            <a:noFill/>
            <a:prstDash val="solid"/>
          </a:ln>
        </p:spPr>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57fef860a32c492a"/>
          <a:srcRect xmlns:a="http://schemas.openxmlformats.org/drawingml/2006/main" l="1619" t="0" r="1619" b="0"/>
          <a:stretch xmlns:a="http://schemas.openxmlformats.org/drawingml/2006/main">
            <a:fillRect l="0" t="0" r="0" b="0"/>
          </a:stretch>
        </p:blipFill>
        <p:spPr>
          <a:xfrm xmlns:a="http://schemas.openxmlformats.org/drawingml/2006/main">
            <a:off x="6743700" y="1562100"/>
            <a:ext cx="4838700" cy="3333750"/>
          </a:xfrm>
          <a:prstGeom xmlns:a="http://schemas.openxmlformats.org/drawingml/2006/main" prst="rect">
            <a:avLst/>
          </a:prstGeom>
        </p:spPr>
      </p:pic>
      <p:sp>
        <p:nvSpPr>
          <p:cNvPr id="6" name="visual-caption">
            <a:extLst xmlns:a="http://schemas.openxmlformats.org/drawingml/2006/main">
              <a:ext uri="{FF2B5EF4-FFF2-40B4-BE49-F238E27FC236}">
                <a16:creationId xmlns:a16="http://schemas.microsoft.com/office/drawing/2014/main" id="{B7FD0A17-5917-478A-BE81-44B2AB9A36D2}"/>
              </a:ext>
            </a:extLst>
          </p:cNvPr>
          <p:cNvSpPr>
            <a:spLocks xmlns:a="http://schemas.openxmlformats.org/drawingml/2006/main" noGrp="1"/>
          </p:cNvSpPr>
          <p:nvPr/>
        </p:nvSpPr>
        <p:spPr>
          <a:xfrm xmlns:a="http://schemas.openxmlformats.org/drawingml/2006/main">
            <a:off x="6743700" y="5029200"/>
            <a:ext cx="48387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5C5357"/>
                </a:solidFill>
              </a:defRPr>
            </a:pPr>
            <a:r>
              <a:rPr sz="1200" b="0">
                <a:solidFill>
                  <a:srgbClr val="5C5357"/>
                </a:solidFill>
              </a:rPr>
              <a:t>Look closely: find visible evidence for this claim — Pattern-piece labels identify the part, view, quantity and other instructions.</a:t>
            </a:r>
          </a:p>
        </p:txBody>
      </p:sp>
      <p:sp>
        <p:nvSpPr>
          <p:cNvPr id="7" name="key-idea-label">
            <a:extLst xmlns:a="http://schemas.openxmlformats.org/drawingml/2006/main">
              <a:ext uri="{FF2B5EF4-FFF2-40B4-BE49-F238E27FC236}">
                <a16:creationId xmlns:a16="http://schemas.microsoft.com/office/drawing/2014/main" id="{A71AB822-9E37-4460-B6F5-E20FE6C661D7}"/>
              </a:ext>
            </a:extLst>
          </p:cNvPr>
          <p:cNvSpPr>
            <a:spLocks xmlns:a="http://schemas.openxmlformats.org/drawingml/2006/main" noGrp="1"/>
          </p:cNvSpPr>
          <p:nvPr/>
        </p:nvSpPr>
        <p:spPr>
          <a:xfrm xmlns:a="http://schemas.openxmlformats.org/drawingml/2006/main">
            <a:off x="609600" y="1562100"/>
            <a:ext cx="4838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226A61"/>
                </a:solidFill>
              </a:defRPr>
            </a:pPr>
            <a:r>
              <a:rPr sz="1200" b="1">
                <a:solidFill>
                  <a:srgbClr val="226A61"/>
                </a:solidFill>
              </a:rPr>
              <a:t>THE KEY IDEA</a:t>
            </a:r>
          </a:p>
        </p:txBody>
      </p:sp>
      <p:sp>
        <p:nvSpPr>
          <p:cNvPr id="8" name="key-idea-copy">
            <a:extLst xmlns:a="http://schemas.openxmlformats.org/drawingml/2006/main">
              <a:ext uri="{FF2B5EF4-FFF2-40B4-BE49-F238E27FC236}">
                <a16:creationId xmlns:a16="http://schemas.microsoft.com/office/drawing/2014/main" id="{7C9FAB77-8454-4810-A45E-07D510B42818}"/>
              </a:ext>
            </a:extLst>
          </p:cNvPr>
          <p:cNvSpPr>
            <a:spLocks xmlns:a="http://schemas.openxmlformats.org/drawingml/2006/main" noGrp="1"/>
          </p:cNvSpPr>
          <p:nvPr/>
        </p:nvSpPr>
        <p:spPr>
          <a:xfrm xmlns:a="http://schemas.openxmlformats.org/drawingml/2006/main">
            <a:off x="609600" y="1924050"/>
            <a:ext cx="4838700" cy="1981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2A101C"/>
                </a:solidFill>
              </a:defRPr>
            </a:pPr>
            <a:r>
              <a:rPr sz="1500" b="0">
                <a:solidFill>
                  <a:srgbClr val="2A101C"/>
                </a:solidFill>
              </a:rPr>
              <a:t>Pattern-piece labels identify the part, view, quantity and other instructions. Markings communicate matching, placement, fold and construction information. The current pattern legend controls the meaning of its symbols. Grainline and fold information guide orientation and can affect how the finished product hangs and performs.</a:t>
            </a:r>
          </a:p>
        </p:txBody>
      </p:sp>
      <p:sp>
        <p:nvSpPr>
          <p:cNvPr id="9" name="application-block">
            <a:extLst xmlns:a="http://schemas.openxmlformats.org/drawingml/2006/main">
              <a:ext uri="{FF2B5EF4-FFF2-40B4-BE49-F238E27FC236}">
                <a16:creationId xmlns:a16="http://schemas.microsoft.com/office/drawing/2014/main" id="{B428E16B-41E1-4ED2-8167-C6AD33D87096}"/>
              </a:ext>
            </a:extLst>
          </p:cNvPr>
          <p:cNvSpPr>
            <a:spLocks xmlns:a="http://schemas.openxmlformats.org/drawingml/2006/main" noGrp="1"/>
          </p:cNvSpPr>
          <p:nvPr/>
        </p:nvSpPr>
        <p:spPr>
          <a:xfrm xmlns:a="http://schemas.openxmlformats.org/drawingml/2006/main">
            <a:off x="609600" y="4114800"/>
            <a:ext cx="4838700" cy="1524000"/>
          </a:xfrm>
          <a:prstGeom xmlns:a="http://schemas.openxmlformats.org/drawingml/2006/main" prst="roundRect">
            <a:avLst>
              <a:gd name="adj" fmla="val 10000"/>
            </a:avLst>
          </a:prstGeom>
          <a:solidFill xmlns:a="http://schemas.openxmlformats.org/drawingml/2006/main">
            <a:srgbClr val="DCE9E4"/>
          </a:solidFill>
          <a:ln xmlns:a="http://schemas.openxmlformats.org/drawingml/2006/main" w="0">
            <a:noFill/>
            <a:prstDash val="solid"/>
          </a:ln>
        </p:spPr>
      </p:sp>
      <p:sp>
        <p:nvSpPr>
          <p:cNvPr id="10" name="application-label">
            <a:extLst xmlns:a="http://schemas.openxmlformats.org/drawingml/2006/main">
              <a:ext uri="{FF2B5EF4-FFF2-40B4-BE49-F238E27FC236}">
                <a16:creationId xmlns:a16="http://schemas.microsoft.com/office/drawing/2014/main" id="{B331B847-FD6F-4466-838A-4E63CA79467B}"/>
              </a:ext>
            </a:extLst>
          </p:cNvPr>
          <p:cNvSpPr>
            <a:spLocks xmlns:a="http://schemas.openxmlformats.org/drawingml/2006/main" noGrp="1"/>
          </p:cNvSpPr>
          <p:nvPr/>
        </p:nvSpPr>
        <p:spPr>
          <a:xfrm xmlns:a="http://schemas.openxmlformats.org/drawingml/2006/main">
            <a:off x="838200" y="4295775"/>
            <a:ext cx="438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226A61"/>
                </a:solidFill>
              </a:defRPr>
            </a:pPr>
            <a:r>
              <a:rPr sz="1200" b="1">
                <a:solidFill>
                  <a:srgbClr val="226A61"/>
                </a:solidFill>
              </a:rPr>
              <a:t>USE THIS IDEA</a:t>
            </a:r>
          </a:p>
        </p:txBody>
      </p:sp>
      <p:sp>
        <p:nvSpPr>
          <p:cNvPr id="11" name="application-copy">
            <a:extLst xmlns:a="http://schemas.openxmlformats.org/drawingml/2006/main">
              <a:ext uri="{FF2B5EF4-FFF2-40B4-BE49-F238E27FC236}">
                <a16:creationId xmlns:a16="http://schemas.microsoft.com/office/drawing/2014/main" id="{EBEA61F5-11D6-4880-8C9D-00FB93289431}"/>
              </a:ext>
            </a:extLst>
          </p:cNvPr>
          <p:cNvSpPr>
            <a:spLocks xmlns:a="http://schemas.openxmlformats.org/drawingml/2006/main" noGrp="1"/>
          </p:cNvSpPr>
          <p:nvPr/>
        </p:nvSpPr>
        <p:spPr>
          <a:xfrm xmlns:a="http://schemas.openxmlformats.org/drawingml/2006/main">
            <a:off x="838200" y="4629150"/>
            <a:ext cx="4381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2A101C"/>
                </a:solidFill>
              </a:defRPr>
            </a:pPr>
            <a:r>
              <a:rPr sz="1350" b="0">
                <a:solidFill>
                  <a:srgbClr val="2A101C"/>
                </a:solidFill>
              </a:rPr>
              <a:t>Choose one teacher-issued pattern piece and create an information key. Explain the purpose of each visible label or symbol using the current pattern legend, then identify which information must be checked before layout and which must be transferred for later construction.</a:t>
            </a:r>
          </a:p>
        </p:txBody>
      </p:sp>
      <p:sp>
        <p:nvSpPr>
          <p:cNvPr id="12" name="footer-module-4">
            <a:extLst xmlns:a="http://schemas.openxmlformats.org/drawingml/2006/main">
              <a:ext uri="{FF2B5EF4-FFF2-40B4-BE49-F238E27FC236}">
                <a16:creationId xmlns:a16="http://schemas.microsoft.com/office/drawing/2014/main" id="{1C2AE575-6AD0-46B4-8F20-3AF97BF08AAD}"/>
              </a:ext>
            </a:extLst>
          </p:cNvPr>
          <p:cNvSpPr>
            <a:spLocks xmlns:a="http://schemas.openxmlformats.org/drawingml/2006/main" noGrp="1"/>
          </p:cNvSpPr>
          <p:nvPr/>
        </p:nvSpPr>
        <p:spPr>
          <a:xfrm xmlns:a="http://schemas.openxmlformats.org/drawingml/2006/main">
            <a:off x="571500" y="649605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7A6D72"/>
                </a:solidFill>
              </a:defRPr>
            </a:pPr>
            <a:r>
              <a:rPr sz="900" b="1">
                <a:solidFill>
                  <a:srgbClr val="7A6D72"/>
                </a:solidFill>
              </a:rPr>
              <a:t>MODULE 07 · YEAR 8 TEXTILES TECHNOLOGY</a:t>
            </a:r>
          </a:p>
        </p:txBody>
      </p:sp>
      <p:sp>
        <p:nvSpPr>
          <p:cNvPr id="13" name="footer-number-4">
            <a:extLst xmlns:a="http://schemas.openxmlformats.org/drawingml/2006/main">
              <a:ext uri="{FF2B5EF4-FFF2-40B4-BE49-F238E27FC236}">
                <a16:creationId xmlns:a16="http://schemas.microsoft.com/office/drawing/2014/main" id="{1FE51D14-4106-4C82-897C-A2AF7B6654BE}"/>
              </a:ext>
            </a:extLst>
          </p:cNvPr>
          <p:cNvSpPr>
            <a:spLocks xmlns:a="http://schemas.openxmlformats.org/drawingml/2006/main" noGrp="1"/>
          </p:cNvSpPr>
          <p:nvPr/>
        </p:nvSpPr>
        <p:spPr>
          <a:xfrm xmlns:a="http://schemas.openxmlformats.org/drawingml/2006/main">
            <a:off x="11191875" y="6496050"/>
            <a:ext cx="428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7A6D72"/>
                </a:solidFill>
              </a:defRPr>
            </a:pPr>
            <a:r>
              <a:rPr sz="900" b="1">
                <a:solidFill>
                  <a:srgbClr val="7A6D72"/>
                </a:solidFill>
              </a:rPr>
              <a:t>04</a:t>
            </a:r>
          </a:p>
        </p:txBody>
      </p:sp>
    </p:spTree>
    <p:extLst>
      <p:ext uri="{BB962C8B-B14F-4D97-AF65-F5344CB8AC3E}">
        <p14:creationId xmlns:p14="http://schemas.microsoft.com/office/powerpoint/2010/main" val="464545675"/>
      </p:ext>
    </p:extLst>
  </p:cSld>
</p:sld>
</file>

<file path=ppt/slides/slide5.xml><?xml version="1.0" encoding="utf-8"?>
<p:sld xmlns:p="http://schemas.openxmlformats.org/presentationml/2006/main">
  <p:cSld>
    <p:bg>
      <p:bgPr>
        <a:solidFill xmlns:a="http://schemas.openxmlformats.org/drawingml/2006/main">
          <a:srgbClr val="FBF6F0"/>
        </a:solidFill>
      </p:bgPr>
    </p:bg>
    <p:spTree>
      <p:nvGrpSpPr>
        <p:cNvPr id="1" name=""/>
        <p:cNvGrpSpPr/>
        <p:nvPr/>
      </p:nvGrpSpPr>
      <p:grpSpPr>
        <a:xfrm xmlns:a="http://schemas.openxmlformats.org/drawingml/2006/main"/>
      </p:grpSpPr>
      <p:sp>
        <p:nvSpPr>
          <p:cNvPr id="14" name="top-accent">
            <a:extLst xmlns:a="http://schemas.openxmlformats.org/drawingml/2006/main">
              <a:ext uri="{FF2B5EF4-FFF2-40B4-BE49-F238E27FC236}">
                <a16:creationId xmlns:a16="http://schemas.microsoft.com/office/drawing/2014/main" id="{20754D1B-D4A6-42E0-A83F-E9EA060F47BA}"/>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C94C46"/>
          </a:solidFill>
          <a:ln xmlns:a="http://schemas.openxmlformats.org/drawingml/2006/main" w="0">
            <a:noFill/>
            <a:prstDash val="solid"/>
          </a:ln>
        </p:spPr>
      </p:sp>
      <p:sp>
        <p:nvSpPr>
          <p:cNvPr id="2" name="section-eyebrow">
            <a:extLst xmlns:a="http://schemas.openxmlformats.org/drawingml/2006/main">
              <a:ext uri="{FF2B5EF4-FFF2-40B4-BE49-F238E27FC236}">
                <a16:creationId xmlns:a16="http://schemas.microsoft.com/office/drawing/2014/main" id="{7BFA697E-1895-40C4-960E-8996763AE343}"/>
              </a:ext>
            </a:extLst>
          </p:cNvPr>
          <p:cNvSpPr>
            <a:spLocks xmlns:a="http://schemas.openxmlformats.org/drawingml/2006/main" noGrp="1"/>
          </p:cNvSpPr>
          <p:nvPr/>
        </p:nvSpPr>
        <p:spPr>
          <a:xfrm xmlns:a="http://schemas.openxmlformats.org/drawingml/2006/main">
            <a:off x="609600" y="400050"/>
            <a:ext cx="1047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C94C46"/>
                </a:solidFill>
              </a:defRPr>
            </a:pPr>
            <a:r>
              <a:rPr sz="1125" b="1">
                <a:solidFill>
                  <a:srgbClr val="C94C46"/>
                </a:solidFill>
              </a:rPr>
              <a:t>7.3 · APPLY LAYOUT CONSTRAINTS BEFORE EFFICIENCY</a:t>
            </a:r>
          </a:p>
        </p:txBody>
      </p:sp>
      <p:sp>
        <p:nvSpPr>
          <p:cNvPr id="3" name="slide-title">
            <a:extLst xmlns:a="http://schemas.openxmlformats.org/drawingml/2006/main">
              <a:ext uri="{FF2B5EF4-FFF2-40B4-BE49-F238E27FC236}">
                <a16:creationId xmlns:a16="http://schemas.microsoft.com/office/drawing/2014/main" id="{67393CA9-1092-4D7C-879A-2CDE8A6A2278}"/>
              </a:ext>
            </a:extLst>
          </p:cNvPr>
          <p:cNvSpPr>
            <a:spLocks xmlns:a="http://schemas.openxmlformats.org/drawingml/2006/main" noGrp="1"/>
          </p:cNvSpPr>
          <p:nvPr/>
        </p:nvSpPr>
        <p:spPr>
          <a:xfrm xmlns:a="http://schemas.openxmlformats.org/drawingml/2006/main">
            <a:off x="609600" y="723900"/>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2A101C"/>
                </a:solidFill>
              </a:defRPr>
            </a:pPr>
            <a:r>
              <a:rPr sz="2850" b="1">
                <a:solidFill>
                  <a:srgbClr val="2A101C"/>
                </a:solidFill>
              </a:rPr>
              <a:t>Layout, quantity, cost and alterations</a:t>
            </a:r>
          </a:p>
        </p:txBody>
      </p:sp>
      <p:sp>
        <p:nvSpPr>
          <p:cNvPr id="4" name="image-frame">
            <a:extLst xmlns:a="http://schemas.openxmlformats.org/drawingml/2006/main">
              <a:ext uri="{FF2B5EF4-FFF2-40B4-BE49-F238E27FC236}">
                <a16:creationId xmlns:a16="http://schemas.microsoft.com/office/drawing/2014/main" id="{225BDD98-81A7-4C38-8817-0F9DFFC7A6A2}"/>
              </a:ext>
            </a:extLst>
          </p:cNvPr>
          <p:cNvSpPr>
            <a:spLocks xmlns:a="http://schemas.openxmlformats.org/drawingml/2006/main" noGrp="1"/>
          </p:cNvSpPr>
          <p:nvPr/>
        </p:nvSpPr>
        <p:spPr>
          <a:xfrm xmlns:a="http://schemas.openxmlformats.org/drawingml/2006/main">
            <a:off x="552450" y="1504950"/>
            <a:ext cx="4953000" cy="3448050"/>
          </a:xfrm>
          <a:prstGeom xmlns:a="http://schemas.openxmlformats.org/drawingml/2006/main" prst="roundRect">
            <a:avLst>
              <a:gd name="adj" fmla="val 4972"/>
            </a:avLst>
          </a:prstGeom>
          <a:solidFill xmlns:a="http://schemas.openxmlformats.org/drawingml/2006/main">
            <a:srgbClr val="C94C46"/>
          </a:solidFill>
          <a:ln xmlns:a="http://schemas.openxmlformats.org/drawingml/2006/main" w="0">
            <a:noFill/>
            <a:prstDash val="solid"/>
          </a:ln>
        </p:spPr>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5c32ac146c6943ea"/>
          <a:srcRect xmlns:a="http://schemas.openxmlformats.org/drawingml/2006/main" l="1619" t="0" r="1619" b="0"/>
          <a:stretch xmlns:a="http://schemas.openxmlformats.org/drawingml/2006/main">
            <a:fillRect l="0" t="0" r="0" b="0"/>
          </a:stretch>
        </p:blipFill>
        <p:spPr>
          <a:xfrm xmlns:a="http://schemas.openxmlformats.org/drawingml/2006/main">
            <a:off x="609600" y="1562100"/>
            <a:ext cx="4838700" cy="3333750"/>
          </a:xfrm>
          <a:prstGeom xmlns:a="http://schemas.openxmlformats.org/drawingml/2006/main" prst="rect">
            <a:avLst/>
          </a:prstGeom>
        </p:spPr>
      </p:pic>
      <p:sp>
        <p:nvSpPr>
          <p:cNvPr id="6" name="visual-caption">
            <a:extLst xmlns:a="http://schemas.openxmlformats.org/drawingml/2006/main">
              <a:ext uri="{FF2B5EF4-FFF2-40B4-BE49-F238E27FC236}">
                <a16:creationId xmlns:a16="http://schemas.microsoft.com/office/drawing/2014/main" id="{36C973EA-AD60-4493-8FC0-67AFDCC55626}"/>
              </a:ext>
            </a:extLst>
          </p:cNvPr>
          <p:cNvSpPr>
            <a:spLocks xmlns:a="http://schemas.openxmlformats.org/drawingml/2006/main" noGrp="1"/>
          </p:cNvSpPr>
          <p:nvPr/>
        </p:nvSpPr>
        <p:spPr>
          <a:xfrm xmlns:a="http://schemas.openxmlformats.org/drawingml/2006/main">
            <a:off x="609600" y="5029200"/>
            <a:ext cx="48387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5C5357"/>
                </a:solidFill>
              </a:defRPr>
            </a:pPr>
            <a:r>
              <a:rPr sz="1200" b="0">
                <a:solidFill>
                  <a:srgbClr val="5C5357"/>
                </a:solidFill>
              </a:rPr>
              <a:t>Look closely: find visible evidence for this claim — A layout must first satisfy view, piece, grain, fold and material-direction requirements.</a:t>
            </a:r>
          </a:p>
        </p:txBody>
      </p:sp>
      <p:sp>
        <p:nvSpPr>
          <p:cNvPr id="7" name="key-idea-label">
            <a:extLst xmlns:a="http://schemas.openxmlformats.org/drawingml/2006/main">
              <a:ext uri="{FF2B5EF4-FFF2-40B4-BE49-F238E27FC236}">
                <a16:creationId xmlns:a16="http://schemas.microsoft.com/office/drawing/2014/main" id="{74C70767-6A88-4C7E-ADC8-0C75CBEA8C82}"/>
              </a:ext>
            </a:extLst>
          </p:cNvPr>
          <p:cNvSpPr>
            <a:spLocks xmlns:a="http://schemas.openxmlformats.org/drawingml/2006/main" noGrp="1"/>
          </p:cNvSpPr>
          <p:nvPr/>
        </p:nvSpPr>
        <p:spPr>
          <a:xfrm xmlns:a="http://schemas.openxmlformats.org/drawingml/2006/main">
            <a:off x="5943600" y="1562100"/>
            <a:ext cx="4838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C94C46"/>
                </a:solidFill>
              </a:defRPr>
            </a:pPr>
            <a:r>
              <a:rPr sz="1200" b="1">
                <a:solidFill>
                  <a:srgbClr val="C94C46"/>
                </a:solidFill>
              </a:rPr>
              <a:t>THE KEY IDEA</a:t>
            </a:r>
          </a:p>
        </p:txBody>
      </p:sp>
      <p:sp>
        <p:nvSpPr>
          <p:cNvPr id="8" name="key-idea-copy">
            <a:extLst xmlns:a="http://schemas.openxmlformats.org/drawingml/2006/main">
              <a:ext uri="{FF2B5EF4-FFF2-40B4-BE49-F238E27FC236}">
                <a16:creationId xmlns:a16="http://schemas.microsoft.com/office/drawing/2014/main" id="{723C3159-77FE-4038-933B-56DBB8F71600}"/>
              </a:ext>
            </a:extLst>
          </p:cNvPr>
          <p:cNvSpPr>
            <a:spLocks xmlns:a="http://schemas.openxmlformats.org/drawingml/2006/main" noGrp="1"/>
          </p:cNvSpPr>
          <p:nvPr/>
        </p:nvSpPr>
        <p:spPr>
          <a:xfrm xmlns:a="http://schemas.openxmlformats.org/drawingml/2006/main">
            <a:off x="5943600" y="1924050"/>
            <a:ext cx="4838700" cy="1981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2A101C"/>
                </a:solidFill>
              </a:defRPr>
            </a:pPr>
            <a:r>
              <a:rPr sz="1500" b="0">
                <a:solidFill>
                  <a:srgbClr val="2A101C"/>
                </a:solidFill>
              </a:rPr>
              <a:t>A layout must first satisfy view, piece, grain, fold and material-direction requirements. Efficiency reduces unnecessary use only within those constraints. Quantity and cost calculations need the matching width, size, view, units and current price. Alterations can affect fit, matching, sequence, layout and quantity, so they require authorised guidance.</a:t>
            </a:r>
          </a:p>
        </p:txBody>
      </p:sp>
      <p:sp>
        <p:nvSpPr>
          <p:cNvPr id="9" name="application-block">
            <a:extLst xmlns:a="http://schemas.openxmlformats.org/drawingml/2006/main">
              <a:ext uri="{FF2B5EF4-FFF2-40B4-BE49-F238E27FC236}">
                <a16:creationId xmlns:a16="http://schemas.microsoft.com/office/drawing/2014/main" id="{69307456-E5C3-4492-B7C6-831575BFE203}"/>
              </a:ext>
            </a:extLst>
          </p:cNvPr>
          <p:cNvSpPr>
            <a:spLocks xmlns:a="http://schemas.openxmlformats.org/drawingml/2006/main" noGrp="1"/>
          </p:cNvSpPr>
          <p:nvPr/>
        </p:nvSpPr>
        <p:spPr>
          <a:xfrm xmlns:a="http://schemas.openxmlformats.org/drawingml/2006/main">
            <a:off x="5943600" y="4114800"/>
            <a:ext cx="4838700" cy="1524000"/>
          </a:xfrm>
          <a:prstGeom xmlns:a="http://schemas.openxmlformats.org/drawingml/2006/main" prst="roundRect">
            <a:avLst>
              <a:gd name="adj" fmla="val 10000"/>
            </a:avLst>
          </a:prstGeom>
          <a:solidFill xmlns:a="http://schemas.openxmlformats.org/drawingml/2006/main">
            <a:srgbClr val="F1D5DE"/>
          </a:solidFill>
          <a:ln xmlns:a="http://schemas.openxmlformats.org/drawingml/2006/main" w="0">
            <a:noFill/>
            <a:prstDash val="solid"/>
          </a:ln>
        </p:spPr>
      </p:sp>
      <p:sp>
        <p:nvSpPr>
          <p:cNvPr id="10" name="application-label">
            <a:extLst xmlns:a="http://schemas.openxmlformats.org/drawingml/2006/main">
              <a:ext uri="{FF2B5EF4-FFF2-40B4-BE49-F238E27FC236}">
                <a16:creationId xmlns:a16="http://schemas.microsoft.com/office/drawing/2014/main" id="{677B5523-5D16-485C-85AC-BA8B135C6E14}"/>
              </a:ext>
            </a:extLst>
          </p:cNvPr>
          <p:cNvSpPr>
            <a:spLocks xmlns:a="http://schemas.openxmlformats.org/drawingml/2006/main" noGrp="1"/>
          </p:cNvSpPr>
          <p:nvPr/>
        </p:nvSpPr>
        <p:spPr>
          <a:xfrm xmlns:a="http://schemas.openxmlformats.org/drawingml/2006/main">
            <a:off x="6172200" y="4295775"/>
            <a:ext cx="438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C94C46"/>
                </a:solidFill>
              </a:defRPr>
            </a:pPr>
            <a:r>
              <a:rPr sz="1200" b="1">
                <a:solidFill>
                  <a:srgbClr val="C94C46"/>
                </a:solidFill>
              </a:rPr>
              <a:t>USE THIS IDEA</a:t>
            </a:r>
          </a:p>
        </p:txBody>
      </p:sp>
      <p:sp>
        <p:nvSpPr>
          <p:cNvPr id="11" name="application-copy">
            <a:extLst xmlns:a="http://schemas.openxmlformats.org/drawingml/2006/main">
              <a:ext uri="{FF2B5EF4-FFF2-40B4-BE49-F238E27FC236}">
                <a16:creationId xmlns:a16="http://schemas.microsoft.com/office/drawing/2014/main" id="{0A3AD66A-5049-4DC7-A613-0FF629DD9B5B}"/>
              </a:ext>
            </a:extLst>
          </p:cNvPr>
          <p:cNvSpPr>
            <a:spLocks xmlns:a="http://schemas.openxmlformats.org/drawingml/2006/main" noGrp="1"/>
          </p:cNvSpPr>
          <p:nvPr/>
        </p:nvSpPr>
        <p:spPr>
          <a:xfrm xmlns:a="http://schemas.openxmlformats.org/drawingml/2006/main">
            <a:off x="6172200" y="4629150"/>
            <a:ext cx="4381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2A101C"/>
                </a:solidFill>
              </a:defRPr>
            </a:pPr>
            <a:r>
              <a:rPr sz="1350" b="0">
                <a:solidFill>
                  <a:srgbClr val="2A101C"/>
                </a:solidFill>
              </a:rPr>
              <a:t>Using a teacher-approved mini-layout or paper simulation, identify all constraints, compare two compliant arrangements and calculate a fictional cost from supplied quantity and price. Mark any change that would count as an alteration requiring approval.</a:t>
            </a:r>
          </a:p>
        </p:txBody>
      </p:sp>
      <p:sp>
        <p:nvSpPr>
          <p:cNvPr id="12" name="footer-module-5">
            <a:extLst xmlns:a="http://schemas.openxmlformats.org/drawingml/2006/main">
              <a:ext uri="{FF2B5EF4-FFF2-40B4-BE49-F238E27FC236}">
                <a16:creationId xmlns:a16="http://schemas.microsoft.com/office/drawing/2014/main" id="{DC8672B2-79D3-47E9-B2C6-EDDCDC74FAF8}"/>
              </a:ext>
            </a:extLst>
          </p:cNvPr>
          <p:cNvSpPr>
            <a:spLocks xmlns:a="http://schemas.openxmlformats.org/drawingml/2006/main" noGrp="1"/>
          </p:cNvSpPr>
          <p:nvPr/>
        </p:nvSpPr>
        <p:spPr>
          <a:xfrm xmlns:a="http://schemas.openxmlformats.org/drawingml/2006/main">
            <a:off x="571500" y="649605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7A6D72"/>
                </a:solidFill>
              </a:defRPr>
            </a:pPr>
            <a:r>
              <a:rPr sz="900" b="1">
                <a:solidFill>
                  <a:srgbClr val="7A6D72"/>
                </a:solidFill>
              </a:rPr>
              <a:t>MODULE 07 · YEAR 8 TEXTILES TECHNOLOGY</a:t>
            </a:r>
          </a:p>
        </p:txBody>
      </p:sp>
      <p:sp>
        <p:nvSpPr>
          <p:cNvPr id="13" name="footer-number-5">
            <a:extLst xmlns:a="http://schemas.openxmlformats.org/drawingml/2006/main">
              <a:ext uri="{FF2B5EF4-FFF2-40B4-BE49-F238E27FC236}">
                <a16:creationId xmlns:a16="http://schemas.microsoft.com/office/drawing/2014/main" id="{97D68CDC-A190-45A9-B797-D3E034722E03}"/>
              </a:ext>
            </a:extLst>
          </p:cNvPr>
          <p:cNvSpPr>
            <a:spLocks xmlns:a="http://schemas.openxmlformats.org/drawingml/2006/main" noGrp="1"/>
          </p:cNvSpPr>
          <p:nvPr/>
        </p:nvSpPr>
        <p:spPr>
          <a:xfrm xmlns:a="http://schemas.openxmlformats.org/drawingml/2006/main">
            <a:off x="11191875" y="6496050"/>
            <a:ext cx="428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7A6D72"/>
                </a:solidFill>
              </a:defRPr>
            </a:pPr>
            <a:r>
              <a:rPr sz="900" b="1">
                <a:solidFill>
                  <a:srgbClr val="7A6D72"/>
                </a:solidFill>
              </a:rPr>
              <a:t>05</a:t>
            </a:r>
          </a:p>
        </p:txBody>
      </p:sp>
    </p:spTree>
    <p:extLst>
      <p:ext uri="{BB962C8B-B14F-4D97-AF65-F5344CB8AC3E}">
        <p14:creationId xmlns:p14="http://schemas.microsoft.com/office/powerpoint/2010/main" val="1049084798"/>
      </p:ext>
    </p:extLst>
  </p:cSld>
</p:sld>
</file>

<file path=ppt/slides/slide6.xml><?xml version="1.0" encoding="utf-8"?>
<p:sld xmlns:p="http://schemas.openxmlformats.org/presentationml/2006/main">
  <p:cSld>
    <p:bg>
      <p:bgPr>
        <a:solidFill xmlns:a="http://schemas.openxmlformats.org/drawingml/2006/main">
          <a:srgbClr val="721735"/>
        </a:solidFill>
      </p:bgPr>
    </p:bg>
    <p:spTree>
      <p:nvGrpSpPr>
        <p:cNvPr id="1" name=""/>
        <p:cNvGrpSpPr/>
        <p:nvPr/>
      </p:nvGrpSpPr>
      <p:grpSpPr>
        <a:xfrm xmlns:a="http://schemas.openxmlformats.org/drawingml/2006/main"/>
      </p:grpSpPr>
      <p:sp>
        <p:nvSpPr>
          <p:cNvPr id="20" name="slide-title">
            <a:extLst xmlns:a="http://schemas.openxmlformats.org/drawingml/2006/main">
              <a:ext uri="{FF2B5EF4-FFF2-40B4-BE49-F238E27FC236}">
                <a16:creationId xmlns:a16="http://schemas.microsoft.com/office/drawing/2014/main" id="{509C8949-3B95-45AD-BEFD-47E5A26299C3}"/>
              </a:ext>
            </a:extLst>
          </p:cNvPr>
          <p:cNvSpPr>
            <a:spLocks xmlns:a="http://schemas.openxmlformats.org/drawingml/2006/main" noGrp="1"/>
          </p:cNvSpPr>
          <p:nvPr/>
        </p:nvSpPr>
        <p:spPr>
          <a:xfrm xmlns:a="http://schemas.openxmlformats.org/drawingml/2006/main">
            <a:off x="609600" y="552450"/>
            <a:ext cx="8572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300" b="1">
                <a:solidFill>
                  <a:srgbClr val="FFFFFF"/>
                </a:solidFill>
              </a:defRPr>
            </a:pPr>
            <a:r>
              <a:rPr sz="3300" b="1">
                <a:solidFill>
                  <a:srgbClr val="FFFFFF"/>
                </a:solidFill>
              </a:rPr>
              <a:t>Stop. Think. Explain.</a:t>
            </a:r>
          </a:p>
        </p:txBody>
      </p:sp>
      <p:sp>
        <p:nvSpPr>
          <p:cNvPr id="2" name="retrieval-instruction">
            <a:extLst xmlns:a="http://schemas.openxmlformats.org/drawingml/2006/main">
              <a:ext uri="{FF2B5EF4-FFF2-40B4-BE49-F238E27FC236}">
                <a16:creationId xmlns:a16="http://schemas.microsoft.com/office/drawing/2014/main" id="{4590D630-1C90-4CD0-81C9-C07C0568661A}"/>
              </a:ext>
            </a:extLst>
          </p:cNvPr>
          <p:cNvSpPr>
            <a:spLocks xmlns:a="http://schemas.openxmlformats.org/drawingml/2006/main" noGrp="1"/>
          </p:cNvSpPr>
          <p:nvPr/>
        </p:nvSpPr>
        <p:spPr>
          <a:xfrm xmlns:a="http://schemas.openxmlformats.org/drawingml/2006/main">
            <a:off x="609600" y="1200150"/>
            <a:ext cx="10287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F3DCE5"/>
                </a:solidFill>
              </a:defRPr>
            </a:pPr>
            <a:r>
              <a:rPr sz="1500" b="0">
                <a:solidFill>
                  <a:srgbClr val="F3DCE5"/>
                </a:solidFill>
              </a:rPr>
              <a:t>Correct or improve each claim, then support your answer with evidence from the module.</a:t>
            </a:r>
          </a:p>
        </p:txBody>
      </p:sp>
      <p:sp>
        <p:nvSpPr>
          <p:cNvPr id="3" name="retrieval-number-bg-1">
            <a:extLst xmlns:a="http://schemas.openxmlformats.org/drawingml/2006/main">
              <a:ext uri="{FF2B5EF4-FFF2-40B4-BE49-F238E27FC236}">
                <a16:creationId xmlns:a16="http://schemas.microsoft.com/office/drawing/2014/main" id="{4FD3EB3E-0D46-40A1-ABBF-32C234316342}"/>
              </a:ext>
            </a:extLst>
          </p:cNvPr>
          <p:cNvSpPr>
            <a:spLocks xmlns:a="http://schemas.openxmlformats.org/drawingml/2006/main" noGrp="1"/>
          </p:cNvSpPr>
          <p:nvPr/>
        </p:nvSpPr>
        <p:spPr>
          <a:xfrm xmlns:a="http://schemas.openxmlformats.org/drawingml/2006/main">
            <a:off x="685800" y="1924050"/>
            <a:ext cx="457200" cy="45720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0">
            <a:noFill/>
            <a:prstDash val="solid"/>
          </a:ln>
        </p:spPr>
      </p:sp>
      <p:sp>
        <p:nvSpPr>
          <p:cNvPr id="4" name="retrieval-number-1">
            <a:extLst xmlns:a="http://schemas.openxmlformats.org/drawingml/2006/main">
              <a:ext uri="{FF2B5EF4-FFF2-40B4-BE49-F238E27FC236}">
                <a16:creationId xmlns:a16="http://schemas.microsoft.com/office/drawing/2014/main" id="{248D4BBB-98D6-430B-8284-8A54CE20943A}"/>
              </a:ext>
            </a:extLst>
          </p:cNvPr>
          <p:cNvSpPr>
            <a:spLocks xmlns:a="http://schemas.openxmlformats.org/drawingml/2006/main" noGrp="1"/>
          </p:cNvSpPr>
          <p:nvPr/>
        </p:nvSpPr>
        <p:spPr>
          <a:xfrm xmlns:a="http://schemas.openxmlformats.org/drawingml/2006/main">
            <a:off x="685800" y="2009775"/>
            <a:ext cx="457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425" b="1">
                <a:solidFill>
                  <a:srgbClr val="721735"/>
                </a:solidFill>
              </a:defRPr>
            </a:pPr>
            <a:r>
              <a:rPr sz="1425" b="1">
                <a:solidFill>
                  <a:srgbClr val="721735"/>
                </a:solidFill>
              </a:rPr>
              <a:t>1</a:t>
            </a:r>
          </a:p>
        </p:txBody>
      </p:sp>
      <p:sp>
        <p:nvSpPr>
          <p:cNvPr id="5" name="retrieval-question-1">
            <a:extLst xmlns:a="http://schemas.openxmlformats.org/drawingml/2006/main">
              <a:ext uri="{FF2B5EF4-FFF2-40B4-BE49-F238E27FC236}">
                <a16:creationId xmlns:a16="http://schemas.microsoft.com/office/drawing/2014/main" id="{10015975-3308-4FF8-8766-BD29D7AA31FA}"/>
              </a:ext>
            </a:extLst>
          </p:cNvPr>
          <p:cNvSpPr>
            <a:spLocks xmlns:a="http://schemas.openxmlformats.org/drawingml/2006/main" noGrp="1"/>
          </p:cNvSpPr>
          <p:nvPr/>
        </p:nvSpPr>
        <p:spPr>
          <a:xfrm xmlns:a="http://schemas.openxmlformats.org/drawingml/2006/main">
            <a:off x="1428750" y="1943100"/>
            <a:ext cx="9810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FFFFFF"/>
                </a:solidFill>
              </a:defRPr>
            </a:pPr>
            <a:r>
              <a:rPr sz="1500" b="0">
                <a:solidFill>
                  <a:srgbClr val="FFFFFF"/>
                </a:solidFill>
              </a:rPr>
              <a:t>Correct or improve: “My usual shop clothing size tells me which pattern size to cut.”</a:t>
            </a:r>
          </a:p>
        </p:txBody>
      </p:sp>
      <p:sp>
        <p:nvSpPr>
          <p:cNvPr id="6" name="retrieval-rule-1">
            <a:extLst xmlns:a="http://schemas.openxmlformats.org/drawingml/2006/main">
              <a:ext uri="{FF2B5EF4-FFF2-40B4-BE49-F238E27FC236}">
                <a16:creationId xmlns:a16="http://schemas.microsoft.com/office/drawing/2014/main" id="{127EC377-2EE8-4426-9FA3-13916478C0B8}"/>
              </a:ext>
            </a:extLst>
          </p:cNvPr>
          <p:cNvSpPr>
            <a:spLocks xmlns:a="http://schemas.openxmlformats.org/drawingml/2006/main" noGrp="1"/>
          </p:cNvSpPr>
          <p:nvPr/>
        </p:nvSpPr>
        <p:spPr>
          <a:xfrm xmlns:a="http://schemas.openxmlformats.org/drawingml/2006/main">
            <a:off x="1428750" y="2657475"/>
            <a:ext cx="9620250" cy="19050"/>
          </a:xfrm>
          <a:prstGeom xmlns:a="http://schemas.openxmlformats.org/drawingml/2006/main" prst="rect">
            <a:avLst/>
          </a:prstGeom>
          <a:solidFill xmlns:a="http://schemas.openxmlformats.org/drawingml/2006/main">
            <a:srgbClr val="A64B68"/>
          </a:solidFill>
          <a:ln xmlns:a="http://schemas.openxmlformats.org/drawingml/2006/main" w="0">
            <a:noFill/>
            <a:prstDash val="solid"/>
          </a:ln>
        </p:spPr>
      </p:sp>
      <p:sp>
        <p:nvSpPr>
          <p:cNvPr id="7" name="retrieval-number-bg-2">
            <a:extLst xmlns:a="http://schemas.openxmlformats.org/drawingml/2006/main">
              <a:ext uri="{FF2B5EF4-FFF2-40B4-BE49-F238E27FC236}">
                <a16:creationId xmlns:a16="http://schemas.microsoft.com/office/drawing/2014/main" id="{2249B1A1-A79B-4B90-9E26-EE5BC15DC9A6}"/>
              </a:ext>
            </a:extLst>
          </p:cNvPr>
          <p:cNvSpPr>
            <a:spLocks xmlns:a="http://schemas.openxmlformats.org/drawingml/2006/main" noGrp="1"/>
          </p:cNvSpPr>
          <p:nvPr/>
        </p:nvSpPr>
        <p:spPr>
          <a:xfrm xmlns:a="http://schemas.openxmlformats.org/drawingml/2006/main">
            <a:off x="685800" y="2924175"/>
            <a:ext cx="457200" cy="457200"/>
          </a:xfrm>
          <a:prstGeom xmlns:a="http://schemas.openxmlformats.org/drawingml/2006/main" prst="roundRect">
            <a:avLst>
              <a:gd name="adj" fmla="val 50000"/>
            </a:avLst>
          </a:prstGeom>
          <a:solidFill xmlns:a="http://schemas.openxmlformats.org/drawingml/2006/main">
            <a:srgbClr val="D6A238"/>
          </a:solidFill>
          <a:ln xmlns:a="http://schemas.openxmlformats.org/drawingml/2006/main" w="0">
            <a:noFill/>
            <a:prstDash val="solid"/>
          </a:ln>
        </p:spPr>
      </p:sp>
      <p:sp>
        <p:nvSpPr>
          <p:cNvPr id="8" name="retrieval-number-2">
            <a:extLst xmlns:a="http://schemas.openxmlformats.org/drawingml/2006/main">
              <a:ext uri="{FF2B5EF4-FFF2-40B4-BE49-F238E27FC236}">
                <a16:creationId xmlns:a16="http://schemas.microsoft.com/office/drawing/2014/main" id="{7CE36D38-BEA9-4DBB-9763-1BE8A5B3B7FB}"/>
              </a:ext>
            </a:extLst>
          </p:cNvPr>
          <p:cNvSpPr>
            <a:spLocks xmlns:a="http://schemas.openxmlformats.org/drawingml/2006/main" noGrp="1"/>
          </p:cNvSpPr>
          <p:nvPr/>
        </p:nvSpPr>
        <p:spPr>
          <a:xfrm xmlns:a="http://schemas.openxmlformats.org/drawingml/2006/main">
            <a:off x="685800" y="3009900"/>
            <a:ext cx="457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425" b="1">
                <a:solidFill>
                  <a:srgbClr val="721735"/>
                </a:solidFill>
              </a:defRPr>
            </a:pPr>
            <a:r>
              <a:rPr sz="1425" b="1">
                <a:solidFill>
                  <a:srgbClr val="721735"/>
                </a:solidFill>
              </a:rPr>
              <a:t>2</a:t>
            </a:r>
          </a:p>
        </p:txBody>
      </p:sp>
      <p:sp>
        <p:nvSpPr>
          <p:cNvPr id="9" name="retrieval-question-2">
            <a:extLst xmlns:a="http://schemas.openxmlformats.org/drawingml/2006/main">
              <a:ext uri="{FF2B5EF4-FFF2-40B4-BE49-F238E27FC236}">
                <a16:creationId xmlns:a16="http://schemas.microsoft.com/office/drawing/2014/main" id="{9737A03E-A534-4719-9546-7384DCB271D0}"/>
              </a:ext>
            </a:extLst>
          </p:cNvPr>
          <p:cNvSpPr>
            <a:spLocks xmlns:a="http://schemas.openxmlformats.org/drawingml/2006/main" noGrp="1"/>
          </p:cNvSpPr>
          <p:nvPr/>
        </p:nvSpPr>
        <p:spPr>
          <a:xfrm xmlns:a="http://schemas.openxmlformats.org/drawingml/2006/main">
            <a:off x="1428750" y="2943225"/>
            <a:ext cx="9810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FFFFFF"/>
                </a:solidFill>
              </a:defRPr>
            </a:pPr>
            <a:r>
              <a:rPr sz="1500" b="0">
                <a:solidFill>
                  <a:srgbClr val="FFFFFF"/>
                </a:solidFill>
              </a:rPr>
              <a:t>Correct or improve: “If two pieces have a similar outline, either one can be used.”</a:t>
            </a:r>
          </a:p>
        </p:txBody>
      </p:sp>
      <p:sp>
        <p:nvSpPr>
          <p:cNvPr id="10" name="retrieval-rule-2">
            <a:extLst xmlns:a="http://schemas.openxmlformats.org/drawingml/2006/main">
              <a:ext uri="{FF2B5EF4-FFF2-40B4-BE49-F238E27FC236}">
                <a16:creationId xmlns:a16="http://schemas.microsoft.com/office/drawing/2014/main" id="{B4AF285E-B885-4D88-A99E-18AC3F73F454}"/>
              </a:ext>
            </a:extLst>
          </p:cNvPr>
          <p:cNvSpPr>
            <a:spLocks xmlns:a="http://schemas.openxmlformats.org/drawingml/2006/main" noGrp="1"/>
          </p:cNvSpPr>
          <p:nvPr/>
        </p:nvSpPr>
        <p:spPr>
          <a:xfrm xmlns:a="http://schemas.openxmlformats.org/drawingml/2006/main">
            <a:off x="1428750" y="3657600"/>
            <a:ext cx="9620250" cy="19050"/>
          </a:xfrm>
          <a:prstGeom xmlns:a="http://schemas.openxmlformats.org/drawingml/2006/main" prst="rect">
            <a:avLst/>
          </a:prstGeom>
          <a:solidFill xmlns:a="http://schemas.openxmlformats.org/drawingml/2006/main">
            <a:srgbClr val="A64B68"/>
          </a:solidFill>
          <a:ln xmlns:a="http://schemas.openxmlformats.org/drawingml/2006/main" w="0">
            <a:noFill/>
            <a:prstDash val="solid"/>
          </a:ln>
        </p:spPr>
      </p:sp>
      <p:sp>
        <p:nvSpPr>
          <p:cNvPr id="11" name="retrieval-number-bg-3">
            <a:extLst xmlns:a="http://schemas.openxmlformats.org/drawingml/2006/main">
              <a:ext uri="{FF2B5EF4-FFF2-40B4-BE49-F238E27FC236}">
                <a16:creationId xmlns:a16="http://schemas.microsoft.com/office/drawing/2014/main" id="{E2A1541D-9C4C-496F-8B6C-C85B10813223}"/>
              </a:ext>
            </a:extLst>
          </p:cNvPr>
          <p:cNvSpPr>
            <a:spLocks xmlns:a="http://schemas.openxmlformats.org/drawingml/2006/main" noGrp="1"/>
          </p:cNvSpPr>
          <p:nvPr/>
        </p:nvSpPr>
        <p:spPr>
          <a:xfrm xmlns:a="http://schemas.openxmlformats.org/drawingml/2006/main">
            <a:off x="685800" y="3924300"/>
            <a:ext cx="457200" cy="45720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0">
            <a:noFill/>
            <a:prstDash val="solid"/>
          </a:ln>
        </p:spPr>
      </p:sp>
      <p:sp>
        <p:nvSpPr>
          <p:cNvPr id="12" name="retrieval-number-3">
            <a:extLst xmlns:a="http://schemas.openxmlformats.org/drawingml/2006/main">
              <a:ext uri="{FF2B5EF4-FFF2-40B4-BE49-F238E27FC236}">
                <a16:creationId xmlns:a16="http://schemas.microsoft.com/office/drawing/2014/main" id="{D3893A81-A706-44DD-93DB-62A083B2A00F}"/>
              </a:ext>
            </a:extLst>
          </p:cNvPr>
          <p:cNvSpPr>
            <a:spLocks xmlns:a="http://schemas.openxmlformats.org/drawingml/2006/main" noGrp="1"/>
          </p:cNvSpPr>
          <p:nvPr/>
        </p:nvSpPr>
        <p:spPr>
          <a:xfrm xmlns:a="http://schemas.openxmlformats.org/drawingml/2006/main">
            <a:off x="685800" y="4010025"/>
            <a:ext cx="457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425" b="1">
                <a:solidFill>
                  <a:srgbClr val="721735"/>
                </a:solidFill>
              </a:defRPr>
            </a:pPr>
            <a:r>
              <a:rPr sz="1425" b="1">
                <a:solidFill>
                  <a:srgbClr val="721735"/>
                </a:solidFill>
              </a:rPr>
              <a:t>3</a:t>
            </a:r>
          </a:p>
        </p:txBody>
      </p:sp>
      <p:sp>
        <p:nvSpPr>
          <p:cNvPr id="13" name="retrieval-question-3">
            <a:extLst xmlns:a="http://schemas.openxmlformats.org/drawingml/2006/main">
              <a:ext uri="{FF2B5EF4-FFF2-40B4-BE49-F238E27FC236}">
                <a16:creationId xmlns:a16="http://schemas.microsoft.com/office/drawing/2014/main" id="{B68D86AA-23BA-4C3B-B093-296A910901D5}"/>
              </a:ext>
            </a:extLst>
          </p:cNvPr>
          <p:cNvSpPr>
            <a:spLocks xmlns:a="http://schemas.openxmlformats.org/drawingml/2006/main" noGrp="1"/>
          </p:cNvSpPr>
          <p:nvPr/>
        </p:nvSpPr>
        <p:spPr>
          <a:xfrm xmlns:a="http://schemas.openxmlformats.org/drawingml/2006/main">
            <a:off x="1428750" y="3943350"/>
            <a:ext cx="9810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FFFFFF"/>
                </a:solidFill>
              </a:defRPr>
            </a:pPr>
            <a:r>
              <a:rPr sz="1500" b="0">
                <a:solidFill>
                  <a:srgbClr val="FFFFFF"/>
                </a:solidFill>
              </a:rPr>
              <a:t>Correct or improve: “The layout with the least empty space is always the most sustainable.”</a:t>
            </a:r>
          </a:p>
        </p:txBody>
      </p:sp>
      <p:sp>
        <p:nvSpPr>
          <p:cNvPr id="14" name="retrieval-rule-3">
            <a:extLst xmlns:a="http://schemas.openxmlformats.org/drawingml/2006/main">
              <a:ext uri="{FF2B5EF4-FFF2-40B4-BE49-F238E27FC236}">
                <a16:creationId xmlns:a16="http://schemas.microsoft.com/office/drawing/2014/main" id="{11535177-B116-4272-BED7-3AA3E05787A5}"/>
              </a:ext>
            </a:extLst>
          </p:cNvPr>
          <p:cNvSpPr>
            <a:spLocks xmlns:a="http://schemas.openxmlformats.org/drawingml/2006/main" noGrp="1"/>
          </p:cNvSpPr>
          <p:nvPr/>
        </p:nvSpPr>
        <p:spPr>
          <a:xfrm xmlns:a="http://schemas.openxmlformats.org/drawingml/2006/main">
            <a:off x="1428750" y="4657725"/>
            <a:ext cx="9620250" cy="19050"/>
          </a:xfrm>
          <a:prstGeom xmlns:a="http://schemas.openxmlformats.org/drawingml/2006/main" prst="rect">
            <a:avLst/>
          </a:prstGeom>
          <a:solidFill xmlns:a="http://schemas.openxmlformats.org/drawingml/2006/main">
            <a:srgbClr val="A64B68"/>
          </a:solidFill>
          <a:ln xmlns:a="http://schemas.openxmlformats.org/drawingml/2006/main" w="0">
            <a:noFill/>
            <a:prstDash val="solid"/>
          </a:ln>
        </p:spPr>
      </p:sp>
      <p:sp>
        <p:nvSpPr>
          <p:cNvPr id="15" name="retrieval-number-bg-4">
            <a:extLst xmlns:a="http://schemas.openxmlformats.org/drawingml/2006/main">
              <a:ext uri="{FF2B5EF4-FFF2-40B4-BE49-F238E27FC236}">
                <a16:creationId xmlns:a16="http://schemas.microsoft.com/office/drawing/2014/main" id="{8FD4AEFE-8787-4D7A-A34B-FDC6311305E3}"/>
              </a:ext>
            </a:extLst>
          </p:cNvPr>
          <p:cNvSpPr>
            <a:spLocks xmlns:a="http://schemas.openxmlformats.org/drawingml/2006/main" noGrp="1"/>
          </p:cNvSpPr>
          <p:nvPr/>
        </p:nvSpPr>
        <p:spPr>
          <a:xfrm xmlns:a="http://schemas.openxmlformats.org/drawingml/2006/main">
            <a:off x="685800" y="4924425"/>
            <a:ext cx="457200" cy="45720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0">
            <a:noFill/>
            <a:prstDash val="solid"/>
          </a:ln>
        </p:spPr>
      </p:sp>
      <p:sp>
        <p:nvSpPr>
          <p:cNvPr id="16" name="retrieval-number-4">
            <a:extLst xmlns:a="http://schemas.openxmlformats.org/drawingml/2006/main">
              <a:ext uri="{FF2B5EF4-FFF2-40B4-BE49-F238E27FC236}">
                <a16:creationId xmlns:a16="http://schemas.microsoft.com/office/drawing/2014/main" id="{138E5A55-C1CD-43D4-AE4B-C5129E32730D}"/>
              </a:ext>
            </a:extLst>
          </p:cNvPr>
          <p:cNvSpPr>
            <a:spLocks xmlns:a="http://schemas.openxmlformats.org/drawingml/2006/main" noGrp="1"/>
          </p:cNvSpPr>
          <p:nvPr/>
        </p:nvSpPr>
        <p:spPr>
          <a:xfrm xmlns:a="http://schemas.openxmlformats.org/drawingml/2006/main">
            <a:off x="685800" y="5010150"/>
            <a:ext cx="457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425" b="1">
                <a:solidFill>
                  <a:srgbClr val="721735"/>
                </a:solidFill>
              </a:defRPr>
            </a:pPr>
            <a:r>
              <a:rPr sz="1425" b="1">
                <a:solidFill>
                  <a:srgbClr val="721735"/>
                </a:solidFill>
              </a:rPr>
              <a:t>4</a:t>
            </a:r>
          </a:p>
        </p:txBody>
      </p:sp>
      <p:sp>
        <p:nvSpPr>
          <p:cNvPr id="17" name="retrieval-question-4">
            <a:extLst xmlns:a="http://schemas.openxmlformats.org/drawingml/2006/main">
              <a:ext uri="{FF2B5EF4-FFF2-40B4-BE49-F238E27FC236}">
                <a16:creationId xmlns:a16="http://schemas.microsoft.com/office/drawing/2014/main" id="{235475E5-3C7E-4780-A338-0D7A944502A0}"/>
              </a:ext>
            </a:extLst>
          </p:cNvPr>
          <p:cNvSpPr>
            <a:spLocks xmlns:a="http://schemas.openxmlformats.org/drawingml/2006/main" noGrp="1"/>
          </p:cNvSpPr>
          <p:nvPr/>
        </p:nvSpPr>
        <p:spPr>
          <a:xfrm xmlns:a="http://schemas.openxmlformats.org/drawingml/2006/main">
            <a:off x="1428750" y="4943475"/>
            <a:ext cx="9810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FFFFFF"/>
                </a:solidFill>
              </a:defRPr>
            </a:pPr>
            <a:r>
              <a:rPr sz="1500" b="0">
                <a:solidFill>
                  <a:srgbClr val="FFFFFF"/>
                </a:solidFill>
              </a:rPr>
              <a:t>Connect two ideas: how could one change a decision made with the other?</a:t>
            </a:r>
          </a:p>
        </p:txBody>
      </p:sp>
      <p:sp>
        <p:nvSpPr>
          <p:cNvPr id="18" name="footer-module-6">
            <a:extLst xmlns:a="http://schemas.openxmlformats.org/drawingml/2006/main">
              <a:ext uri="{FF2B5EF4-FFF2-40B4-BE49-F238E27FC236}">
                <a16:creationId xmlns:a16="http://schemas.microsoft.com/office/drawing/2014/main" id="{555F9477-1320-4D82-AAED-93EF03DCF1CB}"/>
              </a:ext>
            </a:extLst>
          </p:cNvPr>
          <p:cNvSpPr>
            <a:spLocks xmlns:a="http://schemas.openxmlformats.org/drawingml/2006/main" noGrp="1"/>
          </p:cNvSpPr>
          <p:nvPr/>
        </p:nvSpPr>
        <p:spPr>
          <a:xfrm xmlns:a="http://schemas.openxmlformats.org/drawingml/2006/main">
            <a:off x="571500" y="649605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F5DCE5"/>
                </a:solidFill>
              </a:defRPr>
            </a:pPr>
            <a:r>
              <a:rPr sz="900" b="1">
                <a:solidFill>
                  <a:srgbClr val="F5DCE5"/>
                </a:solidFill>
              </a:rPr>
              <a:t>MODULE 07 · YEAR 8 TEXTILES TECHNOLOGY</a:t>
            </a:r>
          </a:p>
        </p:txBody>
      </p:sp>
      <p:sp>
        <p:nvSpPr>
          <p:cNvPr id="19" name="footer-number-6">
            <a:extLst xmlns:a="http://schemas.openxmlformats.org/drawingml/2006/main">
              <a:ext uri="{FF2B5EF4-FFF2-40B4-BE49-F238E27FC236}">
                <a16:creationId xmlns:a16="http://schemas.microsoft.com/office/drawing/2014/main" id="{FC0413FB-141F-4DFC-B2B4-688C228F2345}"/>
              </a:ext>
            </a:extLst>
          </p:cNvPr>
          <p:cNvSpPr>
            <a:spLocks xmlns:a="http://schemas.openxmlformats.org/drawingml/2006/main" noGrp="1"/>
          </p:cNvSpPr>
          <p:nvPr/>
        </p:nvSpPr>
        <p:spPr>
          <a:xfrm xmlns:a="http://schemas.openxmlformats.org/drawingml/2006/main">
            <a:off x="11191875" y="6496050"/>
            <a:ext cx="428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F5DCE5"/>
                </a:solidFill>
              </a:defRPr>
            </a:pPr>
            <a:r>
              <a:rPr sz="900" b="1">
                <a:solidFill>
                  <a:srgbClr val="F5DCE5"/>
                </a:solidFill>
              </a:rPr>
              <a:t>06</a:t>
            </a:r>
          </a:p>
        </p:txBody>
      </p:sp>
    </p:spTree>
    <p:extLst>
      <p:ext uri="{BB962C8B-B14F-4D97-AF65-F5344CB8AC3E}">
        <p14:creationId xmlns:p14="http://schemas.microsoft.com/office/powerpoint/2010/main" val="792496659"/>
      </p:ext>
    </p:extLst>
  </p:cSld>
</p:sld>
</file>

<file path=ppt/slides/slide7.xml><?xml version="1.0" encoding="utf-8"?>
<p:sld xmlns:p="http://schemas.openxmlformats.org/presentationml/2006/main">
  <p:cSld>
    <p:bg>
      <p:bgPr>
        <a:solidFill xmlns:a="http://schemas.openxmlformats.org/drawingml/2006/main">
          <a:srgbClr val="FBF6F0"/>
        </a:solidFill>
      </p:bgPr>
    </p:bg>
    <p:spTree>
      <p:nvGrpSpPr>
        <p:cNvPr id="1" name=""/>
        <p:cNvGrpSpPr/>
        <p:nvPr/>
      </p:nvGrpSpPr>
      <p:grpSpPr>
        <a:xfrm xmlns:a="http://schemas.openxmlformats.org/drawingml/2006/main"/>
      </p:grpSpPr>
      <p:sp>
        <p:nvSpPr>
          <p:cNvPr id="24" name="top-accent">
            <a:extLst xmlns:a="http://schemas.openxmlformats.org/drawingml/2006/main">
              <a:ext uri="{FF2B5EF4-FFF2-40B4-BE49-F238E27FC236}">
                <a16:creationId xmlns:a16="http://schemas.microsoft.com/office/drawing/2014/main" id="{6D603F84-7890-4F20-B027-8124EA1229A7}"/>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D6A238"/>
          </a:solidFill>
          <a:ln xmlns:a="http://schemas.openxmlformats.org/drawingml/2006/main" w="0">
            <a:noFill/>
            <a:prstDash val="solid"/>
          </a:ln>
        </p:spPr>
      </p:sp>
      <p:sp>
        <p:nvSpPr>
          <p:cNvPr id="2" name="slide-title">
            <a:extLst xmlns:a="http://schemas.openxmlformats.org/drawingml/2006/main">
              <a:ext uri="{FF2B5EF4-FFF2-40B4-BE49-F238E27FC236}">
                <a16:creationId xmlns:a16="http://schemas.microsoft.com/office/drawing/2014/main" id="{8115A359-48D3-4BA4-B300-BE0822289141}"/>
              </a:ext>
            </a:extLst>
          </p:cNvPr>
          <p:cNvSpPr>
            <a:spLocks xmlns:a="http://schemas.openxmlformats.org/drawingml/2006/main" noGrp="1"/>
          </p:cNvSpPr>
          <p:nvPr/>
        </p:nvSpPr>
        <p:spPr>
          <a:xfrm xmlns:a="http://schemas.openxmlformats.org/drawingml/2006/main">
            <a:off x="609600" y="495300"/>
            <a:ext cx="10477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000" b="1">
                <a:solidFill>
                  <a:srgbClr val="2A101C"/>
                </a:solidFill>
              </a:defRPr>
            </a:pPr>
            <a:r>
              <a:rPr sz="3000" b="1">
                <a:solidFill>
                  <a:srgbClr val="2A101C"/>
                </a:solidFill>
              </a:rPr>
              <a:t>Read → Select → Explain → Check</a:t>
            </a:r>
          </a:p>
        </p:txBody>
      </p:sp>
      <p:sp>
        <p:nvSpPr>
          <p:cNvPr id="3" name="guided-question">
            <a:extLst xmlns:a="http://schemas.openxmlformats.org/drawingml/2006/main">
              <a:ext uri="{FF2B5EF4-FFF2-40B4-BE49-F238E27FC236}">
                <a16:creationId xmlns:a16="http://schemas.microsoft.com/office/drawing/2014/main" id="{B8FB96D9-4535-4E1F-AFA8-1E474489F658}"/>
              </a:ext>
            </a:extLst>
          </p:cNvPr>
          <p:cNvSpPr>
            <a:spLocks xmlns:a="http://schemas.openxmlformats.org/drawingml/2006/main" noGrp="1"/>
          </p:cNvSpPr>
          <p:nvPr/>
        </p:nvSpPr>
        <p:spPr>
          <a:xfrm xmlns:a="http://schemas.openxmlformats.org/drawingml/2006/main">
            <a:off x="609600" y="1200150"/>
            <a:ext cx="10668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5C5357"/>
                </a:solidFill>
              </a:defRPr>
            </a:pPr>
            <a:r>
              <a:rPr sz="1500" b="0">
                <a:solidFill>
                  <a:srgbClr val="5C5357"/>
                </a:solidFill>
              </a:rPr>
              <a:t>Justify a compliant layout and cost estimate, then explain how one proposed alteration could affect another pattern or resource decision.</a:t>
            </a:r>
          </a:p>
        </p:txBody>
      </p:sp>
      <p:sp>
        <p:nvSpPr>
          <p:cNvPr id="4" name="response-number-1">
            <a:extLst xmlns:a="http://schemas.openxmlformats.org/drawingml/2006/main">
              <a:ext uri="{FF2B5EF4-FFF2-40B4-BE49-F238E27FC236}">
                <a16:creationId xmlns:a16="http://schemas.microsoft.com/office/drawing/2014/main" id="{835A34CE-B35A-4BD7-AAE4-24CEA24A7E49}"/>
              </a:ext>
            </a:extLst>
          </p:cNvPr>
          <p:cNvSpPr>
            <a:spLocks xmlns:a="http://schemas.openxmlformats.org/drawingml/2006/main" noGrp="1"/>
          </p:cNvSpPr>
          <p:nvPr/>
        </p:nvSpPr>
        <p:spPr>
          <a:xfrm xmlns:a="http://schemas.openxmlformats.org/drawingml/2006/main">
            <a:off x="609600" y="2362200"/>
            <a:ext cx="4381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721735"/>
                </a:solidFill>
              </a:defRPr>
            </a:pPr>
            <a:r>
              <a:rPr sz="2700" b="1">
                <a:solidFill>
                  <a:srgbClr val="721735"/>
                </a:solidFill>
              </a:rPr>
              <a:t>1</a:t>
            </a:r>
          </a:p>
        </p:txBody>
      </p:sp>
      <p:sp>
        <p:nvSpPr>
          <p:cNvPr id="5" name="response-label-1">
            <a:extLst xmlns:a="http://schemas.openxmlformats.org/drawingml/2006/main">
              <a:ext uri="{FF2B5EF4-FFF2-40B4-BE49-F238E27FC236}">
                <a16:creationId xmlns:a16="http://schemas.microsoft.com/office/drawing/2014/main" id="{995B3A86-9E9D-4C3D-9111-B54F04222AC8}"/>
              </a:ext>
            </a:extLst>
          </p:cNvPr>
          <p:cNvSpPr>
            <a:spLocks xmlns:a="http://schemas.openxmlformats.org/drawingml/2006/main" noGrp="1"/>
          </p:cNvSpPr>
          <p:nvPr/>
        </p:nvSpPr>
        <p:spPr>
          <a:xfrm xmlns:a="http://schemas.openxmlformats.org/drawingml/2006/main">
            <a:off x="609600" y="2990850"/>
            <a:ext cx="2333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721735"/>
                </a:solidFill>
              </a:defRPr>
            </a:pPr>
            <a:r>
              <a:rPr sz="1650" b="1">
                <a:solidFill>
                  <a:srgbClr val="721735"/>
                </a:solidFill>
              </a:rPr>
              <a:t>READ</a:t>
            </a:r>
          </a:p>
        </p:txBody>
      </p:sp>
      <p:sp>
        <p:nvSpPr>
          <p:cNvPr id="6" name="response-step-1">
            <a:extLst xmlns:a="http://schemas.openxmlformats.org/drawingml/2006/main">
              <a:ext uri="{FF2B5EF4-FFF2-40B4-BE49-F238E27FC236}">
                <a16:creationId xmlns:a16="http://schemas.microsoft.com/office/drawing/2014/main" id="{1B9371D4-A652-4EA0-8918-4FE70E94789A}"/>
              </a:ext>
            </a:extLst>
          </p:cNvPr>
          <p:cNvSpPr>
            <a:spLocks xmlns:a="http://schemas.openxmlformats.org/drawingml/2006/main" noGrp="1"/>
          </p:cNvSpPr>
          <p:nvPr/>
        </p:nvSpPr>
        <p:spPr>
          <a:xfrm xmlns:a="http://schemas.openxmlformats.org/drawingml/2006/main">
            <a:off x="609600" y="3429000"/>
            <a:ext cx="234315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2A101C"/>
                </a:solidFill>
              </a:defRPr>
            </a:pPr>
            <a:r>
              <a:rPr sz="1350" b="0">
                <a:solidFill>
                  <a:srgbClr val="2A101C"/>
                </a:solidFill>
              </a:rPr>
              <a:t>Underline the task word and the exact context.</a:t>
            </a:r>
          </a:p>
        </p:txBody>
      </p:sp>
      <p:sp>
        <p:nvSpPr>
          <p:cNvPr id="7" name="response-arrow-1">
            <a:extLst xmlns:a="http://schemas.openxmlformats.org/drawingml/2006/main">
              <a:ext uri="{FF2B5EF4-FFF2-40B4-BE49-F238E27FC236}">
                <a16:creationId xmlns:a16="http://schemas.microsoft.com/office/drawing/2014/main" id="{C53FF730-32E8-4FFE-A226-2C4A0BCB14C7}"/>
              </a:ext>
            </a:extLst>
          </p:cNvPr>
          <p:cNvSpPr>
            <a:spLocks xmlns:a="http://schemas.openxmlformats.org/drawingml/2006/main" noGrp="1"/>
          </p:cNvSpPr>
          <p:nvPr/>
        </p:nvSpPr>
        <p:spPr>
          <a:xfrm xmlns:a="http://schemas.openxmlformats.org/drawingml/2006/main">
            <a:off x="2943225" y="3143250"/>
            <a:ext cx="4000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400" b="1">
                <a:solidFill>
                  <a:srgbClr val="B7A9AE"/>
                </a:solidFill>
              </a:defRPr>
            </a:pPr>
            <a:r>
              <a:rPr sz="2400" b="1">
                <a:solidFill>
                  <a:srgbClr val="B7A9AE"/>
                </a:solidFill>
              </a:rPr>
              <a:t>→</a:t>
            </a:r>
          </a:p>
        </p:txBody>
      </p:sp>
      <p:sp>
        <p:nvSpPr>
          <p:cNvPr id="8" name="response-number-2">
            <a:extLst xmlns:a="http://schemas.openxmlformats.org/drawingml/2006/main">
              <a:ext uri="{FF2B5EF4-FFF2-40B4-BE49-F238E27FC236}">
                <a16:creationId xmlns:a16="http://schemas.microsoft.com/office/drawing/2014/main" id="{422C868E-2DAA-4BAB-92ED-A95D2E9B8B1C}"/>
              </a:ext>
            </a:extLst>
          </p:cNvPr>
          <p:cNvSpPr>
            <a:spLocks xmlns:a="http://schemas.openxmlformats.org/drawingml/2006/main" noGrp="1"/>
          </p:cNvSpPr>
          <p:nvPr/>
        </p:nvSpPr>
        <p:spPr>
          <a:xfrm xmlns:a="http://schemas.openxmlformats.org/drawingml/2006/main">
            <a:off x="3333750" y="2362200"/>
            <a:ext cx="4381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AC2254"/>
                </a:solidFill>
              </a:defRPr>
            </a:pPr>
            <a:r>
              <a:rPr sz="2700" b="1">
                <a:solidFill>
                  <a:srgbClr val="AC2254"/>
                </a:solidFill>
              </a:rPr>
              <a:t>2</a:t>
            </a:r>
          </a:p>
        </p:txBody>
      </p:sp>
      <p:sp>
        <p:nvSpPr>
          <p:cNvPr id="9" name="response-label-2">
            <a:extLst xmlns:a="http://schemas.openxmlformats.org/drawingml/2006/main">
              <a:ext uri="{FF2B5EF4-FFF2-40B4-BE49-F238E27FC236}">
                <a16:creationId xmlns:a16="http://schemas.microsoft.com/office/drawing/2014/main" id="{CD312026-0D6B-49B1-801D-6923FD346989}"/>
              </a:ext>
            </a:extLst>
          </p:cNvPr>
          <p:cNvSpPr>
            <a:spLocks xmlns:a="http://schemas.openxmlformats.org/drawingml/2006/main" noGrp="1"/>
          </p:cNvSpPr>
          <p:nvPr/>
        </p:nvSpPr>
        <p:spPr>
          <a:xfrm xmlns:a="http://schemas.openxmlformats.org/drawingml/2006/main">
            <a:off x="3333750" y="2990850"/>
            <a:ext cx="2333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AC2254"/>
                </a:solidFill>
              </a:defRPr>
            </a:pPr>
            <a:r>
              <a:rPr sz="1650" b="1">
                <a:solidFill>
                  <a:srgbClr val="AC2254"/>
                </a:solidFill>
              </a:rPr>
              <a:t>SELECT</a:t>
            </a:r>
          </a:p>
        </p:txBody>
      </p:sp>
      <p:sp>
        <p:nvSpPr>
          <p:cNvPr id="10" name="response-step-2">
            <a:extLst xmlns:a="http://schemas.openxmlformats.org/drawingml/2006/main">
              <a:ext uri="{FF2B5EF4-FFF2-40B4-BE49-F238E27FC236}">
                <a16:creationId xmlns:a16="http://schemas.microsoft.com/office/drawing/2014/main" id="{788A32E9-4506-4874-9653-645CE2AED597}"/>
              </a:ext>
            </a:extLst>
          </p:cNvPr>
          <p:cNvSpPr>
            <a:spLocks xmlns:a="http://schemas.openxmlformats.org/drawingml/2006/main" noGrp="1"/>
          </p:cNvSpPr>
          <p:nvPr/>
        </p:nvSpPr>
        <p:spPr>
          <a:xfrm xmlns:a="http://schemas.openxmlformats.org/drawingml/2006/main">
            <a:off x="3333750" y="3429000"/>
            <a:ext cx="234315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2A101C"/>
                </a:solidFill>
              </a:defRPr>
            </a:pPr>
            <a:r>
              <a:rPr sz="1350" b="0">
                <a:solidFill>
                  <a:srgbClr val="2A101C"/>
                </a:solidFill>
              </a:rPr>
              <a:t>Choose theory and project evidence that answers it.</a:t>
            </a:r>
          </a:p>
        </p:txBody>
      </p:sp>
      <p:sp>
        <p:nvSpPr>
          <p:cNvPr id="11" name="response-arrow-2">
            <a:extLst xmlns:a="http://schemas.openxmlformats.org/drawingml/2006/main">
              <a:ext uri="{FF2B5EF4-FFF2-40B4-BE49-F238E27FC236}">
                <a16:creationId xmlns:a16="http://schemas.microsoft.com/office/drawing/2014/main" id="{A454EF87-D297-4835-B8A8-C12780E335B8}"/>
              </a:ext>
            </a:extLst>
          </p:cNvPr>
          <p:cNvSpPr>
            <a:spLocks xmlns:a="http://schemas.openxmlformats.org/drawingml/2006/main" noGrp="1"/>
          </p:cNvSpPr>
          <p:nvPr/>
        </p:nvSpPr>
        <p:spPr>
          <a:xfrm xmlns:a="http://schemas.openxmlformats.org/drawingml/2006/main">
            <a:off x="5667375" y="3143250"/>
            <a:ext cx="4000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400" b="1">
                <a:solidFill>
                  <a:srgbClr val="B7A9AE"/>
                </a:solidFill>
              </a:defRPr>
            </a:pPr>
            <a:r>
              <a:rPr sz="2400" b="1">
                <a:solidFill>
                  <a:srgbClr val="B7A9AE"/>
                </a:solidFill>
              </a:rPr>
              <a:t>→</a:t>
            </a:r>
          </a:p>
        </p:txBody>
      </p:sp>
      <p:sp>
        <p:nvSpPr>
          <p:cNvPr id="12" name="response-number-3">
            <a:extLst xmlns:a="http://schemas.openxmlformats.org/drawingml/2006/main">
              <a:ext uri="{FF2B5EF4-FFF2-40B4-BE49-F238E27FC236}">
                <a16:creationId xmlns:a16="http://schemas.microsoft.com/office/drawing/2014/main" id="{0829705C-36F9-41E9-B736-D5E144AF2533}"/>
              </a:ext>
            </a:extLst>
          </p:cNvPr>
          <p:cNvSpPr>
            <a:spLocks xmlns:a="http://schemas.openxmlformats.org/drawingml/2006/main" noGrp="1"/>
          </p:cNvSpPr>
          <p:nvPr/>
        </p:nvSpPr>
        <p:spPr>
          <a:xfrm xmlns:a="http://schemas.openxmlformats.org/drawingml/2006/main">
            <a:off x="6057900" y="2362200"/>
            <a:ext cx="4381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D6A238"/>
                </a:solidFill>
              </a:defRPr>
            </a:pPr>
            <a:r>
              <a:rPr sz="2700" b="1">
                <a:solidFill>
                  <a:srgbClr val="D6A238"/>
                </a:solidFill>
              </a:rPr>
              <a:t>3</a:t>
            </a:r>
          </a:p>
        </p:txBody>
      </p:sp>
      <p:sp>
        <p:nvSpPr>
          <p:cNvPr id="13" name="response-label-3">
            <a:extLst xmlns:a="http://schemas.openxmlformats.org/drawingml/2006/main">
              <a:ext uri="{FF2B5EF4-FFF2-40B4-BE49-F238E27FC236}">
                <a16:creationId xmlns:a16="http://schemas.microsoft.com/office/drawing/2014/main" id="{83AB7C2B-22B6-443D-8D14-46D7D7E7503E}"/>
              </a:ext>
            </a:extLst>
          </p:cNvPr>
          <p:cNvSpPr>
            <a:spLocks xmlns:a="http://schemas.openxmlformats.org/drawingml/2006/main" noGrp="1"/>
          </p:cNvSpPr>
          <p:nvPr/>
        </p:nvSpPr>
        <p:spPr>
          <a:xfrm xmlns:a="http://schemas.openxmlformats.org/drawingml/2006/main">
            <a:off x="6057900" y="2990850"/>
            <a:ext cx="2333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D6A238"/>
                </a:solidFill>
              </a:defRPr>
            </a:pPr>
            <a:r>
              <a:rPr sz="1650" b="1">
                <a:solidFill>
                  <a:srgbClr val="D6A238"/>
                </a:solidFill>
              </a:rPr>
              <a:t>EXPLAIN</a:t>
            </a:r>
          </a:p>
        </p:txBody>
      </p:sp>
      <p:sp>
        <p:nvSpPr>
          <p:cNvPr id="14" name="response-step-3">
            <a:extLst xmlns:a="http://schemas.openxmlformats.org/drawingml/2006/main">
              <a:ext uri="{FF2B5EF4-FFF2-40B4-BE49-F238E27FC236}">
                <a16:creationId xmlns:a16="http://schemas.microsoft.com/office/drawing/2014/main" id="{D807FA4A-413C-42C5-931F-927EB18BCDB3}"/>
              </a:ext>
            </a:extLst>
          </p:cNvPr>
          <p:cNvSpPr>
            <a:spLocks xmlns:a="http://schemas.openxmlformats.org/drawingml/2006/main" noGrp="1"/>
          </p:cNvSpPr>
          <p:nvPr/>
        </p:nvSpPr>
        <p:spPr>
          <a:xfrm xmlns:a="http://schemas.openxmlformats.org/drawingml/2006/main">
            <a:off x="6057900" y="3429000"/>
            <a:ext cx="234315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2A101C"/>
                </a:solidFill>
              </a:defRPr>
            </a:pPr>
            <a:r>
              <a:rPr sz="1350" b="0">
                <a:solidFill>
                  <a:srgbClr val="2A101C"/>
                </a:solidFill>
              </a:rPr>
              <a:t>Connect the evidence to a reason, effect or judgement.</a:t>
            </a:r>
          </a:p>
        </p:txBody>
      </p:sp>
      <p:sp>
        <p:nvSpPr>
          <p:cNvPr id="15" name="response-arrow-3">
            <a:extLst xmlns:a="http://schemas.openxmlformats.org/drawingml/2006/main">
              <a:ext uri="{FF2B5EF4-FFF2-40B4-BE49-F238E27FC236}">
                <a16:creationId xmlns:a16="http://schemas.microsoft.com/office/drawing/2014/main" id="{CBBFC058-7EF3-44B1-8D84-3E9C80508600}"/>
              </a:ext>
            </a:extLst>
          </p:cNvPr>
          <p:cNvSpPr>
            <a:spLocks xmlns:a="http://schemas.openxmlformats.org/drawingml/2006/main" noGrp="1"/>
          </p:cNvSpPr>
          <p:nvPr/>
        </p:nvSpPr>
        <p:spPr>
          <a:xfrm xmlns:a="http://schemas.openxmlformats.org/drawingml/2006/main">
            <a:off x="8391525" y="3143250"/>
            <a:ext cx="4000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400" b="1">
                <a:solidFill>
                  <a:srgbClr val="B7A9AE"/>
                </a:solidFill>
              </a:defRPr>
            </a:pPr>
            <a:r>
              <a:rPr sz="2400" b="1">
                <a:solidFill>
                  <a:srgbClr val="B7A9AE"/>
                </a:solidFill>
              </a:rPr>
              <a:t>→</a:t>
            </a:r>
          </a:p>
        </p:txBody>
      </p:sp>
      <p:sp>
        <p:nvSpPr>
          <p:cNvPr id="16" name="response-number-4">
            <a:extLst xmlns:a="http://schemas.openxmlformats.org/drawingml/2006/main">
              <a:ext uri="{FF2B5EF4-FFF2-40B4-BE49-F238E27FC236}">
                <a16:creationId xmlns:a16="http://schemas.microsoft.com/office/drawing/2014/main" id="{6560BA8F-325C-41AA-BC58-1752B3EE7CD6}"/>
              </a:ext>
            </a:extLst>
          </p:cNvPr>
          <p:cNvSpPr>
            <a:spLocks xmlns:a="http://schemas.openxmlformats.org/drawingml/2006/main" noGrp="1"/>
          </p:cNvSpPr>
          <p:nvPr/>
        </p:nvSpPr>
        <p:spPr>
          <a:xfrm xmlns:a="http://schemas.openxmlformats.org/drawingml/2006/main">
            <a:off x="8782050" y="2362200"/>
            <a:ext cx="4381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226A61"/>
                </a:solidFill>
              </a:defRPr>
            </a:pPr>
            <a:r>
              <a:rPr sz="2700" b="1">
                <a:solidFill>
                  <a:srgbClr val="226A61"/>
                </a:solidFill>
              </a:rPr>
              <a:t>4</a:t>
            </a:r>
          </a:p>
        </p:txBody>
      </p:sp>
      <p:sp>
        <p:nvSpPr>
          <p:cNvPr id="17" name="response-label-4">
            <a:extLst xmlns:a="http://schemas.openxmlformats.org/drawingml/2006/main">
              <a:ext uri="{FF2B5EF4-FFF2-40B4-BE49-F238E27FC236}">
                <a16:creationId xmlns:a16="http://schemas.microsoft.com/office/drawing/2014/main" id="{ECEBDC82-D96D-45E7-8BFC-FDC1B3982FC7}"/>
              </a:ext>
            </a:extLst>
          </p:cNvPr>
          <p:cNvSpPr>
            <a:spLocks xmlns:a="http://schemas.openxmlformats.org/drawingml/2006/main" noGrp="1"/>
          </p:cNvSpPr>
          <p:nvPr/>
        </p:nvSpPr>
        <p:spPr>
          <a:xfrm xmlns:a="http://schemas.openxmlformats.org/drawingml/2006/main">
            <a:off x="8782050" y="2990850"/>
            <a:ext cx="2333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226A61"/>
                </a:solidFill>
              </a:defRPr>
            </a:pPr>
            <a:r>
              <a:rPr sz="1650" b="1">
                <a:solidFill>
                  <a:srgbClr val="226A61"/>
                </a:solidFill>
              </a:rPr>
              <a:t>CHECK</a:t>
            </a:r>
          </a:p>
        </p:txBody>
      </p:sp>
      <p:sp>
        <p:nvSpPr>
          <p:cNvPr id="18" name="response-step-4">
            <a:extLst xmlns:a="http://schemas.openxmlformats.org/drawingml/2006/main">
              <a:ext uri="{FF2B5EF4-FFF2-40B4-BE49-F238E27FC236}">
                <a16:creationId xmlns:a16="http://schemas.microsoft.com/office/drawing/2014/main" id="{A13FF510-AC9F-45A8-AEFB-C09F8D50C97D}"/>
              </a:ext>
            </a:extLst>
          </p:cNvPr>
          <p:cNvSpPr>
            <a:spLocks xmlns:a="http://schemas.openxmlformats.org/drawingml/2006/main" noGrp="1"/>
          </p:cNvSpPr>
          <p:nvPr/>
        </p:nvSpPr>
        <p:spPr>
          <a:xfrm xmlns:a="http://schemas.openxmlformats.org/drawingml/2006/main">
            <a:off x="8782050" y="3429000"/>
            <a:ext cx="234315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2A101C"/>
                </a:solidFill>
              </a:defRPr>
            </a:pPr>
            <a:r>
              <a:rPr sz="1350" b="0">
                <a:solidFill>
                  <a:srgbClr val="2A101C"/>
                </a:solidFill>
              </a:rPr>
              <a:t>Compare the response with the two success criteria.</a:t>
            </a:r>
          </a:p>
        </p:txBody>
      </p:sp>
      <p:sp>
        <p:nvSpPr>
          <p:cNvPr id="19" name="sentence-support">
            <a:extLst xmlns:a="http://schemas.openxmlformats.org/drawingml/2006/main">
              <a:ext uri="{FF2B5EF4-FFF2-40B4-BE49-F238E27FC236}">
                <a16:creationId xmlns:a16="http://schemas.microsoft.com/office/drawing/2014/main" id="{388BBE87-F23D-43AE-8ECF-CBCF454B7C97}"/>
              </a:ext>
            </a:extLst>
          </p:cNvPr>
          <p:cNvSpPr>
            <a:spLocks xmlns:a="http://schemas.openxmlformats.org/drawingml/2006/main" noGrp="1"/>
          </p:cNvSpPr>
          <p:nvPr/>
        </p:nvSpPr>
        <p:spPr>
          <a:xfrm xmlns:a="http://schemas.openxmlformats.org/drawingml/2006/main">
            <a:off x="609600" y="4895850"/>
            <a:ext cx="10972800" cy="1123950"/>
          </a:xfrm>
          <a:prstGeom xmlns:a="http://schemas.openxmlformats.org/drawingml/2006/main" prst="roundRect">
            <a:avLst>
              <a:gd name="adj" fmla="val 13559"/>
            </a:avLst>
          </a:prstGeom>
          <a:solidFill xmlns:a="http://schemas.openxmlformats.org/drawingml/2006/main">
            <a:srgbClr val="721735"/>
          </a:solidFill>
          <a:ln xmlns:a="http://schemas.openxmlformats.org/drawingml/2006/main" w="0">
            <a:noFill/>
            <a:prstDash val="solid"/>
          </a:ln>
        </p:spPr>
      </p:sp>
      <p:sp>
        <p:nvSpPr>
          <p:cNvPr id="20" name="sentence-support-label">
            <a:extLst xmlns:a="http://schemas.openxmlformats.org/drawingml/2006/main">
              <a:ext uri="{FF2B5EF4-FFF2-40B4-BE49-F238E27FC236}">
                <a16:creationId xmlns:a16="http://schemas.microsoft.com/office/drawing/2014/main" id="{DC767A7A-AAED-4D69-8793-889F2444EFD4}"/>
              </a:ext>
            </a:extLst>
          </p:cNvPr>
          <p:cNvSpPr>
            <a:spLocks xmlns:a="http://schemas.openxmlformats.org/drawingml/2006/main" noGrp="1"/>
          </p:cNvSpPr>
          <p:nvPr/>
        </p:nvSpPr>
        <p:spPr>
          <a:xfrm xmlns:a="http://schemas.openxmlformats.org/drawingml/2006/main">
            <a:off x="838200" y="5086350"/>
            <a:ext cx="247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D6A238"/>
                </a:solidFill>
              </a:defRPr>
            </a:pPr>
            <a:r>
              <a:rPr sz="1125" b="1">
                <a:solidFill>
                  <a:srgbClr val="D6A238"/>
                </a:solidFill>
              </a:rPr>
              <a:t>SENTENCE SUPPORT</a:t>
            </a:r>
          </a:p>
        </p:txBody>
      </p:sp>
      <p:sp>
        <p:nvSpPr>
          <p:cNvPr id="21" name="sentence-stem">
            <a:extLst xmlns:a="http://schemas.openxmlformats.org/drawingml/2006/main">
              <a:ext uri="{FF2B5EF4-FFF2-40B4-BE49-F238E27FC236}">
                <a16:creationId xmlns:a16="http://schemas.microsoft.com/office/drawing/2014/main" id="{9B538EC6-08AC-4DF0-AA10-C5F91C53F0F8}"/>
              </a:ext>
            </a:extLst>
          </p:cNvPr>
          <p:cNvSpPr>
            <a:spLocks xmlns:a="http://schemas.openxmlformats.org/drawingml/2006/main" noGrp="1"/>
          </p:cNvSpPr>
          <p:nvPr/>
        </p:nvSpPr>
        <p:spPr>
          <a:xfrm xmlns:a="http://schemas.openxmlformats.org/drawingml/2006/main">
            <a:off x="838200" y="5438775"/>
            <a:ext cx="10096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FFFFFF"/>
                </a:solidFill>
              </a:defRPr>
            </a:pPr>
            <a:r>
              <a:rPr sz="1500" b="1">
                <a:solidFill>
                  <a:srgbClr val="FFFFFF"/>
                </a:solidFill>
              </a:rPr>
              <a:t>One decision I would make is ___ because evidence from ___ shows ___. I would check it by ___.</a:t>
            </a:r>
          </a:p>
        </p:txBody>
      </p:sp>
      <p:sp>
        <p:nvSpPr>
          <p:cNvPr id="22" name="footer-module-7">
            <a:extLst xmlns:a="http://schemas.openxmlformats.org/drawingml/2006/main">
              <a:ext uri="{FF2B5EF4-FFF2-40B4-BE49-F238E27FC236}">
                <a16:creationId xmlns:a16="http://schemas.microsoft.com/office/drawing/2014/main" id="{BB85A42E-312C-4C89-9A3A-EB5AF8E306CA}"/>
              </a:ext>
            </a:extLst>
          </p:cNvPr>
          <p:cNvSpPr>
            <a:spLocks xmlns:a="http://schemas.openxmlformats.org/drawingml/2006/main" noGrp="1"/>
          </p:cNvSpPr>
          <p:nvPr/>
        </p:nvSpPr>
        <p:spPr>
          <a:xfrm xmlns:a="http://schemas.openxmlformats.org/drawingml/2006/main">
            <a:off x="571500" y="649605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7A6D72"/>
                </a:solidFill>
              </a:defRPr>
            </a:pPr>
            <a:r>
              <a:rPr sz="900" b="1">
                <a:solidFill>
                  <a:srgbClr val="7A6D72"/>
                </a:solidFill>
              </a:rPr>
              <a:t>MODULE 07 · YEAR 8 TEXTILES TECHNOLOGY</a:t>
            </a:r>
          </a:p>
        </p:txBody>
      </p:sp>
      <p:sp>
        <p:nvSpPr>
          <p:cNvPr id="23" name="footer-number-7">
            <a:extLst xmlns:a="http://schemas.openxmlformats.org/drawingml/2006/main">
              <a:ext uri="{FF2B5EF4-FFF2-40B4-BE49-F238E27FC236}">
                <a16:creationId xmlns:a16="http://schemas.microsoft.com/office/drawing/2014/main" id="{1AA6D27F-7AFF-4496-BC03-7A56826A4D5F}"/>
              </a:ext>
            </a:extLst>
          </p:cNvPr>
          <p:cNvSpPr>
            <a:spLocks xmlns:a="http://schemas.openxmlformats.org/drawingml/2006/main" noGrp="1"/>
          </p:cNvSpPr>
          <p:nvPr/>
        </p:nvSpPr>
        <p:spPr>
          <a:xfrm xmlns:a="http://schemas.openxmlformats.org/drawingml/2006/main">
            <a:off x="11191875" y="6496050"/>
            <a:ext cx="428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7A6D72"/>
                </a:solidFill>
              </a:defRPr>
            </a:pPr>
            <a:r>
              <a:rPr sz="900" b="1">
                <a:solidFill>
                  <a:srgbClr val="7A6D72"/>
                </a:solidFill>
              </a:rPr>
              <a:t>07</a:t>
            </a:r>
          </a:p>
        </p:txBody>
      </p:sp>
    </p:spTree>
    <p:extLst>
      <p:ext uri="{BB962C8B-B14F-4D97-AF65-F5344CB8AC3E}">
        <p14:creationId xmlns:p14="http://schemas.microsoft.com/office/powerpoint/2010/main" val="1859268093"/>
      </p:ext>
    </p:extLst>
  </p:cSld>
</p:sld>
</file>

<file path=ppt/slides/slide8.xml><?xml version="1.0" encoding="utf-8"?>
<p:sld xmlns:p="http://schemas.openxmlformats.org/presentationml/2006/main">
  <p:cSld>
    <p:bg>
      <p:bgPr>
        <a:solidFill xmlns:a="http://schemas.openxmlformats.org/drawingml/2006/main">
          <a:srgbClr val="C94C46"/>
        </a:solidFill>
      </p:bgPr>
    </p:bg>
    <p:spTree>
      <p:nvGrpSpPr>
        <p:cNvPr id="1" name=""/>
        <p:cNvGrpSpPr/>
        <p:nvPr/>
      </p:nvGrpSpPr>
      <p:grpSpPr>
        <a:xfrm xmlns:a="http://schemas.openxmlformats.org/drawingml/2006/main"/>
      </p:grpSpPr>
      <p:sp>
        <p:nvSpPr>
          <p:cNvPr id="19" name="slide-title">
            <a:extLst xmlns:a="http://schemas.openxmlformats.org/drawingml/2006/main">
              <a:ext uri="{FF2B5EF4-FFF2-40B4-BE49-F238E27FC236}">
                <a16:creationId xmlns:a16="http://schemas.microsoft.com/office/drawing/2014/main" id="{3E88D244-E09E-4C71-B147-5DAE4E9CBE25}"/>
              </a:ext>
            </a:extLst>
          </p:cNvPr>
          <p:cNvSpPr>
            <a:spLocks xmlns:a="http://schemas.openxmlformats.org/drawingml/2006/main" noGrp="1"/>
          </p:cNvSpPr>
          <p:nvPr/>
        </p:nvSpPr>
        <p:spPr>
          <a:xfrm xmlns:a="http://schemas.openxmlformats.org/drawingml/2006/main">
            <a:off x="609600" y="552450"/>
            <a:ext cx="8572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300" b="1">
                <a:solidFill>
                  <a:srgbClr val="FFFFFF"/>
                </a:solidFill>
              </a:defRPr>
            </a:pPr>
            <a:r>
              <a:rPr sz="3300" b="1">
                <a:solidFill>
                  <a:srgbClr val="FFFFFF"/>
                </a:solidFill>
              </a:rPr>
              <a:t>Before you leave…</a:t>
            </a:r>
          </a:p>
        </p:txBody>
      </p:sp>
      <p:sp>
        <p:nvSpPr>
          <p:cNvPr id="2" name="exit-number-1">
            <a:extLst xmlns:a="http://schemas.openxmlformats.org/drawingml/2006/main">
              <a:ext uri="{FF2B5EF4-FFF2-40B4-BE49-F238E27FC236}">
                <a16:creationId xmlns:a16="http://schemas.microsoft.com/office/drawing/2014/main" id="{36B421CF-45F6-40CF-A067-38F1F24EE3D7}"/>
              </a:ext>
            </a:extLst>
          </p:cNvPr>
          <p:cNvSpPr>
            <a:spLocks xmlns:a="http://schemas.openxmlformats.org/drawingml/2006/main" noGrp="1"/>
          </p:cNvSpPr>
          <p:nvPr/>
        </p:nvSpPr>
        <p:spPr>
          <a:xfrm xmlns:a="http://schemas.openxmlformats.org/drawingml/2006/main">
            <a:off x="666750" y="1676400"/>
            <a:ext cx="476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100" b="1">
                <a:solidFill>
                  <a:srgbClr val="D6A238"/>
                </a:solidFill>
              </a:defRPr>
            </a:pPr>
            <a:r>
              <a:rPr sz="2100" b="1">
                <a:solidFill>
                  <a:srgbClr val="D6A238"/>
                </a:solidFill>
              </a:rPr>
              <a:t>1.</a:t>
            </a:r>
          </a:p>
        </p:txBody>
      </p:sp>
      <p:sp>
        <p:nvSpPr>
          <p:cNvPr id="3" name="exit-prompt-1">
            <a:extLst xmlns:a="http://schemas.openxmlformats.org/drawingml/2006/main">
              <a:ext uri="{FF2B5EF4-FFF2-40B4-BE49-F238E27FC236}">
                <a16:creationId xmlns:a16="http://schemas.microsoft.com/office/drawing/2014/main" id="{2096C277-B68D-4947-9CBE-42D10B9CBCD4}"/>
              </a:ext>
            </a:extLst>
          </p:cNvPr>
          <p:cNvSpPr>
            <a:spLocks xmlns:a="http://schemas.openxmlformats.org/drawingml/2006/main" noGrp="1"/>
          </p:cNvSpPr>
          <p:nvPr/>
        </p:nvSpPr>
        <p:spPr>
          <a:xfrm xmlns:a="http://schemas.openxmlformats.org/drawingml/2006/main">
            <a:off x="1295400" y="1676400"/>
            <a:ext cx="857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FFFFFF"/>
                </a:solidFill>
              </a:defRPr>
            </a:pPr>
            <a:r>
              <a:rPr sz="1650" b="1">
                <a:solidFill>
                  <a:srgbClr val="FFFFFF"/>
                </a:solidFill>
              </a:rPr>
              <a:t>One idea I can now explain is…</a:t>
            </a:r>
          </a:p>
        </p:txBody>
      </p:sp>
      <p:sp>
        <p:nvSpPr>
          <p:cNvPr id="4" name="exit-rule-1">
            <a:extLst xmlns:a="http://schemas.openxmlformats.org/drawingml/2006/main">
              <a:ext uri="{FF2B5EF4-FFF2-40B4-BE49-F238E27FC236}">
                <a16:creationId xmlns:a16="http://schemas.microsoft.com/office/drawing/2014/main" id="{2407D0A3-1068-43B0-BDA3-955FF4D7EBB0}"/>
              </a:ext>
            </a:extLst>
          </p:cNvPr>
          <p:cNvSpPr>
            <a:spLocks xmlns:a="http://schemas.openxmlformats.org/drawingml/2006/main" noGrp="1"/>
          </p:cNvSpPr>
          <p:nvPr/>
        </p:nvSpPr>
        <p:spPr>
          <a:xfrm xmlns:a="http://schemas.openxmlformats.org/drawingml/2006/main">
            <a:off x="1295400" y="2190750"/>
            <a:ext cx="8191500" cy="19050"/>
          </a:xfrm>
          <a:prstGeom xmlns:a="http://schemas.openxmlformats.org/drawingml/2006/main" prst="rect">
            <a:avLst/>
          </a:prstGeom>
          <a:solidFill xmlns:a="http://schemas.openxmlformats.org/drawingml/2006/main">
            <a:srgbClr val="F3C9CE"/>
          </a:solidFill>
          <a:ln xmlns:a="http://schemas.openxmlformats.org/drawingml/2006/main" w="0">
            <a:noFill/>
            <a:prstDash val="solid"/>
          </a:ln>
        </p:spPr>
      </p:sp>
      <p:sp>
        <p:nvSpPr>
          <p:cNvPr id="5" name="exit-number-2">
            <a:extLst xmlns:a="http://schemas.openxmlformats.org/drawingml/2006/main">
              <a:ext uri="{FF2B5EF4-FFF2-40B4-BE49-F238E27FC236}">
                <a16:creationId xmlns:a16="http://schemas.microsoft.com/office/drawing/2014/main" id="{C2067CB6-7CDF-40D8-A3A0-07BEEA6F31B7}"/>
              </a:ext>
            </a:extLst>
          </p:cNvPr>
          <p:cNvSpPr>
            <a:spLocks xmlns:a="http://schemas.openxmlformats.org/drawingml/2006/main" noGrp="1"/>
          </p:cNvSpPr>
          <p:nvPr/>
        </p:nvSpPr>
        <p:spPr>
          <a:xfrm xmlns:a="http://schemas.openxmlformats.org/drawingml/2006/main">
            <a:off x="666750" y="2676525"/>
            <a:ext cx="476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100" b="1">
                <a:solidFill>
                  <a:srgbClr val="D6A238"/>
                </a:solidFill>
              </a:defRPr>
            </a:pPr>
            <a:r>
              <a:rPr sz="2100" b="1">
                <a:solidFill>
                  <a:srgbClr val="D6A238"/>
                </a:solidFill>
              </a:rPr>
              <a:t>2.</a:t>
            </a:r>
          </a:p>
        </p:txBody>
      </p:sp>
      <p:sp>
        <p:nvSpPr>
          <p:cNvPr id="6" name="exit-prompt-2">
            <a:extLst xmlns:a="http://schemas.openxmlformats.org/drawingml/2006/main">
              <a:ext uri="{FF2B5EF4-FFF2-40B4-BE49-F238E27FC236}">
                <a16:creationId xmlns:a16="http://schemas.microsoft.com/office/drawing/2014/main" id="{BE75EBB9-F0AE-4623-9EB5-DE108D3D7FDC}"/>
              </a:ext>
            </a:extLst>
          </p:cNvPr>
          <p:cNvSpPr>
            <a:spLocks xmlns:a="http://schemas.openxmlformats.org/drawingml/2006/main" noGrp="1"/>
          </p:cNvSpPr>
          <p:nvPr/>
        </p:nvSpPr>
        <p:spPr>
          <a:xfrm xmlns:a="http://schemas.openxmlformats.org/drawingml/2006/main">
            <a:off x="1295400" y="2676525"/>
            <a:ext cx="857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FFFFFF"/>
                </a:solidFill>
              </a:defRPr>
            </a:pPr>
            <a:r>
              <a:rPr sz="1650" b="1">
                <a:solidFill>
                  <a:srgbClr val="FFFFFF"/>
                </a:solidFill>
              </a:rPr>
              <a:t>One practical or design decision this changes is…</a:t>
            </a:r>
          </a:p>
        </p:txBody>
      </p:sp>
      <p:sp>
        <p:nvSpPr>
          <p:cNvPr id="7" name="exit-rule-2">
            <a:extLst xmlns:a="http://schemas.openxmlformats.org/drawingml/2006/main">
              <a:ext uri="{FF2B5EF4-FFF2-40B4-BE49-F238E27FC236}">
                <a16:creationId xmlns:a16="http://schemas.microsoft.com/office/drawing/2014/main" id="{B8DE5B81-2410-43B4-BD6B-CADB9E714993}"/>
              </a:ext>
            </a:extLst>
          </p:cNvPr>
          <p:cNvSpPr>
            <a:spLocks xmlns:a="http://schemas.openxmlformats.org/drawingml/2006/main" noGrp="1"/>
          </p:cNvSpPr>
          <p:nvPr/>
        </p:nvSpPr>
        <p:spPr>
          <a:xfrm xmlns:a="http://schemas.openxmlformats.org/drawingml/2006/main">
            <a:off x="1295400" y="3190875"/>
            <a:ext cx="8191500" cy="19050"/>
          </a:xfrm>
          <a:prstGeom xmlns:a="http://schemas.openxmlformats.org/drawingml/2006/main" prst="rect">
            <a:avLst/>
          </a:prstGeom>
          <a:solidFill xmlns:a="http://schemas.openxmlformats.org/drawingml/2006/main">
            <a:srgbClr val="F3C9CE"/>
          </a:solidFill>
          <a:ln xmlns:a="http://schemas.openxmlformats.org/drawingml/2006/main" w="0">
            <a:noFill/>
            <a:prstDash val="solid"/>
          </a:ln>
        </p:spPr>
      </p:sp>
      <p:sp>
        <p:nvSpPr>
          <p:cNvPr id="8" name="exit-number-3">
            <a:extLst xmlns:a="http://schemas.openxmlformats.org/drawingml/2006/main">
              <a:ext uri="{FF2B5EF4-FFF2-40B4-BE49-F238E27FC236}">
                <a16:creationId xmlns:a16="http://schemas.microsoft.com/office/drawing/2014/main" id="{7DBCF1F1-C0C4-43D1-91F8-F5AA72FB69A7}"/>
              </a:ext>
            </a:extLst>
          </p:cNvPr>
          <p:cNvSpPr>
            <a:spLocks xmlns:a="http://schemas.openxmlformats.org/drawingml/2006/main" noGrp="1"/>
          </p:cNvSpPr>
          <p:nvPr/>
        </p:nvSpPr>
        <p:spPr>
          <a:xfrm xmlns:a="http://schemas.openxmlformats.org/drawingml/2006/main">
            <a:off x="666750" y="3676650"/>
            <a:ext cx="476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100" b="1">
                <a:solidFill>
                  <a:srgbClr val="D6A238"/>
                </a:solidFill>
              </a:defRPr>
            </a:pPr>
            <a:r>
              <a:rPr sz="2100" b="1">
                <a:solidFill>
                  <a:srgbClr val="D6A238"/>
                </a:solidFill>
              </a:rPr>
              <a:t>3.</a:t>
            </a:r>
          </a:p>
        </p:txBody>
      </p:sp>
      <p:sp>
        <p:nvSpPr>
          <p:cNvPr id="9" name="exit-prompt-3">
            <a:extLst xmlns:a="http://schemas.openxmlformats.org/drawingml/2006/main">
              <a:ext uri="{FF2B5EF4-FFF2-40B4-BE49-F238E27FC236}">
                <a16:creationId xmlns:a16="http://schemas.microsoft.com/office/drawing/2014/main" id="{A49666D7-7DCA-40F7-BBB7-185C0F51C2DA}"/>
              </a:ext>
            </a:extLst>
          </p:cNvPr>
          <p:cNvSpPr>
            <a:spLocks xmlns:a="http://schemas.openxmlformats.org/drawingml/2006/main" noGrp="1"/>
          </p:cNvSpPr>
          <p:nvPr/>
        </p:nvSpPr>
        <p:spPr>
          <a:xfrm xmlns:a="http://schemas.openxmlformats.org/drawingml/2006/main">
            <a:off x="1295400" y="3676650"/>
            <a:ext cx="857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FFFFFF"/>
                </a:solidFill>
              </a:defRPr>
            </a:pPr>
            <a:r>
              <a:rPr sz="1650" b="1">
                <a:solidFill>
                  <a:srgbClr val="FFFFFF"/>
                </a:solidFill>
              </a:rPr>
              <a:t>One question or check I still need is…</a:t>
            </a:r>
          </a:p>
        </p:txBody>
      </p:sp>
      <p:sp>
        <p:nvSpPr>
          <p:cNvPr id="10" name="exit-rule-3">
            <a:extLst xmlns:a="http://schemas.openxmlformats.org/drawingml/2006/main">
              <a:ext uri="{FF2B5EF4-FFF2-40B4-BE49-F238E27FC236}">
                <a16:creationId xmlns:a16="http://schemas.microsoft.com/office/drawing/2014/main" id="{C9414328-AD26-4D44-838E-F79A38BB6229}"/>
              </a:ext>
            </a:extLst>
          </p:cNvPr>
          <p:cNvSpPr>
            <a:spLocks xmlns:a="http://schemas.openxmlformats.org/drawingml/2006/main" noGrp="1"/>
          </p:cNvSpPr>
          <p:nvPr/>
        </p:nvSpPr>
        <p:spPr>
          <a:xfrm xmlns:a="http://schemas.openxmlformats.org/drawingml/2006/main">
            <a:off x="1295400" y="4191000"/>
            <a:ext cx="8191500" cy="19050"/>
          </a:xfrm>
          <a:prstGeom xmlns:a="http://schemas.openxmlformats.org/drawingml/2006/main" prst="rect">
            <a:avLst/>
          </a:prstGeom>
          <a:solidFill xmlns:a="http://schemas.openxmlformats.org/drawingml/2006/main">
            <a:srgbClr val="F3C9CE"/>
          </a:solidFill>
          <a:ln xmlns:a="http://schemas.openxmlformats.org/drawingml/2006/main" w="0">
            <a:noFill/>
            <a:prstDash val="solid"/>
          </a:ln>
        </p:spPr>
      </p:sp>
      <p:sp>
        <p:nvSpPr>
          <p:cNvPr id="11" name="evidence-destination">
            <a:extLst xmlns:a="http://schemas.openxmlformats.org/drawingml/2006/main">
              <a:ext uri="{FF2B5EF4-FFF2-40B4-BE49-F238E27FC236}">
                <a16:creationId xmlns:a16="http://schemas.microsoft.com/office/drawing/2014/main" id="{69A720AE-529D-41B7-8609-4A28C93EEBE1}"/>
              </a:ext>
            </a:extLst>
          </p:cNvPr>
          <p:cNvSpPr>
            <a:spLocks xmlns:a="http://schemas.openxmlformats.org/drawingml/2006/main" noGrp="1"/>
          </p:cNvSpPr>
          <p:nvPr/>
        </p:nvSpPr>
        <p:spPr>
          <a:xfrm xmlns:a="http://schemas.openxmlformats.org/drawingml/2006/main">
            <a:off x="609600" y="4819650"/>
            <a:ext cx="8572500" cy="990600"/>
          </a:xfrm>
          <a:prstGeom xmlns:a="http://schemas.openxmlformats.org/drawingml/2006/main" prst="roundRect">
            <a:avLst>
              <a:gd name="adj" fmla="val 15385"/>
            </a:avLst>
          </a:prstGeom>
          <a:solidFill xmlns:a="http://schemas.openxmlformats.org/drawingml/2006/main">
            <a:srgbClr val="2A101C"/>
          </a:solidFill>
          <a:ln xmlns:a="http://schemas.openxmlformats.org/drawingml/2006/main" w="0">
            <a:noFill/>
            <a:prstDash val="solid"/>
          </a:ln>
        </p:spPr>
      </p:sp>
      <p:sp>
        <p:nvSpPr>
          <p:cNvPr id="12" name="evidence-label">
            <a:extLst xmlns:a="http://schemas.openxmlformats.org/drawingml/2006/main">
              <a:ext uri="{FF2B5EF4-FFF2-40B4-BE49-F238E27FC236}">
                <a16:creationId xmlns:a16="http://schemas.microsoft.com/office/drawing/2014/main" id="{1C6E4A38-3C45-48DD-9A50-B45C8B3AC98C}"/>
              </a:ext>
            </a:extLst>
          </p:cNvPr>
          <p:cNvSpPr>
            <a:spLocks xmlns:a="http://schemas.openxmlformats.org/drawingml/2006/main" noGrp="1"/>
          </p:cNvSpPr>
          <p:nvPr/>
        </p:nvSpPr>
        <p:spPr>
          <a:xfrm xmlns:a="http://schemas.openxmlformats.org/drawingml/2006/main">
            <a:off x="838200" y="501015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D6A238"/>
                </a:solidFill>
              </a:defRPr>
            </a:pPr>
            <a:r>
              <a:rPr sz="1125" b="1">
                <a:solidFill>
                  <a:srgbClr val="D6A238"/>
                </a:solidFill>
              </a:rPr>
              <a:t>EVIDENCE DESTINATION</a:t>
            </a:r>
          </a:p>
        </p:txBody>
      </p:sp>
      <p:sp>
        <p:nvSpPr>
          <p:cNvPr id="13" name="evidence-copy">
            <a:extLst xmlns:a="http://schemas.openxmlformats.org/drawingml/2006/main">
              <a:ext uri="{FF2B5EF4-FFF2-40B4-BE49-F238E27FC236}">
                <a16:creationId xmlns:a16="http://schemas.microsoft.com/office/drawing/2014/main" id="{89F900DA-5394-423C-B148-6D090B08B204}"/>
              </a:ext>
            </a:extLst>
          </p:cNvPr>
          <p:cNvSpPr>
            <a:spLocks xmlns:a="http://schemas.openxmlformats.org/drawingml/2006/main" noGrp="1"/>
          </p:cNvSpPr>
          <p:nvPr/>
        </p:nvSpPr>
        <p:spPr>
          <a:xfrm xmlns:a="http://schemas.openxmlformats.org/drawingml/2006/main">
            <a:off x="838200" y="5343525"/>
            <a:ext cx="781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a:solidFill>
                  <a:srgbClr val="FFFFFF"/>
                </a:solidFill>
              </a:defRPr>
            </a:pPr>
            <a:r>
              <a:rPr sz="1425" b="1">
                <a:solidFill>
                  <a:srgbClr val="FFFFFF"/>
                </a:solidFill>
              </a:rPr>
              <a:t>Complete the three learning packages and save your response on this module page.</a:t>
            </a:r>
          </a:p>
        </p:txBody>
      </p:sp>
      <p:sp>
        <p:nvSpPr>
          <p:cNvPr id="14" name="save-work-circle">
            <a:extLst xmlns:a="http://schemas.openxmlformats.org/drawingml/2006/main">
              <a:ext uri="{FF2B5EF4-FFF2-40B4-BE49-F238E27FC236}">
                <a16:creationId xmlns:a16="http://schemas.microsoft.com/office/drawing/2014/main" id="{E1A69F61-FD56-4B73-8C51-778E0B177EC1}"/>
              </a:ext>
            </a:extLst>
          </p:cNvPr>
          <p:cNvSpPr>
            <a:spLocks xmlns:a="http://schemas.openxmlformats.org/drawingml/2006/main" noGrp="1"/>
          </p:cNvSpPr>
          <p:nvPr/>
        </p:nvSpPr>
        <p:spPr>
          <a:xfrm xmlns:a="http://schemas.openxmlformats.org/drawingml/2006/main">
            <a:off x="9810750" y="2038350"/>
            <a:ext cx="1428750" cy="1428750"/>
          </a:xfrm>
          <a:prstGeom xmlns:a="http://schemas.openxmlformats.org/drawingml/2006/main" prst="roundRect">
            <a:avLst>
              <a:gd name="adj" fmla="val 50000"/>
            </a:avLst>
          </a:prstGeom>
          <a:solidFill xmlns:a="http://schemas.openxmlformats.org/drawingml/2006/main">
            <a:srgbClr val="D6A238"/>
          </a:solidFill>
          <a:ln xmlns:a="http://schemas.openxmlformats.org/drawingml/2006/main" w="0">
            <a:noFill/>
            <a:prstDash val="solid"/>
          </a:ln>
        </p:spPr>
      </p:sp>
      <p:sp>
        <p:nvSpPr>
          <p:cNvPr id="15" name="save-work-text">
            <a:extLst xmlns:a="http://schemas.openxmlformats.org/drawingml/2006/main">
              <a:ext uri="{FF2B5EF4-FFF2-40B4-BE49-F238E27FC236}">
                <a16:creationId xmlns:a16="http://schemas.microsoft.com/office/drawing/2014/main" id="{12B811BC-B113-40D0-80B6-8FFADFC8962B}"/>
              </a:ext>
            </a:extLst>
          </p:cNvPr>
          <p:cNvSpPr>
            <a:spLocks xmlns:a="http://schemas.openxmlformats.org/drawingml/2006/main" noGrp="1"/>
          </p:cNvSpPr>
          <p:nvPr/>
        </p:nvSpPr>
        <p:spPr>
          <a:xfrm xmlns:a="http://schemas.openxmlformats.org/drawingml/2006/main">
            <a:off x="10039350" y="2333625"/>
            <a:ext cx="9715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650" b="1">
                <a:solidFill>
                  <a:srgbClr val="2A101C"/>
                </a:solidFill>
              </a:defRPr>
            </a:pPr>
            <a:r>
              <a:rPr sz="1650" b="1">
                <a:solidFill>
                  <a:srgbClr val="2A101C"/>
                </a:solidFill>
              </a:rPr>
              <a:t>SAVE</a:t>
            </a:r>
          </a:p>
          <a:p xmlns:a="http://schemas.openxmlformats.org/drawingml/2006/main">
            <a:pPr algn="ctr">
              <a:defRPr sz="1650" b="1">
                <a:solidFill>
                  <a:srgbClr val="2A101C"/>
                </a:solidFill>
              </a:defRPr>
            </a:pPr>
            <a:r>
              <a:rPr sz="1650" b="1">
                <a:solidFill>
                  <a:srgbClr val="2A101C"/>
                </a:solidFill>
              </a:rPr>
              <a:t>YOUR</a:t>
            </a:r>
          </a:p>
          <a:p xmlns:a="http://schemas.openxmlformats.org/drawingml/2006/main">
            <a:pPr algn="ctr">
              <a:defRPr sz="1650" b="1">
                <a:solidFill>
                  <a:srgbClr val="2A101C"/>
                </a:solidFill>
              </a:defRPr>
            </a:pPr>
            <a:r>
              <a:rPr sz="1650" b="1">
                <a:solidFill>
                  <a:srgbClr val="2A101C"/>
                </a:solidFill>
              </a:rPr>
              <a:t>WORK</a:t>
            </a:r>
          </a:p>
        </p:txBody>
      </p:sp>
      <p:sp>
        <p:nvSpPr>
          <p:cNvPr id="16" name="next-step">
            <a:extLst xmlns:a="http://schemas.openxmlformats.org/drawingml/2006/main">
              <a:ext uri="{FF2B5EF4-FFF2-40B4-BE49-F238E27FC236}">
                <a16:creationId xmlns:a16="http://schemas.microsoft.com/office/drawing/2014/main" id="{1C36A823-43B5-436C-A3B5-DD6547EE8B52}"/>
              </a:ext>
            </a:extLst>
          </p:cNvPr>
          <p:cNvSpPr>
            <a:spLocks xmlns:a="http://schemas.openxmlformats.org/drawingml/2006/main" noGrp="1"/>
          </p:cNvSpPr>
          <p:nvPr/>
        </p:nvSpPr>
        <p:spPr>
          <a:xfrm xmlns:a="http://schemas.openxmlformats.org/drawingml/2006/main">
            <a:off x="609600" y="6057900"/>
            <a:ext cx="1000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FFFFFF"/>
                </a:solidFill>
              </a:defRPr>
            </a:pPr>
            <a:r>
              <a:rPr sz="1275" b="1">
                <a:solidFill>
                  <a:srgbClr val="FFFFFF"/>
                </a:solidFill>
              </a:rPr>
              <a:t>Next: Apparel Design Plan</a:t>
            </a:r>
          </a:p>
        </p:txBody>
      </p:sp>
      <p:sp>
        <p:nvSpPr>
          <p:cNvPr id="17" name="footer-module-8">
            <a:extLst xmlns:a="http://schemas.openxmlformats.org/drawingml/2006/main">
              <a:ext uri="{FF2B5EF4-FFF2-40B4-BE49-F238E27FC236}">
                <a16:creationId xmlns:a16="http://schemas.microsoft.com/office/drawing/2014/main" id="{B44B80B3-AD20-4624-B113-AB48DA3C45AD}"/>
              </a:ext>
            </a:extLst>
          </p:cNvPr>
          <p:cNvSpPr>
            <a:spLocks xmlns:a="http://schemas.openxmlformats.org/drawingml/2006/main" noGrp="1"/>
          </p:cNvSpPr>
          <p:nvPr/>
        </p:nvSpPr>
        <p:spPr>
          <a:xfrm xmlns:a="http://schemas.openxmlformats.org/drawingml/2006/main">
            <a:off x="571500" y="649605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F5DCE5"/>
                </a:solidFill>
              </a:defRPr>
            </a:pPr>
            <a:r>
              <a:rPr sz="900" b="1">
                <a:solidFill>
                  <a:srgbClr val="F5DCE5"/>
                </a:solidFill>
              </a:rPr>
              <a:t>MODULE 07 · YEAR 8 TEXTILES TECHNOLOGY</a:t>
            </a:r>
          </a:p>
        </p:txBody>
      </p:sp>
      <p:sp>
        <p:nvSpPr>
          <p:cNvPr id="18" name="footer-number-8">
            <a:extLst xmlns:a="http://schemas.openxmlformats.org/drawingml/2006/main">
              <a:ext uri="{FF2B5EF4-FFF2-40B4-BE49-F238E27FC236}">
                <a16:creationId xmlns:a16="http://schemas.microsoft.com/office/drawing/2014/main" id="{2630B0B2-8252-4B47-BFA6-95091BDC19D0}"/>
              </a:ext>
            </a:extLst>
          </p:cNvPr>
          <p:cNvSpPr>
            <a:spLocks xmlns:a="http://schemas.openxmlformats.org/drawingml/2006/main" noGrp="1"/>
          </p:cNvSpPr>
          <p:nvPr/>
        </p:nvSpPr>
        <p:spPr>
          <a:xfrm xmlns:a="http://schemas.openxmlformats.org/drawingml/2006/main">
            <a:off x="11191875" y="6496050"/>
            <a:ext cx="428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F5DCE5"/>
                </a:solidFill>
              </a:defRPr>
            </a:pPr>
            <a:r>
              <a:rPr sz="900" b="1">
                <a:solidFill>
                  <a:srgbClr val="F5DCE5"/>
                </a:solidFill>
              </a:rPr>
              <a:t>08</a:t>
            </a:r>
          </a:p>
        </p:txBody>
      </p:sp>
    </p:spTree>
    <p:extLst>
      <p:ext uri="{BB962C8B-B14F-4D97-AF65-F5344CB8AC3E}">
        <p14:creationId xmlns:p14="http://schemas.microsoft.com/office/powerpoint/2010/main" val="108569881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2026-08-27T11:20:27.3720000Z</dcterms:created>
  <dcterms:modified xsi:type="dcterms:W3CDTF">2026-08-27T11:20:27.3720000Z</dcterms:modified>
</coreProperties>
</file>