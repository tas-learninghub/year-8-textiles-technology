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4b13323d344d5e" /><Relationship Type="http://schemas.openxmlformats.org/officeDocument/2006/relationships/extended-properties" Target="/docProps/app.xml" Id="R29032d135ea14ad8" /><Relationship Type="http://schemas.openxmlformats.org/officeDocument/2006/relationships/officeDocument" Target="/ppt/presentation.xml" Id="R9970af7ae8aa4f67" /></Relationships>
</file>

<file path=ppt/presentation.xml><?xml version="1.0" encoding="utf-8"?>
<p:presentation xmlns:p="http://schemas.openxmlformats.org/presentationml/2006/main">
  <p:sldMasterIdLst>
    <p:sldMasterId xmlns:r="http://schemas.openxmlformats.org/officeDocument/2006/relationships" id="2147483648" r:id="R1f6853bc061f4f87"/>
  </p:sldMasterIdLst>
  <p:notesMasterIdLst>
    <p:notesMasterId xmlns:r="http://schemas.openxmlformats.org/officeDocument/2006/relationships" r:id="Reac6370ce3824e93"/>
  </p:notesMasterIdLst>
  <p:sldIdLst>
    <p:sldId xmlns:r="http://schemas.openxmlformats.org/officeDocument/2006/relationships" id="256" r:id="Ra18af8de8d7b4db0"/>
    <p:sldId xmlns:r="http://schemas.openxmlformats.org/officeDocument/2006/relationships" id="257" r:id="Rc8814a0ebae04864"/>
    <p:sldId xmlns:r="http://schemas.openxmlformats.org/officeDocument/2006/relationships" id="258" r:id="R534ad0b2cb624e7c"/>
    <p:sldId xmlns:r="http://schemas.openxmlformats.org/officeDocument/2006/relationships" id="259" r:id="R0410fea0385143a2"/>
    <p:sldId xmlns:r="http://schemas.openxmlformats.org/officeDocument/2006/relationships" id="260" r:id="Rb0a8f7782f334b91"/>
    <p:sldId xmlns:r="http://schemas.openxmlformats.org/officeDocument/2006/relationships" id="261" r:id="R031a06f442184d0a"/>
    <p:sldId xmlns:r="http://schemas.openxmlformats.org/officeDocument/2006/relationships" id="262" r:id="Re7ee3e9699504a3c"/>
    <p:sldId xmlns:r="http://schemas.openxmlformats.org/officeDocument/2006/relationships" id="263" r:id="R40771f76817e41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f80ba33b43490f" /><Relationship Type="http://schemas.openxmlformats.org/officeDocument/2006/relationships/slideMaster" Target="/ppt/slideMasters/slideMaster1.xml" Id="R1f6853bc061f4f87" /><Relationship Type="http://schemas.openxmlformats.org/officeDocument/2006/relationships/notesMaster" Target="/ppt/notesMasters/notesMaster1.xml" Id="Reac6370ce3824e93" /><Relationship Type="http://schemas.openxmlformats.org/officeDocument/2006/relationships/presProps" Target="/ppt/presProps.xml" Id="Rdb379c019ea64faf" /><Relationship Type="http://schemas.openxmlformats.org/officeDocument/2006/relationships/tableStyles" Target="/ppt/tableStyles.xml" Id="R880a117b37684afa" /><Relationship Type="http://schemas.openxmlformats.org/officeDocument/2006/relationships/slide" Target="/ppt/slides/slide1.xml" Id="Ra18af8de8d7b4db0" /><Relationship Type="http://schemas.openxmlformats.org/officeDocument/2006/relationships/slide" Target="/ppt/slides/slide2.xml" Id="Rc8814a0ebae04864" /><Relationship Type="http://schemas.openxmlformats.org/officeDocument/2006/relationships/slide" Target="/ppt/slides/slide3.xml" Id="R534ad0b2cb624e7c" /><Relationship Type="http://schemas.openxmlformats.org/officeDocument/2006/relationships/slide" Target="/ppt/slides/slide4.xml" Id="R0410fea0385143a2" /><Relationship Type="http://schemas.openxmlformats.org/officeDocument/2006/relationships/slide" Target="/ppt/slides/slide5.xml" Id="Rb0a8f7782f334b91" /><Relationship Type="http://schemas.openxmlformats.org/officeDocument/2006/relationships/slide" Target="/ppt/slides/slide6.xml" Id="R031a06f442184d0a" /><Relationship Type="http://schemas.openxmlformats.org/officeDocument/2006/relationships/slide" Target="/ppt/slides/slide7.xml" Id="Re7ee3e9699504a3c" /><Relationship Type="http://schemas.openxmlformats.org/officeDocument/2006/relationships/slide" Target="/ppt/slides/slide8.xml" Id="R40771f76817e41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3a7c865cc24d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0e695ddb1a44b3" /><Relationship Type="http://schemas.openxmlformats.org/officeDocument/2006/relationships/notesMaster" Target="/ppt/notesMasters/notesMaster1.xml" Id="Rced2fe1ae4b345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2f864c19cf42b3" /><Relationship Type="http://schemas.openxmlformats.org/officeDocument/2006/relationships/notesMaster" Target="/ppt/notesMasters/notesMaster1.xml" Id="R15ca1f76713847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18535864784a7d" /><Relationship Type="http://schemas.openxmlformats.org/officeDocument/2006/relationships/notesMaster" Target="/ppt/notesMasters/notesMaster1.xml" Id="R1633bb0f64ce46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79332a5d4246a4" /><Relationship Type="http://schemas.openxmlformats.org/officeDocument/2006/relationships/notesMaster" Target="/ppt/notesMasters/notesMaster1.xml" Id="R252868d4f80546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21928eb8a84302" /><Relationship Type="http://schemas.openxmlformats.org/officeDocument/2006/relationships/notesMaster" Target="/ppt/notesMasters/notesMaster1.xml" Id="Rd0786caeca5c48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9f517af3fb40b0" /><Relationship Type="http://schemas.openxmlformats.org/officeDocument/2006/relationships/notesMaster" Target="/ppt/notesMasters/notesMaster1.xml" Id="Rdd53da95668542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e7e26711b84517" /><Relationship Type="http://schemas.openxmlformats.org/officeDocument/2006/relationships/notesMaster" Target="/ppt/notesMasters/notesMaster1.xml" Id="R96b03fb83bbd49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53eb51c2694117" /><Relationship Type="http://schemas.openxmlformats.org/officeDocument/2006/relationships/notesMaster" Target="/ppt/notesMasters/notesMaster1.xml" Id="Rdbc28f182b2740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Introduce Sewing Bag Project as a connected set of three ideas, not three isolated worksheets.</a:t>
            </a:r>
          </a:p>
          <a:p xmlns:a="http://schemas.openxmlformats.org/drawingml/2006/main">
            <a:r>
              <a:t>- Read the outcome aloud and link it to the current project stage.</a:t>
            </a:r>
          </a:p>
          <a:p xmlns:a="http://schemas.openxmlformats.org/drawingml/2006/main">
            <a:r>
              <a:t>- Keep local machine, pattern, safety and assessment details within the current teacher demonstration and authorised class documents.</a:t>
            </a:r>
          </a:p>
          <a:p xmlns:a="http://schemas.openxmlformats.org/drawingml/2006/main">
            <a:r>
              <a:t/>
            </a:r>
          </a:p>
          <a:p xmlns:a="http://schemas.openxmlformats.org/drawingml/2006/main">
            <a:r>
              <a:t>Prompt: Which word in the outcome tells us what evidence we need to produce?</a:t>
            </a:r>
          </a:p>
          <a:p xmlns:a="http://schemas.openxmlformats.org/drawingml/2006/main">
            <a:r>
              <a:t>Likely misconception: Finishing a slide deck is the evidence; the evidence is the student's explanation and project decision.</a:t>
            </a:r>
          </a:p>
          <a:p xmlns:a="http://schemas.openxmlformats.org/drawingml/2006/main">
            <a:r>
              <a:t>Transition: Preview the three ideas and activate prior knowledge.</a:t>
            </a:r>
          </a:p>
          <a:p xmlns:a="http://schemas.openxmlformats.org/drawingml/2006/main">
            <a:r>
              <a:t/>
            </a:r>
          </a:p>
          <a:p xmlns:a="http://schemas.openxmlformats.org/drawingml/2006/main">
            <a:r>
              <a:t>[Sources]</a:t>
            </a:r>
          </a:p>
          <a:p xmlns:a="http://schemas.openxmlformats.org/drawingml/2006/main">
            <a:r>
              <a:t>- Course sequence: WWHS Year 8 Accessories and Shorts Textiles Technology Program 2024, as bounded by source map v1.0.</a:t>
            </a:r>
          </a:p>
          <a:p xmlns:a="http://schemas.openxmlformats.org/drawingml/2006/main">
            <a:r>
              <a:t>- Curriculum: NESA Textiles Technology 7–10 Syllabus (2025), https://curriculum.nsw.edu.au/learning-areas/tas/textiles-technology-7-10-2025/overview/course</a:t>
            </a:r>
          </a:p>
          <a:p xmlns:a="http://schemas.openxmlformats.org/drawingml/2006/main">
            <a:r>
              <a:t>- Visual: Stage 08 approved module asset module-04-sewing-bag-project.png;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all three substantive sections using the exact module language.</a:t>
            </a:r>
          </a:p>
          <a:p xmlns:a="http://schemas.openxmlformats.org/drawingml/2006/main">
            <a:r>
              <a:t>- Ask students to predict where the ideas connect to current project work.</a:t>
            </a:r>
          </a:p>
          <a:p xmlns:a="http://schemas.openxmlformats.org/drawingml/2006/main">
            <a:r>
              <a:t>- Accept a tentative response, but ask what evidence supports it.</a:t>
            </a:r>
          </a:p>
          <a:p xmlns:a="http://schemas.openxmlformats.org/drawingml/2006/main">
            <a:r>
              <a:t/>
            </a:r>
          </a:p>
          <a:p xmlns:a="http://schemas.openxmlformats.org/drawingml/2006/main">
            <a:r>
              <a:t>Prompt: Which idea is most likely to change a practical or design decision today?</a:t>
            </a:r>
          </a:p>
          <a:p xmlns:a="http://schemas.openxmlformats.org/drawingml/2006/main">
            <a:r>
              <a:t>Likely misconception: The sequence means students can forget idea one after moving to idea two; the ideas need to remain connected.</a:t>
            </a:r>
          </a:p>
          <a:p xmlns:a="http://schemas.openxmlformats.org/drawingml/2006/main">
            <a:r>
              <a:t>Transition: Begin with Function and user needs.</a:t>
            </a:r>
          </a:p>
          <a:p xmlns:a="http://schemas.openxmlformats.org/drawingml/2006/main">
            <a:r>
              <a:t/>
            </a:r>
          </a:p>
          <a:p xmlns:a="http://schemas.openxmlformats.org/drawingml/2006/main">
            <a:r>
              <a:t>[Sources]</a:t>
            </a:r>
          </a:p>
          <a:p xmlns:a="http://schemas.openxmlformats.org/drawingml/2006/main">
            <a:r>
              <a:t>- Named section sequence: frozen Stage 01 course inventory and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Frame the sewing-bag project around user evidence, practical function and criteria that can guide design decisions.</a:t>
            </a:r>
          </a:p>
          <a:p xmlns:a="http://schemas.openxmlformats.org/drawingml/2006/main">
            <a:r>
              <a:t>- Emphasise: Function can be broken into observable jobs such as containment, access, carrying and storage where the brief confirms them.</a:t>
            </a:r>
          </a:p>
          <a:p xmlns:a="http://schemas.openxmlformats.org/drawingml/2006/main">
            <a:r>
              <a:t>- Connect the image to the decision: Show a realistic sewing-bag use scenario with a user–purpose–function–evidence chain and one visible trade-off.</a:t>
            </a:r>
          </a:p>
          <a:p xmlns:a="http://schemas.openxmlformats.org/drawingml/2006/main">
            <a:r>
              <a:t/>
            </a:r>
          </a:p>
          <a:p xmlns:a="http://schemas.openxmlformats.org/drawingml/2006/main">
            <a:r>
              <a:t>Prompt: Use authorised user evidence to justify three sewing-bag criteria and explain one likely trade-off between function, appearance, resources or time.</a:t>
            </a:r>
          </a:p>
          <a:p xmlns:a="http://schemas.openxmlformats.org/drawingml/2006/main">
            <a:r>
              <a:t>Likely misconception: The user will probably want the same features I want. Correction: Design decisions should be based on evidence about the intended user and context, not assumed similarity.</a:t>
            </a:r>
          </a:p>
          <a:p xmlns:a="http://schemas.openxmlformats.org/drawingml/2006/main">
            <a:r>
              <a:t>Transition: Carry this decision into Construction sequence and decoration.</a:t>
            </a:r>
          </a:p>
          <a:p xmlns:a="http://schemas.openxmlformats.org/drawingml/2006/main">
            <a:r>
              <a:t/>
            </a:r>
          </a:p>
          <a:p xmlns:a="http://schemas.openxmlformats.org/drawingml/2006/main">
            <a:r>
              <a:t>[Sources]</a:t>
            </a:r>
          </a:p>
          <a:p xmlns:a="http://schemas.openxmlformats.org/drawingml/2006/main">
            <a:r>
              <a:t>- Content: Year 8 Textiles theory package v1.0; source domains sewing-bag project identity; user-centred design; criteria and trade-offs.</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m04-s01-bag-user-needs.png;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Develop dependency-aware construction planning and purposeful decoration decisions for the sewing-bag project.</a:t>
            </a:r>
          </a:p>
          <a:p xmlns:a="http://schemas.openxmlformats.org/drawingml/2006/main">
            <a:r>
              <a:t>- Emphasise: Construction planning begins with confirmed parts and how they become a whole product.</a:t>
            </a:r>
          </a:p>
          <a:p xmlns:a="http://schemas.openxmlformats.org/drawingml/2006/main">
            <a:r>
              <a:t>- Connect the image to the decision: Show an exploded bag view beside a dependency-aware sequence with decoration and checkpoint positions.</a:t>
            </a:r>
          </a:p>
          <a:p xmlns:a="http://schemas.openxmlformats.org/drawingml/2006/main">
            <a:r>
              <a:t/>
            </a:r>
          </a:p>
          <a:p xmlns:a="http://schemas.openxmlformats.org/drawingml/2006/main">
            <a:r>
              <a:t>Prompt: Justify the position of one decorative stage and two checkpoints by explaining access, dependencies and the evidence each check protects.</a:t>
            </a:r>
          </a:p>
          <a:p xmlns:a="http://schemas.openxmlformats.org/drawingml/2006/main">
            <a:r>
              <a:t>Likely misconception: Instructions can be followed one line at a time without reading ahead. Correction: Reading the whole sequence reveals dependencies, preparation needs and checkpoints before work begins.</a:t>
            </a:r>
          </a:p>
          <a:p xmlns:a="http://schemas.openxmlformats.org/drawingml/2006/main">
            <a:r>
              <a:t>Transition: Carry this decision into Quality, evaluation and communication.</a:t>
            </a:r>
          </a:p>
          <a:p xmlns:a="http://schemas.openxmlformats.org/drawingml/2006/main">
            <a:r>
              <a:t/>
            </a:r>
          </a:p>
          <a:p xmlns:a="http://schemas.openxmlformats.org/drawingml/2006/main">
            <a:r>
              <a:t>[Sources]</a:t>
            </a:r>
          </a:p>
          <a:p xmlns:a="http://schemas.openxmlformats.org/drawingml/2006/main">
            <a:r>
              <a:t>- Content: Year 8 Textiles theory package v1.0; source domains sewing-bag planning; construction sequencing; textile decoration.</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m04-s02-bag-sequence.png;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Build a repeatable process for inspecting the sewing bag, evaluating it against criteria and communicating decisions with useful evidence.</a:t>
            </a:r>
          </a:p>
          <a:p xmlns:a="http://schemas.openxmlformats.org/drawingml/2006/main">
            <a:r>
              <a:t>- Emphasise: Quality is judged against the intended purpose, user and relevant project criteria.</a:t>
            </a:r>
          </a:p>
          <a:p xmlns:a="http://schemas.openxmlformats.org/drawingml/2006/main">
            <a:r>
              <a:t>- Connect the image to the decision: Show external, internal, detail and in-use evidence views linked to different sewing-bag criteria.</a:t>
            </a:r>
          </a:p>
          <a:p xmlns:a="http://schemas.openxmlformats.org/drawingml/2006/main">
            <a:r>
              <a:t/>
            </a:r>
          </a:p>
          <a:p xmlns:a="http://schemas.openxmlformats.org/drawingml/2006/main">
            <a:r>
              <a:t>Prompt: Evaluate two sewing-bag criteria with different evidence types, explaining any limitation or trade-off and one justified improvement.</a:t>
            </a:r>
          </a:p>
          <a:p xmlns:a="http://schemas.openxmlformats.org/drawingml/2006/main">
            <a:r>
              <a:t>Likely misconception: Quality means the product has no visible mistakes. Correction: Quality is judged in relation to purpose, criteria, performance and the level of control expected for the taught techniques.</a:t>
            </a:r>
          </a:p>
          <a:p xmlns:a="http://schemas.openxmlformats.org/drawingml/2006/main">
            <a:r>
              <a:t>Transition: Pause for retrieval before students construct evidence.</a:t>
            </a:r>
          </a:p>
          <a:p xmlns:a="http://schemas.openxmlformats.org/drawingml/2006/main">
            <a:r>
              <a:t/>
            </a:r>
          </a:p>
          <a:p xmlns:a="http://schemas.openxmlformats.org/drawingml/2006/main">
            <a:r>
              <a:t>[Sources]</a:t>
            </a:r>
          </a:p>
          <a:p xmlns:a="http://schemas.openxmlformats.org/drawingml/2006/main">
            <a:r>
              <a:t>- Content: Year 8 Textiles theory package v1.0; source domains sewing-bag project; quality evaluation; design communication.</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m04-s03-bag-quality.png;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thinking time before taking answers.</a:t>
            </a:r>
          </a:p>
          <a:p xmlns:a="http://schemas.openxmlformats.org/drawingml/2006/main">
            <a:r>
              <a:t>- Require students to correct the claim, not only label it true or false.</a:t>
            </a:r>
          </a:p>
          <a:p xmlns:a="http://schemas.openxmlformats.org/drawingml/2006/main">
            <a:r>
              <a:t>- Ask a follow-up: What evidence from slides 3–5 supports that correction?</a:t>
            </a:r>
          </a:p>
          <a:p xmlns:a="http://schemas.openxmlformats.org/drawingml/2006/main">
            <a:r>
              <a:t/>
            </a:r>
          </a:p>
          <a:p xmlns:a="http://schemas.openxmlformats.org/drawingml/2006/main">
            <a:r>
              <a:t>Prompt: Which correction becomes stronger when you use an example from your own project?</a:t>
            </a:r>
          </a:p>
          <a:p xmlns:a="http://schemas.openxmlformats.org/drawingml/2006/main">
            <a:r>
              <a:t>Likely misconception: Retrieval is guessing; retrieval should reconstruct the idea and its evidence.</a:t>
            </a:r>
          </a:p>
          <a:p xmlns:a="http://schemas.openxmlformats.org/drawingml/2006/main">
            <a:r>
              <a:t>Transition: Use the corrected ideas to build one longer piece of evidence.</a:t>
            </a:r>
          </a:p>
          <a:p xmlns:a="http://schemas.openxmlformats.org/drawingml/2006/main">
            <a:r>
              <a:t/>
            </a:r>
          </a:p>
          <a:p xmlns:a="http://schemas.openxmlformats.org/drawingml/2006/main">
            <a:r>
              <a:t>[Sources]</a:t>
            </a:r>
          </a:p>
          <a:p xmlns:a="http://schemas.openxmlformats.org/drawingml/2006/main">
            <a:r>
              <a:t>- Retrieval claims: misconceptions and corrections in the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brief example, then remove the example from view.</a:t>
            </a:r>
          </a:p>
          <a:p xmlns:a="http://schemas.openxmlformats.org/drawingml/2006/main">
            <a:r>
              <a:t>- The selected evidence must answer the exact context, not merely repeat a definition.</a:t>
            </a:r>
          </a:p>
          <a:p xmlns:a="http://schemas.openxmlformats.org/drawingml/2006/main">
            <a:r>
              <a:t>- Use the sentence support as a starting structure; students may improve it in their own words.</a:t>
            </a:r>
          </a:p>
          <a:p xmlns:a="http://schemas.openxmlformats.org/drawingml/2006/main">
            <a:r>
              <a:t/>
            </a:r>
          </a:p>
          <a:p xmlns:a="http://schemas.openxmlformats.org/drawingml/2006/main">
            <a:r>
              <a:t>Prompt: Which evidence is most relevant, and which tempting detail should be left out?</a:t>
            </a:r>
          </a:p>
          <a:p xmlns:a="http://schemas.openxmlformats.org/drawingml/2006/main">
            <a:r>
              <a:t>Likely misconception: A longer response is automatically stronger; relevance and explanation matter more than length.</a:t>
            </a:r>
          </a:p>
          <a:p xmlns:a="http://schemas.openxmlformats.org/drawingml/2006/main">
            <a:r>
              <a:t>Transition: Students now save the response in the matching module learning package.</a:t>
            </a:r>
          </a:p>
          <a:p xmlns:a="http://schemas.openxmlformats.org/drawingml/2006/main">
            <a:r>
              <a:t/>
            </a:r>
          </a:p>
          <a:p xmlns:a="http://schemas.openxmlformats.org/drawingml/2006/main">
            <a:r>
              <a:t>[Sources]</a:t>
            </a:r>
          </a:p>
          <a:p xmlns:a="http://schemas.openxmlformats.org/drawingml/2006/main">
            <a:r>
              <a:t>- Guided response: evidence prompt for m04-s03 in the Year 8 Textiles theory package v1.0.</a:t>
            </a:r>
          </a:p>
          <a:p xmlns:a="http://schemas.openxmlformats.org/drawingml/2006/main">
            <a:r>
              <a:t>- Curriculum context: NESA Textiles Technology 7–10 Syllabus (2025), https://curriculum.nsw.edu.au/learning-areas/tas/textiles-technology-7-10-2025/outcomes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Use the three-part exit ticket as a quick verbal or written check.</a:t>
            </a:r>
          </a:p>
          <a:p xmlns:a="http://schemas.openxmlformats.org/drawingml/2006/main">
            <a:r>
              <a:t>- Direct students to the module page so the evidence is saved in the correct learning package.</a:t>
            </a:r>
          </a:p>
          <a:p xmlns:a="http://schemas.openxmlformats.org/drawingml/2006/main">
            <a:r>
              <a:t>- Preview the connection to Design Inspiration.</a:t>
            </a:r>
          </a:p>
          <a:p xmlns:a="http://schemas.openxmlformats.org/drawingml/2006/main">
            <a:r>
              <a:t/>
            </a:r>
          </a:p>
          <a:p xmlns:a="http://schemas.openxmlformats.org/drawingml/2006/main">
            <a:r>
              <a:t>Prompt: Which answer would you be willing to improve after receiving feedback?</a:t>
            </a:r>
          </a:p>
          <a:p xmlns:a="http://schemas.openxmlformats.org/drawingml/2006/main">
            <a:r>
              <a:t>Likely misconception: Saving work means it is finished; saved evidence can still be reviewed and improved.</a:t>
            </a:r>
          </a:p>
          <a:p xmlns:a="http://schemas.openxmlformats.org/drawingml/2006/main">
            <a:r>
              <a:t>Transition: Continue to Design Inspiration when the class sequence is ready.</a:t>
            </a:r>
          </a:p>
          <a:p xmlns:a="http://schemas.openxmlformats.org/drawingml/2006/main">
            <a:r>
              <a:t/>
            </a:r>
          </a:p>
          <a:p xmlns:a="http://schemas.openxmlformats.org/drawingml/2006/main">
            <a:r>
              <a:t>[Sources]</a:t>
            </a:r>
          </a:p>
          <a:p xmlns:a="http://schemas.openxmlformats.org/drawingml/2006/main">
            <a:r>
              <a:t>- Evidence destination: frozen family learning-package contract and local autosave workflow.</a:t>
            </a:r>
          </a:p>
          <a:p xmlns:a="http://schemas.openxmlformats.org/drawingml/2006/main">
            <a:r>
              <a:t>- Module sequence: WWHS Year 8 Accessories and Shorts Textiles Technology Program 2024, as bounded by source map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1fc747003e4f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acd6b3fa004f04" /><Relationship Type="http://schemas.openxmlformats.org/officeDocument/2006/relationships/slideLayout" Target="/ppt/slideLayouts/slideLayout1.xml" Id="Ra16965e8292340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6965e8292340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816dde3a794f34" /><Relationship Type="http://schemas.openxmlformats.org/officeDocument/2006/relationships/image" Target="/ppt/media/image.png" Id="Rddb6b6bb41184855" /><Relationship Type="http://schemas.openxmlformats.org/officeDocument/2006/relationships/notesSlide" Target="/ppt/notesSlides/notesSlide1.xml" Id="R1e5584b3fe4844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ed68f5585d41a7" /><Relationship Type="http://schemas.openxmlformats.org/officeDocument/2006/relationships/notesSlide" Target="/ppt/notesSlides/notesSlide2.xml" Id="R160b599120244c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b3f1fc66774624" /><Relationship Type="http://schemas.openxmlformats.org/officeDocument/2006/relationships/image" Target="/ppt/media/image2.png" Id="Rcfe3152b8fda4ba2" /><Relationship Type="http://schemas.openxmlformats.org/officeDocument/2006/relationships/notesSlide" Target="/ppt/notesSlides/notesSlide3.xml" Id="R7e48096b9c1447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15bc26febb4f86" /><Relationship Type="http://schemas.openxmlformats.org/officeDocument/2006/relationships/image" Target="/ppt/media/image3.png" Id="R75466c72ae5c45e1" /><Relationship Type="http://schemas.openxmlformats.org/officeDocument/2006/relationships/notesSlide" Target="/ppt/notesSlides/notesSlide4.xml" Id="Rfda143eff34840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894747a08d4c15" /><Relationship Type="http://schemas.openxmlformats.org/officeDocument/2006/relationships/image" Target="/ppt/media/image4.png" Id="R87c7654f01c14b91" /><Relationship Type="http://schemas.openxmlformats.org/officeDocument/2006/relationships/notesSlide" Target="/ppt/notesSlides/notesSlide5.xml" Id="R6f9473a4587140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0374b04b314884" /><Relationship Type="http://schemas.openxmlformats.org/officeDocument/2006/relationships/notesSlide" Target="/ppt/notesSlides/notesSlide6.xml" Id="R87dc27e691354d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9e0c546b031479a" /><Relationship Type="http://schemas.openxmlformats.org/officeDocument/2006/relationships/notesSlide" Target="/ppt/notesSlides/notesSlide7.xml" Id="Rbb250b22d62d4f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36c99087474490" /><Relationship Type="http://schemas.openxmlformats.org/officeDocument/2006/relationships/notesSlide" Target="/ppt/notesSlides/notesSlide8.xml" Id="R6e56053f153a4de3" /></Relationships>
</file>

<file path=ppt/slides/slide1.xml><?xml version="1.0" encoding="utf-8"?>
<p:sld xmlns:p="http://schemas.openxmlformats.org/presentationml/2006/main">
  <p:cSld>
    <p:bg>
      <p:bgPr>
        <a:solidFill xmlns:a="http://schemas.openxmlformats.org/drawingml/2006/main">
          <a:srgbClr val="2A101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db6b6bb41184855"/>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title-panel">
            <a:extLst xmlns:a="http://schemas.openxmlformats.org/drawingml/2006/main">
              <a:ext uri="{FF2B5EF4-FFF2-40B4-BE49-F238E27FC236}">
                <a16:creationId xmlns:a16="http://schemas.microsoft.com/office/drawing/2014/main" id="{B6B4D3E7-EF45-4F39-AA02-EC48BDFB30C0}"/>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2A101C"/>
          </a:solidFill>
          <a:ln xmlns:a="http://schemas.openxmlformats.org/drawingml/2006/main" w="0">
            <a:noFill/>
            <a:prstDash val="solid"/>
          </a:ln>
        </p:spPr>
      </p:sp>
      <p:sp>
        <p:nvSpPr>
          <p:cNvPr id="3" name="title-accent">
            <a:extLst xmlns:a="http://schemas.openxmlformats.org/drawingml/2006/main">
              <a:ext uri="{FF2B5EF4-FFF2-40B4-BE49-F238E27FC236}">
                <a16:creationId xmlns:a16="http://schemas.microsoft.com/office/drawing/2014/main" id="{2B96F710-FADE-4A5F-BF47-40E9AC309FD1}"/>
              </a:ext>
            </a:extLst>
          </p:cNvPr>
          <p:cNvSpPr>
            <a:spLocks xmlns:a="http://schemas.openxmlformats.org/drawingml/2006/main" noGrp="1"/>
          </p:cNvSpPr>
          <p:nvPr/>
        </p:nvSpPr>
        <p:spPr>
          <a:xfrm xmlns:a="http://schemas.openxmlformats.org/drawingml/2006/main">
            <a:off x="5619750" y="0"/>
            <a:ext cx="133350" cy="68580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4" name="module-label">
            <a:extLst xmlns:a="http://schemas.openxmlformats.org/drawingml/2006/main">
              <a:ext uri="{FF2B5EF4-FFF2-40B4-BE49-F238E27FC236}">
                <a16:creationId xmlns:a16="http://schemas.microsoft.com/office/drawing/2014/main" id="{7F8226BF-F6FF-426B-99CB-9AC05B0A6BC2}"/>
              </a:ext>
            </a:extLst>
          </p:cNvPr>
          <p:cNvSpPr>
            <a:spLocks xmlns:a="http://schemas.openxmlformats.org/drawingml/2006/main" noGrp="1"/>
          </p:cNvSpPr>
          <p:nvPr/>
        </p:nvSpPr>
        <p:spPr>
          <a:xfrm xmlns:a="http://schemas.openxmlformats.org/drawingml/2006/main">
            <a:off x="647700" y="7048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A238"/>
                </a:solidFill>
              </a:defRPr>
            </a:pPr>
            <a:r>
              <a:rPr sz="1275" b="1">
                <a:solidFill>
                  <a:srgbClr val="D6A238"/>
                </a:solidFill>
              </a:rPr>
              <a:t>MODULE 04 · WEEKS 5–6</a:t>
            </a:r>
          </a:p>
        </p:txBody>
      </p:sp>
      <p:sp>
        <p:nvSpPr>
          <p:cNvPr id="5" name="deck-title">
            <a:extLst xmlns:a="http://schemas.openxmlformats.org/drawingml/2006/main">
              <a:ext uri="{FF2B5EF4-FFF2-40B4-BE49-F238E27FC236}">
                <a16:creationId xmlns:a16="http://schemas.microsoft.com/office/drawing/2014/main" id="{397955F0-2367-48FC-BBA1-B0BFA379A678}"/>
              </a:ext>
            </a:extLst>
          </p:cNvPr>
          <p:cNvSpPr>
            <a:spLocks xmlns:a="http://schemas.openxmlformats.org/drawingml/2006/main" noGrp="1"/>
          </p:cNvSpPr>
          <p:nvPr/>
        </p:nvSpPr>
        <p:spPr>
          <a:xfrm xmlns:a="http://schemas.openxmlformats.org/drawingml/2006/main">
            <a:off x="647700" y="1752600"/>
            <a:ext cx="461962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Sewing Bag Project</a:t>
            </a:r>
          </a:p>
        </p:txBody>
      </p:sp>
      <p:sp>
        <p:nvSpPr>
          <p:cNvPr id="6" name="module-outcome">
            <a:extLst xmlns:a="http://schemas.openxmlformats.org/drawingml/2006/main">
              <a:ext uri="{FF2B5EF4-FFF2-40B4-BE49-F238E27FC236}">
                <a16:creationId xmlns:a16="http://schemas.microsoft.com/office/drawing/2014/main" id="{CBC4CF90-DE87-456F-A200-03F179782506}"/>
              </a:ext>
            </a:extLst>
          </p:cNvPr>
          <p:cNvSpPr>
            <a:spLocks xmlns:a="http://schemas.openxmlformats.org/drawingml/2006/main" noGrp="1"/>
          </p:cNvSpPr>
          <p:nvPr/>
        </p:nvSpPr>
        <p:spPr>
          <a:xfrm xmlns:a="http://schemas.openxmlformats.org/drawingml/2006/main">
            <a:off x="647700" y="3857625"/>
            <a:ext cx="4476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7EAF0"/>
                </a:solidFill>
              </a:defRPr>
            </a:pPr>
            <a:r>
              <a:rPr sz="1800" b="0">
                <a:solidFill>
                  <a:srgbClr val="F7EAF0"/>
                </a:solidFill>
              </a:rPr>
              <a:t>Design, construct and evaluate a sewing bag for a real user's needs.</a:t>
            </a:r>
          </a:p>
        </p:txBody>
      </p:sp>
      <p:sp>
        <p:nvSpPr>
          <p:cNvPr id="7" name="deck-context">
            <a:extLst xmlns:a="http://schemas.openxmlformats.org/drawingml/2006/main">
              <a:ext uri="{FF2B5EF4-FFF2-40B4-BE49-F238E27FC236}">
                <a16:creationId xmlns:a16="http://schemas.microsoft.com/office/drawing/2014/main" id="{A917ED03-864C-4E15-B7CE-4F155EE94A7F}"/>
              </a:ext>
            </a:extLst>
          </p:cNvPr>
          <p:cNvSpPr>
            <a:spLocks xmlns:a="http://schemas.openxmlformats.org/drawingml/2006/main" noGrp="1"/>
          </p:cNvSpPr>
          <p:nvPr/>
        </p:nvSpPr>
        <p:spPr>
          <a:xfrm xmlns:a="http://schemas.openxmlformats.org/drawingml/2006/main">
            <a:off x="647700" y="60198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D5BCC6"/>
                </a:solidFill>
              </a:defRPr>
            </a:pPr>
            <a:r>
              <a:rPr sz="1125" b="0">
                <a:solidFill>
                  <a:srgbClr val="D5BCC6"/>
                </a:solidFill>
              </a:rPr>
              <a:t>Teacher-led classroom presentation</a:t>
            </a:r>
          </a:p>
        </p:txBody>
      </p:sp>
    </p:spTree>
    <p:extLst>
      <p:ext uri="{BB962C8B-B14F-4D97-AF65-F5344CB8AC3E}">
        <p14:creationId xmlns:p14="http://schemas.microsoft.com/office/powerpoint/2010/main" val="1387601075"/>
      </p:ext>
    </p:extLst>
  </p:cSld>
</p:sld>
</file>

<file path=ppt/slides/slide2.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8" name="top-accent">
            <a:extLst xmlns:a="http://schemas.openxmlformats.org/drawingml/2006/main">
              <a:ext uri="{FF2B5EF4-FFF2-40B4-BE49-F238E27FC236}">
                <a16:creationId xmlns:a16="http://schemas.microsoft.com/office/drawing/2014/main" id="{896F7BE6-37B5-4C2B-B3B6-906B804DE62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19DA8796-B2A9-4AAA-B657-721A77CFCE46}"/>
              </a:ext>
            </a:extLst>
          </p:cNvPr>
          <p:cNvSpPr>
            <a:spLocks xmlns:a="http://schemas.openxmlformats.org/drawingml/2006/main" noGrp="1"/>
          </p:cNvSpPr>
          <p:nvPr/>
        </p:nvSpPr>
        <p:spPr>
          <a:xfrm xmlns:a="http://schemas.openxmlformats.org/drawingml/2006/main">
            <a:off x="609600" y="5524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Three ideas, one connected decision</a:t>
            </a:r>
          </a:p>
        </p:txBody>
      </p:sp>
      <p:sp>
        <p:nvSpPr>
          <p:cNvPr id="3" name="learning-map-intro">
            <a:extLst xmlns:a="http://schemas.openxmlformats.org/drawingml/2006/main">
              <a:ext uri="{FF2B5EF4-FFF2-40B4-BE49-F238E27FC236}">
                <a16:creationId xmlns:a16="http://schemas.microsoft.com/office/drawing/2014/main" id="{A4419A37-0128-46F4-988B-DBE6D3910DE8}"/>
              </a:ext>
            </a:extLst>
          </p:cNvPr>
          <p:cNvSpPr>
            <a:spLocks xmlns:a="http://schemas.openxmlformats.org/drawingml/2006/main" noGrp="1"/>
          </p:cNvSpPr>
          <p:nvPr/>
        </p:nvSpPr>
        <p:spPr>
          <a:xfrm xmlns:a="http://schemas.openxmlformats.org/drawingml/2006/main">
            <a:off x="609600" y="11430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C5357"/>
                </a:solidFill>
              </a:defRPr>
            </a:pPr>
            <a:r>
              <a:rPr sz="1575" b="0">
                <a:solidFill>
                  <a:srgbClr val="5C5357"/>
                </a:solidFill>
              </a:rPr>
              <a:t>Listen for the relationship between the ideas. Each one changes what you notice, choose or explain.</a:t>
            </a:r>
          </a:p>
        </p:txBody>
      </p:sp>
      <p:sp>
        <p:nvSpPr>
          <p:cNvPr id="4" name="path-number-1">
            <a:extLst xmlns:a="http://schemas.openxmlformats.org/drawingml/2006/main">
              <a:ext uri="{FF2B5EF4-FFF2-40B4-BE49-F238E27FC236}">
                <a16:creationId xmlns:a16="http://schemas.microsoft.com/office/drawing/2014/main" id="{6E37A085-910E-44EF-9A76-4D2845FB896B}"/>
              </a:ext>
            </a:extLst>
          </p:cNvPr>
          <p:cNvSpPr>
            <a:spLocks xmlns:a="http://schemas.openxmlformats.org/drawingml/2006/main" noGrp="1"/>
          </p:cNvSpPr>
          <p:nvPr/>
        </p:nvSpPr>
        <p:spPr>
          <a:xfrm xmlns:a="http://schemas.openxmlformats.org/drawingml/2006/main">
            <a:off x="70485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AC2254"/>
                </a:solidFill>
              </a:defRPr>
            </a:pPr>
            <a:r>
              <a:rPr sz="4650" b="1">
                <a:solidFill>
                  <a:srgbClr val="AC2254"/>
                </a:solidFill>
              </a:rPr>
              <a:t>1</a:t>
            </a:r>
          </a:p>
        </p:txBody>
      </p:sp>
      <p:sp>
        <p:nvSpPr>
          <p:cNvPr id="5" name="path-title-1">
            <a:extLst xmlns:a="http://schemas.openxmlformats.org/drawingml/2006/main">
              <a:ext uri="{FF2B5EF4-FFF2-40B4-BE49-F238E27FC236}">
                <a16:creationId xmlns:a16="http://schemas.microsoft.com/office/drawing/2014/main" id="{9C09EFA8-FA0B-431F-863A-D8B1A5C6AD8D}"/>
              </a:ext>
            </a:extLst>
          </p:cNvPr>
          <p:cNvSpPr>
            <a:spLocks xmlns:a="http://schemas.openxmlformats.org/drawingml/2006/main" noGrp="1"/>
          </p:cNvSpPr>
          <p:nvPr/>
        </p:nvSpPr>
        <p:spPr>
          <a:xfrm xmlns:a="http://schemas.openxmlformats.org/drawingml/2006/main">
            <a:off x="70485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Function and user needs</a:t>
            </a:r>
          </a:p>
        </p:txBody>
      </p:sp>
      <p:sp>
        <p:nvSpPr>
          <p:cNvPr id="6" name="path-rule-1">
            <a:extLst xmlns:a="http://schemas.openxmlformats.org/drawingml/2006/main">
              <a:ext uri="{FF2B5EF4-FFF2-40B4-BE49-F238E27FC236}">
                <a16:creationId xmlns:a16="http://schemas.microsoft.com/office/drawing/2014/main" id="{7618E8FD-2194-4CA2-9445-8BD1D331A4E7}"/>
              </a:ext>
            </a:extLst>
          </p:cNvPr>
          <p:cNvSpPr>
            <a:spLocks xmlns:a="http://schemas.openxmlformats.org/drawingml/2006/main" noGrp="1"/>
          </p:cNvSpPr>
          <p:nvPr/>
        </p:nvSpPr>
        <p:spPr>
          <a:xfrm xmlns:a="http://schemas.openxmlformats.org/drawingml/2006/main">
            <a:off x="704850" y="4171950"/>
            <a:ext cx="2724150" cy="47625"/>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7" name="path-number-2">
            <a:extLst xmlns:a="http://schemas.openxmlformats.org/drawingml/2006/main">
              <a:ext uri="{FF2B5EF4-FFF2-40B4-BE49-F238E27FC236}">
                <a16:creationId xmlns:a16="http://schemas.microsoft.com/office/drawing/2014/main" id="{311D7701-78DB-4B7F-B1EA-A9BD8356C763}"/>
              </a:ext>
            </a:extLst>
          </p:cNvPr>
          <p:cNvSpPr>
            <a:spLocks xmlns:a="http://schemas.openxmlformats.org/drawingml/2006/main" noGrp="1"/>
          </p:cNvSpPr>
          <p:nvPr/>
        </p:nvSpPr>
        <p:spPr>
          <a:xfrm xmlns:a="http://schemas.openxmlformats.org/drawingml/2006/main">
            <a:off x="4333875"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226A61"/>
                </a:solidFill>
              </a:defRPr>
            </a:pPr>
            <a:r>
              <a:rPr sz="4650" b="1">
                <a:solidFill>
                  <a:srgbClr val="226A61"/>
                </a:solidFill>
              </a:rPr>
              <a:t>2</a:t>
            </a:r>
          </a:p>
        </p:txBody>
      </p:sp>
      <p:sp>
        <p:nvSpPr>
          <p:cNvPr id="8" name="path-title-2">
            <a:extLst xmlns:a="http://schemas.openxmlformats.org/drawingml/2006/main">
              <a:ext uri="{FF2B5EF4-FFF2-40B4-BE49-F238E27FC236}">
                <a16:creationId xmlns:a16="http://schemas.microsoft.com/office/drawing/2014/main" id="{6954091A-48F1-46FF-84C5-3C953265437F}"/>
              </a:ext>
            </a:extLst>
          </p:cNvPr>
          <p:cNvSpPr>
            <a:spLocks xmlns:a="http://schemas.openxmlformats.org/drawingml/2006/main" noGrp="1"/>
          </p:cNvSpPr>
          <p:nvPr/>
        </p:nvSpPr>
        <p:spPr>
          <a:xfrm xmlns:a="http://schemas.openxmlformats.org/drawingml/2006/main">
            <a:off x="4333875"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Construction sequence and decoration</a:t>
            </a:r>
          </a:p>
        </p:txBody>
      </p:sp>
      <p:sp>
        <p:nvSpPr>
          <p:cNvPr id="9" name="path-rule-2">
            <a:extLst xmlns:a="http://schemas.openxmlformats.org/drawingml/2006/main">
              <a:ext uri="{FF2B5EF4-FFF2-40B4-BE49-F238E27FC236}">
                <a16:creationId xmlns:a16="http://schemas.microsoft.com/office/drawing/2014/main" id="{670DC902-3CA4-4128-8C97-F18B43758583}"/>
              </a:ext>
            </a:extLst>
          </p:cNvPr>
          <p:cNvSpPr>
            <a:spLocks xmlns:a="http://schemas.openxmlformats.org/drawingml/2006/main" noGrp="1"/>
          </p:cNvSpPr>
          <p:nvPr/>
        </p:nvSpPr>
        <p:spPr>
          <a:xfrm xmlns:a="http://schemas.openxmlformats.org/drawingml/2006/main">
            <a:off x="4333875" y="4171950"/>
            <a:ext cx="2724150" cy="47625"/>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10" name="path-number-3">
            <a:extLst xmlns:a="http://schemas.openxmlformats.org/drawingml/2006/main">
              <a:ext uri="{FF2B5EF4-FFF2-40B4-BE49-F238E27FC236}">
                <a16:creationId xmlns:a16="http://schemas.microsoft.com/office/drawing/2014/main" id="{07FA049A-490B-4D8A-864E-B8C643C666CF}"/>
              </a:ext>
            </a:extLst>
          </p:cNvPr>
          <p:cNvSpPr>
            <a:spLocks xmlns:a="http://schemas.openxmlformats.org/drawingml/2006/main" noGrp="1"/>
          </p:cNvSpPr>
          <p:nvPr/>
        </p:nvSpPr>
        <p:spPr>
          <a:xfrm xmlns:a="http://schemas.openxmlformats.org/drawingml/2006/main">
            <a:off x="796290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C94C46"/>
                </a:solidFill>
              </a:defRPr>
            </a:pPr>
            <a:r>
              <a:rPr sz="4650" b="1">
                <a:solidFill>
                  <a:srgbClr val="C94C46"/>
                </a:solidFill>
              </a:rPr>
              <a:t>3</a:t>
            </a:r>
          </a:p>
        </p:txBody>
      </p:sp>
      <p:sp>
        <p:nvSpPr>
          <p:cNvPr id="11" name="path-title-3">
            <a:extLst xmlns:a="http://schemas.openxmlformats.org/drawingml/2006/main">
              <a:ext uri="{FF2B5EF4-FFF2-40B4-BE49-F238E27FC236}">
                <a16:creationId xmlns:a16="http://schemas.microsoft.com/office/drawing/2014/main" id="{F57DB53F-4ECA-4CC8-84BA-C468621D6B21}"/>
              </a:ext>
            </a:extLst>
          </p:cNvPr>
          <p:cNvSpPr>
            <a:spLocks xmlns:a="http://schemas.openxmlformats.org/drawingml/2006/main" noGrp="1"/>
          </p:cNvSpPr>
          <p:nvPr/>
        </p:nvSpPr>
        <p:spPr>
          <a:xfrm xmlns:a="http://schemas.openxmlformats.org/drawingml/2006/main">
            <a:off x="796290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Quality, evaluation and communication</a:t>
            </a:r>
          </a:p>
        </p:txBody>
      </p:sp>
      <p:sp>
        <p:nvSpPr>
          <p:cNvPr id="12" name="path-rule-3">
            <a:extLst xmlns:a="http://schemas.openxmlformats.org/drawingml/2006/main">
              <a:ext uri="{FF2B5EF4-FFF2-40B4-BE49-F238E27FC236}">
                <a16:creationId xmlns:a16="http://schemas.microsoft.com/office/drawing/2014/main" id="{248C0088-E983-4D10-A98E-161F2316DA9F}"/>
              </a:ext>
            </a:extLst>
          </p:cNvPr>
          <p:cNvSpPr>
            <a:spLocks xmlns:a="http://schemas.openxmlformats.org/drawingml/2006/main" noGrp="1"/>
          </p:cNvSpPr>
          <p:nvPr/>
        </p:nvSpPr>
        <p:spPr>
          <a:xfrm xmlns:a="http://schemas.openxmlformats.org/drawingml/2006/main">
            <a:off x="7962900" y="4171950"/>
            <a:ext cx="2724150" cy="47625"/>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13" name="retrieval-strip">
            <a:extLst xmlns:a="http://schemas.openxmlformats.org/drawingml/2006/main">
              <a:ext uri="{FF2B5EF4-FFF2-40B4-BE49-F238E27FC236}">
                <a16:creationId xmlns:a16="http://schemas.microsoft.com/office/drawing/2014/main" id="{9FDA108C-4F2D-4B53-BA4E-AF7F6F1B4174}"/>
              </a:ext>
            </a:extLst>
          </p:cNvPr>
          <p:cNvSpPr>
            <a:spLocks xmlns:a="http://schemas.openxmlformats.org/drawingml/2006/main" noGrp="1"/>
          </p:cNvSpPr>
          <p:nvPr/>
        </p:nvSpPr>
        <p:spPr>
          <a:xfrm xmlns:a="http://schemas.openxmlformats.org/drawingml/2006/main">
            <a:off x="609600" y="4914900"/>
            <a:ext cx="10972800" cy="990600"/>
          </a:xfrm>
          <a:prstGeom xmlns:a="http://schemas.openxmlformats.org/drawingml/2006/main" prst="roundRect">
            <a:avLst>
              <a:gd name="adj" fmla="val 17308"/>
            </a:avLst>
          </a:prstGeom>
          <a:solidFill xmlns:a="http://schemas.openxmlformats.org/drawingml/2006/main">
            <a:srgbClr val="721735"/>
          </a:solidFill>
          <a:ln xmlns:a="http://schemas.openxmlformats.org/drawingml/2006/main" w="0">
            <a:noFill/>
            <a:prstDash val="solid"/>
          </a:ln>
        </p:spPr>
      </p:sp>
      <p:sp>
        <p:nvSpPr>
          <p:cNvPr id="14" name="warm-up-label">
            <a:extLst xmlns:a="http://schemas.openxmlformats.org/drawingml/2006/main">
              <a:ext uri="{FF2B5EF4-FFF2-40B4-BE49-F238E27FC236}">
                <a16:creationId xmlns:a16="http://schemas.microsoft.com/office/drawing/2014/main" id="{CD47A34E-20AE-49CF-8BD8-BA1FF1D02D97}"/>
              </a:ext>
            </a:extLst>
          </p:cNvPr>
          <p:cNvSpPr>
            <a:spLocks xmlns:a="http://schemas.openxmlformats.org/drawingml/2006/main" noGrp="1"/>
          </p:cNvSpPr>
          <p:nvPr/>
        </p:nvSpPr>
        <p:spPr>
          <a:xfrm xmlns:a="http://schemas.openxmlformats.org/drawingml/2006/main">
            <a:off x="876300" y="51054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A238"/>
                </a:solidFill>
              </a:defRPr>
            </a:pPr>
            <a:r>
              <a:rPr sz="1200" b="1">
                <a:solidFill>
                  <a:srgbClr val="D6A238"/>
                </a:solidFill>
              </a:rPr>
              <a:t>RETRIEVAL WARM-UP</a:t>
            </a:r>
          </a:p>
        </p:txBody>
      </p:sp>
      <p:sp>
        <p:nvSpPr>
          <p:cNvPr id="15" name="warm-up-question">
            <a:extLst xmlns:a="http://schemas.openxmlformats.org/drawingml/2006/main">
              <a:ext uri="{FF2B5EF4-FFF2-40B4-BE49-F238E27FC236}">
                <a16:creationId xmlns:a16="http://schemas.microsoft.com/office/drawing/2014/main" id="{5F907485-CF8D-4DF2-B018-FE425628D2A7}"/>
              </a:ext>
            </a:extLst>
          </p:cNvPr>
          <p:cNvSpPr>
            <a:spLocks xmlns:a="http://schemas.openxmlformats.org/drawingml/2006/main" noGrp="1"/>
          </p:cNvSpPr>
          <p:nvPr/>
        </p:nvSpPr>
        <p:spPr>
          <a:xfrm xmlns:a="http://schemas.openxmlformats.org/drawingml/2006/main">
            <a:off x="876300" y="5429250"/>
            <a:ext cx="9763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Which idea feels most familiar—and what evidence supports what you think you know?</a:t>
            </a:r>
          </a:p>
        </p:txBody>
      </p:sp>
      <p:sp>
        <p:nvSpPr>
          <p:cNvPr id="16" name="footer-module-2">
            <a:extLst xmlns:a="http://schemas.openxmlformats.org/drawingml/2006/main">
              <a:ext uri="{FF2B5EF4-FFF2-40B4-BE49-F238E27FC236}">
                <a16:creationId xmlns:a16="http://schemas.microsoft.com/office/drawing/2014/main" id="{24F3C306-CA0F-4043-A471-DD33FFE5089B}"/>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04 · YEAR 8 TEXTILES TECHNOLOGY</a:t>
            </a:r>
          </a:p>
        </p:txBody>
      </p:sp>
      <p:sp>
        <p:nvSpPr>
          <p:cNvPr id="17" name="footer-number-2">
            <a:extLst xmlns:a="http://schemas.openxmlformats.org/drawingml/2006/main">
              <a:ext uri="{FF2B5EF4-FFF2-40B4-BE49-F238E27FC236}">
                <a16:creationId xmlns:a16="http://schemas.microsoft.com/office/drawing/2014/main" id="{55C243BF-669F-4148-8B1B-4E06B7A6A3F7}"/>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02</a:t>
            </a:r>
          </a:p>
        </p:txBody>
      </p:sp>
    </p:spTree>
    <p:extLst>
      <p:ext uri="{BB962C8B-B14F-4D97-AF65-F5344CB8AC3E}">
        <p14:creationId xmlns:p14="http://schemas.microsoft.com/office/powerpoint/2010/main" val="1807033804"/>
      </p:ext>
    </p:extLst>
  </p:cSld>
</p:sld>
</file>

<file path=ppt/slides/slide3.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AC5984E7-CEBD-4078-AC3C-BA6318B25E6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629A2B64-5AD7-40D6-B816-0CF63D236D47}"/>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AC2254"/>
                </a:solidFill>
              </a:defRPr>
            </a:pPr>
            <a:r>
              <a:rPr sz="1125" b="1">
                <a:solidFill>
                  <a:srgbClr val="AC2254"/>
                </a:solidFill>
              </a:rPr>
              <a:t>4.1 · BREAK FUNCTION INTO OBSERVABLE JOBS</a:t>
            </a:r>
          </a:p>
        </p:txBody>
      </p:sp>
      <p:sp>
        <p:nvSpPr>
          <p:cNvPr id="3" name="slide-title">
            <a:extLst xmlns:a="http://schemas.openxmlformats.org/drawingml/2006/main">
              <a:ext uri="{FF2B5EF4-FFF2-40B4-BE49-F238E27FC236}">
                <a16:creationId xmlns:a16="http://schemas.microsoft.com/office/drawing/2014/main" id="{1652E33E-79E2-4C15-889F-1471C1C22F03}"/>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Function and user needs</a:t>
            </a:r>
          </a:p>
        </p:txBody>
      </p:sp>
      <p:sp>
        <p:nvSpPr>
          <p:cNvPr id="4" name="image-frame">
            <a:extLst xmlns:a="http://schemas.openxmlformats.org/drawingml/2006/main">
              <a:ext uri="{FF2B5EF4-FFF2-40B4-BE49-F238E27FC236}">
                <a16:creationId xmlns:a16="http://schemas.microsoft.com/office/drawing/2014/main" id="{F03FC590-4656-4C31-8162-5F6AB92FB711}"/>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AC2254"/>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fe3152b8fda4ba2"/>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AD387009-A454-44E5-898B-F87BEA8ABE3D}"/>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Function can be broken into observable jobs such as containment, access, carrying and storage where the brief confirms them.</a:t>
            </a:r>
          </a:p>
        </p:txBody>
      </p:sp>
      <p:sp>
        <p:nvSpPr>
          <p:cNvPr id="7" name="key-idea-label">
            <a:extLst xmlns:a="http://schemas.openxmlformats.org/drawingml/2006/main">
              <a:ext uri="{FF2B5EF4-FFF2-40B4-BE49-F238E27FC236}">
                <a16:creationId xmlns:a16="http://schemas.microsoft.com/office/drawing/2014/main" id="{4C89A674-6D92-468B-9FC5-50483BBC7979}"/>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THE KEY IDEA</a:t>
            </a:r>
          </a:p>
        </p:txBody>
      </p:sp>
      <p:sp>
        <p:nvSpPr>
          <p:cNvPr id="8" name="key-idea-copy">
            <a:extLst xmlns:a="http://schemas.openxmlformats.org/drawingml/2006/main">
              <a:ext uri="{FF2B5EF4-FFF2-40B4-BE49-F238E27FC236}">
                <a16:creationId xmlns:a16="http://schemas.microsoft.com/office/drawing/2014/main" id="{C9B881FA-B4E8-4E2B-B308-172A2A00FD6A}"/>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Function can be broken into observable jobs such as containment, access, carrying and storage where the brief confirms them. User needs should come from authorised evidence rather than designer assumptions. Criteria need a clear connection to the brief and a realistic way to gather evidence. Design trade-offs occur when a choice helps one need but affects another.</a:t>
            </a:r>
          </a:p>
        </p:txBody>
      </p:sp>
      <p:sp>
        <p:nvSpPr>
          <p:cNvPr id="9" name="application-block">
            <a:extLst xmlns:a="http://schemas.openxmlformats.org/drawingml/2006/main">
              <a:ext uri="{FF2B5EF4-FFF2-40B4-BE49-F238E27FC236}">
                <a16:creationId xmlns:a16="http://schemas.microsoft.com/office/drawing/2014/main" id="{4A33832C-8D6A-4018-9B2C-1C368458BB3D}"/>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28FA8E8C-FAEF-429B-8F15-72A9B692DAF8}"/>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USE THIS IDEA</a:t>
            </a:r>
          </a:p>
        </p:txBody>
      </p:sp>
      <p:sp>
        <p:nvSpPr>
          <p:cNvPr id="11" name="application-copy">
            <a:extLst xmlns:a="http://schemas.openxmlformats.org/drawingml/2006/main">
              <a:ext uri="{FF2B5EF4-FFF2-40B4-BE49-F238E27FC236}">
                <a16:creationId xmlns:a16="http://schemas.microsoft.com/office/drawing/2014/main" id="{34A8005E-F3BB-4EDC-B1DD-A85E07655C1D}"/>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Create a user–purpose–function map for the current sewing-bag brief. Use confirmed information to write three different criteria, name the evidence for each and identify one possible trade-off that needs to be explored during idea development.</a:t>
            </a:r>
          </a:p>
        </p:txBody>
      </p:sp>
      <p:sp>
        <p:nvSpPr>
          <p:cNvPr id="12" name="footer-module-3">
            <a:extLst xmlns:a="http://schemas.openxmlformats.org/drawingml/2006/main">
              <a:ext uri="{FF2B5EF4-FFF2-40B4-BE49-F238E27FC236}">
                <a16:creationId xmlns:a16="http://schemas.microsoft.com/office/drawing/2014/main" id="{82246615-8003-4C58-897E-DE7C30042768}"/>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04 · YEAR 8 TEXTILES TECHNOLOGY</a:t>
            </a:r>
          </a:p>
        </p:txBody>
      </p:sp>
      <p:sp>
        <p:nvSpPr>
          <p:cNvPr id="13" name="footer-number-3">
            <a:extLst xmlns:a="http://schemas.openxmlformats.org/drawingml/2006/main">
              <a:ext uri="{FF2B5EF4-FFF2-40B4-BE49-F238E27FC236}">
                <a16:creationId xmlns:a16="http://schemas.microsoft.com/office/drawing/2014/main" id="{62DA4B7D-1BEC-4098-97C4-96D2A81AE19C}"/>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03</a:t>
            </a:r>
          </a:p>
        </p:txBody>
      </p:sp>
    </p:spTree>
    <p:extLst>
      <p:ext uri="{BB962C8B-B14F-4D97-AF65-F5344CB8AC3E}">
        <p14:creationId xmlns:p14="http://schemas.microsoft.com/office/powerpoint/2010/main" val="891750935"/>
      </p:ext>
    </p:extLst>
  </p:cSld>
</p:sld>
</file>

<file path=ppt/slides/slide4.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215D3FB0-4CE0-4161-BABC-A0B3B3FDD58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C630783B-0EE7-47BD-9E2E-CE677EA58DDA}"/>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6A61"/>
                </a:solidFill>
              </a:defRPr>
            </a:pPr>
            <a:r>
              <a:rPr sz="1125" b="1">
                <a:solidFill>
                  <a:srgbClr val="226A61"/>
                </a:solidFill>
              </a:rPr>
              <a:t>4.2 · MAP THE PRODUCT FROM PARTS TO WHOLE</a:t>
            </a:r>
          </a:p>
        </p:txBody>
      </p:sp>
      <p:sp>
        <p:nvSpPr>
          <p:cNvPr id="3" name="slide-title">
            <a:extLst xmlns:a="http://schemas.openxmlformats.org/drawingml/2006/main">
              <a:ext uri="{FF2B5EF4-FFF2-40B4-BE49-F238E27FC236}">
                <a16:creationId xmlns:a16="http://schemas.microsoft.com/office/drawing/2014/main" id="{D2BD3712-0C3C-4128-A012-5CA467FFB2F0}"/>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Construction sequence and decoration</a:t>
            </a:r>
          </a:p>
        </p:txBody>
      </p:sp>
      <p:sp>
        <p:nvSpPr>
          <p:cNvPr id="4" name="image-frame">
            <a:extLst xmlns:a="http://schemas.openxmlformats.org/drawingml/2006/main">
              <a:ext uri="{FF2B5EF4-FFF2-40B4-BE49-F238E27FC236}">
                <a16:creationId xmlns:a16="http://schemas.microsoft.com/office/drawing/2014/main" id="{68339864-682C-498D-9520-6BAF4AF0288F}"/>
              </a:ext>
            </a:extLst>
          </p:cNvPr>
          <p:cNvSpPr>
            <a:spLocks xmlns:a="http://schemas.openxmlformats.org/drawingml/2006/main" noGrp="1"/>
          </p:cNvSpPr>
          <p:nvPr/>
        </p:nvSpPr>
        <p:spPr>
          <a:xfrm xmlns:a="http://schemas.openxmlformats.org/drawingml/2006/main">
            <a:off x="6686550" y="1504950"/>
            <a:ext cx="4953000" cy="3448050"/>
          </a:xfrm>
          <a:prstGeom xmlns:a="http://schemas.openxmlformats.org/drawingml/2006/main" prst="roundRect">
            <a:avLst>
              <a:gd name="adj" fmla="val 4972"/>
            </a:avLst>
          </a:prstGeom>
          <a:solidFill xmlns:a="http://schemas.openxmlformats.org/drawingml/2006/main">
            <a:srgbClr val="226A61"/>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5466c72ae5c45e1"/>
          <a:srcRect xmlns:a="http://schemas.openxmlformats.org/drawingml/2006/main" l="6698" t="0" r="6698" b="0"/>
          <a:stretch xmlns:a="http://schemas.openxmlformats.org/drawingml/2006/main">
            <a:fillRect l="0" t="0" r="0" b="0"/>
          </a:stretch>
        </p:blipFill>
        <p:spPr>
          <a:xfrm xmlns:a="http://schemas.openxmlformats.org/drawingml/2006/main">
            <a:off x="67437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340BBDD8-E124-4B10-8608-48ED6D41B450}"/>
              </a:ext>
            </a:extLst>
          </p:cNvPr>
          <p:cNvSpPr>
            <a:spLocks xmlns:a="http://schemas.openxmlformats.org/drawingml/2006/main" noGrp="1"/>
          </p:cNvSpPr>
          <p:nvPr/>
        </p:nvSpPr>
        <p:spPr>
          <a:xfrm xmlns:a="http://schemas.openxmlformats.org/drawingml/2006/main">
            <a:off x="67437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Construction planning begins with confirmed parts and how they become a whole product.</a:t>
            </a:r>
          </a:p>
        </p:txBody>
      </p:sp>
      <p:sp>
        <p:nvSpPr>
          <p:cNvPr id="7" name="key-idea-label">
            <a:extLst xmlns:a="http://schemas.openxmlformats.org/drawingml/2006/main">
              <a:ext uri="{FF2B5EF4-FFF2-40B4-BE49-F238E27FC236}">
                <a16:creationId xmlns:a16="http://schemas.microsoft.com/office/drawing/2014/main" id="{A8CA7317-B384-4AEA-BD2F-A5D45A76F68F}"/>
              </a:ext>
            </a:extLst>
          </p:cNvPr>
          <p:cNvSpPr>
            <a:spLocks xmlns:a="http://schemas.openxmlformats.org/drawingml/2006/main" noGrp="1"/>
          </p:cNvSpPr>
          <p:nvPr/>
        </p:nvSpPr>
        <p:spPr>
          <a:xfrm xmlns:a="http://schemas.openxmlformats.org/drawingml/2006/main">
            <a:off x="609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THE KEY IDEA</a:t>
            </a:r>
          </a:p>
        </p:txBody>
      </p:sp>
      <p:sp>
        <p:nvSpPr>
          <p:cNvPr id="8" name="key-idea-copy">
            <a:extLst xmlns:a="http://schemas.openxmlformats.org/drawingml/2006/main">
              <a:ext uri="{FF2B5EF4-FFF2-40B4-BE49-F238E27FC236}">
                <a16:creationId xmlns:a16="http://schemas.microsoft.com/office/drawing/2014/main" id="{C932020E-299A-417B-AAD7-C67D358BA0AB}"/>
              </a:ext>
            </a:extLst>
          </p:cNvPr>
          <p:cNvSpPr>
            <a:spLocks xmlns:a="http://schemas.openxmlformats.org/drawingml/2006/main" noGrp="1"/>
          </p:cNvSpPr>
          <p:nvPr/>
        </p:nvSpPr>
        <p:spPr>
          <a:xfrm xmlns:a="http://schemas.openxmlformats.org/drawingml/2006/main">
            <a:off x="609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Construction planning begins with confirmed parts and how they become a whole product. Decoration should support the design concept or user and be tested on suitable material. Dependencies determine which tasks must happen before others. Checkpoints belong before important stages become hidden or difficult to correct.</a:t>
            </a:r>
          </a:p>
        </p:txBody>
      </p:sp>
      <p:sp>
        <p:nvSpPr>
          <p:cNvPr id="9" name="application-block">
            <a:extLst xmlns:a="http://schemas.openxmlformats.org/drawingml/2006/main">
              <a:ext uri="{FF2B5EF4-FFF2-40B4-BE49-F238E27FC236}">
                <a16:creationId xmlns:a16="http://schemas.microsoft.com/office/drawing/2014/main" id="{306FD3CF-0F2F-4526-9033-C75F89A7B814}"/>
              </a:ext>
            </a:extLst>
          </p:cNvPr>
          <p:cNvSpPr>
            <a:spLocks xmlns:a="http://schemas.openxmlformats.org/drawingml/2006/main" noGrp="1"/>
          </p:cNvSpPr>
          <p:nvPr/>
        </p:nvSpPr>
        <p:spPr>
          <a:xfrm xmlns:a="http://schemas.openxmlformats.org/drawingml/2006/main">
            <a:off x="609600" y="4114800"/>
            <a:ext cx="4838700" cy="1524000"/>
          </a:xfrm>
          <a:prstGeom xmlns:a="http://schemas.openxmlformats.org/drawingml/2006/main" prst="roundRect">
            <a:avLst>
              <a:gd name="adj" fmla="val 10000"/>
            </a:avLst>
          </a:prstGeom>
          <a:solidFill xmlns:a="http://schemas.openxmlformats.org/drawingml/2006/main">
            <a:srgbClr val="DCE9E4"/>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722F9451-5AAA-4A56-AB94-99D73DEA48D6}"/>
              </a:ext>
            </a:extLst>
          </p:cNvPr>
          <p:cNvSpPr>
            <a:spLocks xmlns:a="http://schemas.openxmlformats.org/drawingml/2006/main" noGrp="1"/>
          </p:cNvSpPr>
          <p:nvPr/>
        </p:nvSpPr>
        <p:spPr>
          <a:xfrm xmlns:a="http://schemas.openxmlformats.org/drawingml/2006/main">
            <a:off x="838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USE THIS IDEA</a:t>
            </a:r>
          </a:p>
        </p:txBody>
      </p:sp>
      <p:sp>
        <p:nvSpPr>
          <p:cNvPr id="11" name="application-copy">
            <a:extLst xmlns:a="http://schemas.openxmlformats.org/drawingml/2006/main">
              <a:ext uri="{FF2B5EF4-FFF2-40B4-BE49-F238E27FC236}">
                <a16:creationId xmlns:a16="http://schemas.microsoft.com/office/drawing/2014/main" id="{81F88B00-0E98-4377-BD7C-E25CE804A20A}"/>
              </a:ext>
            </a:extLst>
          </p:cNvPr>
          <p:cNvSpPr>
            <a:spLocks xmlns:a="http://schemas.openxmlformats.org/drawingml/2006/main" noGrp="1"/>
          </p:cNvSpPr>
          <p:nvPr/>
        </p:nvSpPr>
        <p:spPr>
          <a:xfrm xmlns:a="http://schemas.openxmlformats.org/drawingml/2006/main">
            <a:off x="838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Turn the teacher-issued sewing-bag instructions into a visual sequence. Add arrows for dependencies, mark the point where an approved decoration can be completed, and write the evidence to inspect at two checkpoints.</a:t>
            </a:r>
          </a:p>
        </p:txBody>
      </p:sp>
      <p:sp>
        <p:nvSpPr>
          <p:cNvPr id="12" name="footer-module-4">
            <a:extLst xmlns:a="http://schemas.openxmlformats.org/drawingml/2006/main">
              <a:ext uri="{FF2B5EF4-FFF2-40B4-BE49-F238E27FC236}">
                <a16:creationId xmlns:a16="http://schemas.microsoft.com/office/drawing/2014/main" id="{51C36BA9-1901-49D3-A785-3C0600294C25}"/>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04 · YEAR 8 TEXTILES TECHNOLOGY</a:t>
            </a:r>
          </a:p>
        </p:txBody>
      </p:sp>
      <p:sp>
        <p:nvSpPr>
          <p:cNvPr id="13" name="footer-number-4">
            <a:extLst xmlns:a="http://schemas.openxmlformats.org/drawingml/2006/main">
              <a:ext uri="{FF2B5EF4-FFF2-40B4-BE49-F238E27FC236}">
                <a16:creationId xmlns:a16="http://schemas.microsoft.com/office/drawing/2014/main" id="{E7114044-BF09-4393-AB03-4CFF575D27E3}"/>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04</a:t>
            </a:r>
          </a:p>
        </p:txBody>
      </p:sp>
    </p:spTree>
    <p:extLst>
      <p:ext uri="{BB962C8B-B14F-4D97-AF65-F5344CB8AC3E}">
        <p14:creationId xmlns:p14="http://schemas.microsoft.com/office/powerpoint/2010/main" val="922092496"/>
      </p:ext>
    </p:extLst>
  </p:cSld>
</p:sld>
</file>

<file path=ppt/slides/slide5.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ED72B16A-63A6-4EC6-94BB-CEE552DA722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4FA86049-59E5-4880-B6AB-613858733CD7}"/>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C94C46"/>
                </a:solidFill>
              </a:defRPr>
            </a:pPr>
            <a:r>
              <a:rPr sz="1125" b="1">
                <a:solidFill>
                  <a:srgbClr val="C94C46"/>
                </a:solidFill>
              </a:rPr>
              <a:t>4.3 · INSPECT RELEVANT QUALITY FEATURES</a:t>
            </a:r>
          </a:p>
        </p:txBody>
      </p:sp>
      <p:sp>
        <p:nvSpPr>
          <p:cNvPr id="3" name="slide-title">
            <a:extLst xmlns:a="http://schemas.openxmlformats.org/drawingml/2006/main">
              <a:ext uri="{FF2B5EF4-FFF2-40B4-BE49-F238E27FC236}">
                <a16:creationId xmlns:a16="http://schemas.microsoft.com/office/drawing/2014/main" id="{A2E333CE-A638-43DD-95E5-12E059832479}"/>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Quality, evaluation and communication</a:t>
            </a:r>
          </a:p>
        </p:txBody>
      </p:sp>
      <p:sp>
        <p:nvSpPr>
          <p:cNvPr id="4" name="image-frame">
            <a:extLst xmlns:a="http://schemas.openxmlformats.org/drawingml/2006/main">
              <a:ext uri="{FF2B5EF4-FFF2-40B4-BE49-F238E27FC236}">
                <a16:creationId xmlns:a16="http://schemas.microsoft.com/office/drawing/2014/main" id="{8F00C4C7-39CE-496A-BE5C-9293C3D4433F}"/>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C94C46"/>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7c7654f01c14b91"/>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7A79863A-ABE9-4C35-A3B5-3C0DD500FF9A}"/>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Quality is judged against the intended purpose, user and relevant project criteria.</a:t>
            </a:r>
          </a:p>
        </p:txBody>
      </p:sp>
      <p:sp>
        <p:nvSpPr>
          <p:cNvPr id="7" name="key-idea-label">
            <a:extLst xmlns:a="http://schemas.openxmlformats.org/drawingml/2006/main">
              <a:ext uri="{FF2B5EF4-FFF2-40B4-BE49-F238E27FC236}">
                <a16:creationId xmlns:a16="http://schemas.microsoft.com/office/drawing/2014/main" id="{860CAFA1-37F5-4725-99A3-35EDA4B06DF3}"/>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THE KEY IDEA</a:t>
            </a:r>
          </a:p>
        </p:txBody>
      </p:sp>
      <p:sp>
        <p:nvSpPr>
          <p:cNvPr id="8" name="key-idea-copy">
            <a:extLst xmlns:a="http://schemas.openxmlformats.org/drawingml/2006/main">
              <a:ext uri="{FF2B5EF4-FFF2-40B4-BE49-F238E27FC236}">
                <a16:creationId xmlns:a16="http://schemas.microsoft.com/office/drawing/2014/main" id="{34CC5753-390D-46E5-A93F-CCDBEC37653A}"/>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Quality is judged against the intended purpose, user and relevant project criteria. Different viewpoints and function tests reveal different evidence. An evaluation links criterion, observation, reasoning and judgement. Clear, privacy-safe communication explains what each selected image or sample proves.</a:t>
            </a:r>
          </a:p>
        </p:txBody>
      </p:sp>
      <p:sp>
        <p:nvSpPr>
          <p:cNvPr id="9" name="application-block">
            <a:extLst xmlns:a="http://schemas.openxmlformats.org/drawingml/2006/main">
              <a:ext uri="{FF2B5EF4-FFF2-40B4-BE49-F238E27FC236}">
                <a16:creationId xmlns:a16="http://schemas.microsoft.com/office/drawing/2014/main" id="{A07D839F-4F69-440C-BFF8-DDD9556C043F}"/>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CA85040F-7DDF-49EE-AE9A-A3E22EA909DA}"/>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USE THIS IDEA</a:t>
            </a:r>
          </a:p>
        </p:txBody>
      </p:sp>
      <p:sp>
        <p:nvSpPr>
          <p:cNvPr id="11" name="application-copy">
            <a:extLst xmlns:a="http://schemas.openxmlformats.org/drawingml/2006/main">
              <a:ext uri="{FF2B5EF4-FFF2-40B4-BE49-F238E27FC236}">
                <a16:creationId xmlns:a16="http://schemas.microsoft.com/office/drawing/2014/main" id="{9AFA1930-4923-4F01-A227-6A5C6F4705CF}"/>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Select two criteria from the current bag brief. Gather a different form of evidence for each, write the criterion–observation–reasoning–judgement chain and add a captioned image or sample that makes the evidence understandable.</a:t>
            </a:r>
          </a:p>
        </p:txBody>
      </p:sp>
      <p:sp>
        <p:nvSpPr>
          <p:cNvPr id="12" name="footer-module-5">
            <a:extLst xmlns:a="http://schemas.openxmlformats.org/drawingml/2006/main">
              <a:ext uri="{FF2B5EF4-FFF2-40B4-BE49-F238E27FC236}">
                <a16:creationId xmlns:a16="http://schemas.microsoft.com/office/drawing/2014/main" id="{5A35E474-D0D4-4B7E-AE96-4D6BB0396CE4}"/>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04 · YEAR 8 TEXTILES TECHNOLOGY</a:t>
            </a:r>
          </a:p>
        </p:txBody>
      </p:sp>
      <p:sp>
        <p:nvSpPr>
          <p:cNvPr id="13" name="footer-number-5">
            <a:extLst xmlns:a="http://schemas.openxmlformats.org/drawingml/2006/main">
              <a:ext uri="{FF2B5EF4-FFF2-40B4-BE49-F238E27FC236}">
                <a16:creationId xmlns:a16="http://schemas.microsoft.com/office/drawing/2014/main" id="{4F84EDF2-ECC5-4D72-A12D-1E18CDCC51D8}"/>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05</a:t>
            </a:r>
          </a:p>
        </p:txBody>
      </p:sp>
    </p:spTree>
    <p:extLst>
      <p:ext uri="{BB962C8B-B14F-4D97-AF65-F5344CB8AC3E}">
        <p14:creationId xmlns:p14="http://schemas.microsoft.com/office/powerpoint/2010/main" val="1121767297"/>
      </p:ext>
    </p:extLst>
  </p:cSld>
</p:sld>
</file>

<file path=ppt/slides/slide6.xml><?xml version="1.0" encoding="utf-8"?>
<p:sld xmlns:p="http://schemas.openxmlformats.org/presentationml/2006/main">
  <p:cSld>
    <p:bg>
      <p:bgPr>
        <a:solidFill xmlns:a="http://schemas.openxmlformats.org/drawingml/2006/main">
          <a:srgbClr val="721735"/>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1BE76B3A-CDE6-46E6-B336-C351584AD043}"/>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Stop. Think. Explain.</a:t>
            </a:r>
          </a:p>
        </p:txBody>
      </p:sp>
      <p:sp>
        <p:nvSpPr>
          <p:cNvPr id="2" name="retrieval-instruction">
            <a:extLst xmlns:a="http://schemas.openxmlformats.org/drawingml/2006/main">
              <a:ext uri="{FF2B5EF4-FFF2-40B4-BE49-F238E27FC236}">
                <a16:creationId xmlns:a16="http://schemas.microsoft.com/office/drawing/2014/main" id="{AD375CD5-57EF-4A1A-BB76-6BD45DB250E6}"/>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3DCE5"/>
                </a:solidFill>
              </a:defRPr>
            </a:pPr>
            <a:r>
              <a:rPr sz="1500" b="0">
                <a:solidFill>
                  <a:srgbClr val="F3DCE5"/>
                </a:solidFill>
              </a:rPr>
              <a:t>Correct or improve each claim, then support your answer with evidence from the module.</a:t>
            </a:r>
          </a:p>
        </p:txBody>
      </p:sp>
      <p:sp>
        <p:nvSpPr>
          <p:cNvPr id="3" name="retrieval-number-bg-1">
            <a:extLst xmlns:a="http://schemas.openxmlformats.org/drawingml/2006/main">
              <a:ext uri="{FF2B5EF4-FFF2-40B4-BE49-F238E27FC236}">
                <a16:creationId xmlns:a16="http://schemas.microsoft.com/office/drawing/2014/main" id="{CD5F8768-5139-4DC9-A53C-8F09FBC18B13}"/>
              </a:ext>
            </a:extLst>
          </p:cNvPr>
          <p:cNvSpPr>
            <a:spLocks xmlns:a="http://schemas.openxmlformats.org/drawingml/2006/main" noGrp="1"/>
          </p:cNvSpPr>
          <p:nvPr/>
        </p:nvSpPr>
        <p:spPr>
          <a:xfrm xmlns:a="http://schemas.openxmlformats.org/drawingml/2006/main">
            <a:off x="685800" y="192405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4" name="retrieval-number-1">
            <a:extLst xmlns:a="http://schemas.openxmlformats.org/drawingml/2006/main">
              <a:ext uri="{FF2B5EF4-FFF2-40B4-BE49-F238E27FC236}">
                <a16:creationId xmlns:a16="http://schemas.microsoft.com/office/drawing/2014/main" id="{51FD0160-7627-4BF0-93A1-811A7FA5E516}"/>
              </a:ext>
            </a:extLst>
          </p:cNvPr>
          <p:cNvSpPr>
            <a:spLocks xmlns:a="http://schemas.openxmlformats.org/drawingml/2006/main" noGrp="1"/>
          </p:cNvSpPr>
          <p:nvPr/>
        </p:nvSpPr>
        <p:spPr>
          <a:xfrm xmlns:a="http://schemas.openxmlformats.org/drawingml/2006/main">
            <a:off x="685800" y="20097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1</a:t>
            </a:r>
          </a:p>
        </p:txBody>
      </p:sp>
      <p:sp>
        <p:nvSpPr>
          <p:cNvPr id="5" name="retrieval-question-1">
            <a:extLst xmlns:a="http://schemas.openxmlformats.org/drawingml/2006/main">
              <a:ext uri="{FF2B5EF4-FFF2-40B4-BE49-F238E27FC236}">
                <a16:creationId xmlns:a16="http://schemas.microsoft.com/office/drawing/2014/main" id="{854A42E2-7EF8-4850-A735-F0EB6C422531}"/>
              </a:ext>
            </a:extLst>
          </p:cNvPr>
          <p:cNvSpPr>
            <a:spLocks xmlns:a="http://schemas.openxmlformats.org/drawingml/2006/main" noGrp="1"/>
          </p:cNvSpPr>
          <p:nvPr/>
        </p:nvSpPr>
        <p:spPr>
          <a:xfrm xmlns:a="http://schemas.openxmlformats.org/drawingml/2006/main">
            <a:off x="1428750" y="194310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“The user will probably want the same features I want.”</a:t>
            </a:r>
          </a:p>
        </p:txBody>
      </p:sp>
      <p:sp>
        <p:nvSpPr>
          <p:cNvPr id="6" name="retrieval-rule-1">
            <a:extLst xmlns:a="http://schemas.openxmlformats.org/drawingml/2006/main">
              <a:ext uri="{FF2B5EF4-FFF2-40B4-BE49-F238E27FC236}">
                <a16:creationId xmlns:a16="http://schemas.microsoft.com/office/drawing/2014/main" id="{162CD72C-036E-4A98-812B-8284E7767AE1}"/>
              </a:ext>
            </a:extLst>
          </p:cNvPr>
          <p:cNvSpPr>
            <a:spLocks xmlns:a="http://schemas.openxmlformats.org/drawingml/2006/main" noGrp="1"/>
          </p:cNvSpPr>
          <p:nvPr/>
        </p:nvSpPr>
        <p:spPr>
          <a:xfrm xmlns:a="http://schemas.openxmlformats.org/drawingml/2006/main">
            <a:off x="1428750" y="265747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7" name="retrieval-number-bg-2">
            <a:extLst xmlns:a="http://schemas.openxmlformats.org/drawingml/2006/main">
              <a:ext uri="{FF2B5EF4-FFF2-40B4-BE49-F238E27FC236}">
                <a16:creationId xmlns:a16="http://schemas.microsoft.com/office/drawing/2014/main" id="{7F799F6B-3A28-4DE3-9599-0447EB51B03B}"/>
              </a:ext>
            </a:extLst>
          </p:cNvPr>
          <p:cNvSpPr>
            <a:spLocks xmlns:a="http://schemas.openxmlformats.org/drawingml/2006/main" noGrp="1"/>
          </p:cNvSpPr>
          <p:nvPr/>
        </p:nvSpPr>
        <p:spPr>
          <a:xfrm xmlns:a="http://schemas.openxmlformats.org/drawingml/2006/main">
            <a:off x="685800" y="2924175"/>
            <a:ext cx="457200" cy="45720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8" name="retrieval-number-2">
            <a:extLst xmlns:a="http://schemas.openxmlformats.org/drawingml/2006/main">
              <a:ext uri="{FF2B5EF4-FFF2-40B4-BE49-F238E27FC236}">
                <a16:creationId xmlns:a16="http://schemas.microsoft.com/office/drawing/2014/main" id="{55EB1183-96DD-4F5B-B0C0-C13CEF9D0926}"/>
              </a:ext>
            </a:extLst>
          </p:cNvPr>
          <p:cNvSpPr>
            <a:spLocks xmlns:a="http://schemas.openxmlformats.org/drawingml/2006/main" noGrp="1"/>
          </p:cNvSpPr>
          <p:nvPr/>
        </p:nvSpPr>
        <p:spPr>
          <a:xfrm xmlns:a="http://schemas.openxmlformats.org/drawingml/2006/main">
            <a:off x="685800" y="30099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2</a:t>
            </a:r>
          </a:p>
        </p:txBody>
      </p:sp>
      <p:sp>
        <p:nvSpPr>
          <p:cNvPr id="9" name="retrieval-question-2">
            <a:extLst xmlns:a="http://schemas.openxmlformats.org/drawingml/2006/main">
              <a:ext uri="{FF2B5EF4-FFF2-40B4-BE49-F238E27FC236}">
                <a16:creationId xmlns:a16="http://schemas.microsoft.com/office/drawing/2014/main" id="{5313F55D-2440-402D-9509-C35887311E89}"/>
              </a:ext>
            </a:extLst>
          </p:cNvPr>
          <p:cNvSpPr>
            <a:spLocks xmlns:a="http://schemas.openxmlformats.org/drawingml/2006/main" noGrp="1"/>
          </p:cNvSpPr>
          <p:nvPr/>
        </p:nvSpPr>
        <p:spPr>
          <a:xfrm xmlns:a="http://schemas.openxmlformats.org/drawingml/2006/main">
            <a:off x="1428750" y="294322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“Instructions can be followed one line at a time without reading ahead.”</a:t>
            </a:r>
          </a:p>
        </p:txBody>
      </p:sp>
      <p:sp>
        <p:nvSpPr>
          <p:cNvPr id="10" name="retrieval-rule-2">
            <a:extLst xmlns:a="http://schemas.openxmlformats.org/drawingml/2006/main">
              <a:ext uri="{FF2B5EF4-FFF2-40B4-BE49-F238E27FC236}">
                <a16:creationId xmlns:a16="http://schemas.microsoft.com/office/drawing/2014/main" id="{C73E2767-A6F8-409C-8D22-4B986B22FB23}"/>
              </a:ext>
            </a:extLst>
          </p:cNvPr>
          <p:cNvSpPr>
            <a:spLocks xmlns:a="http://schemas.openxmlformats.org/drawingml/2006/main" noGrp="1"/>
          </p:cNvSpPr>
          <p:nvPr/>
        </p:nvSpPr>
        <p:spPr>
          <a:xfrm xmlns:a="http://schemas.openxmlformats.org/drawingml/2006/main">
            <a:off x="1428750" y="3657600"/>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1" name="retrieval-number-bg-3">
            <a:extLst xmlns:a="http://schemas.openxmlformats.org/drawingml/2006/main">
              <a:ext uri="{FF2B5EF4-FFF2-40B4-BE49-F238E27FC236}">
                <a16:creationId xmlns:a16="http://schemas.microsoft.com/office/drawing/2014/main" id="{0D99DD02-7684-4F2B-A78C-84D5F9AE3CF1}"/>
              </a:ext>
            </a:extLst>
          </p:cNvPr>
          <p:cNvSpPr>
            <a:spLocks xmlns:a="http://schemas.openxmlformats.org/drawingml/2006/main" noGrp="1"/>
          </p:cNvSpPr>
          <p:nvPr/>
        </p:nvSpPr>
        <p:spPr>
          <a:xfrm xmlns:a="http://schemas.openxmlformats.org/drawingml/2006/main">
            <a:off x="685800" y="392430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retrieval-number-3">
            <a:extLst xmlns:a="http://schemas.openxmlformats.org/drawingml/2006/main">
              <a:ext uri="{FF2B5EF4-FFF2-40B4-BE49-F238E27FC236}">
                <a16:creationId xmlns:a16="http://schemas.microsoft.com/office/drawing/2014/main" id="{D42E8AB1-8D99-48A8-99C3-97C747CC106F}"/>
              </a:ext>
            </a:extLst>
          </p:cNvPr>
          <p:cNvSpPr>
            <a:spLocks xmlns:a="http://schemas.openxmlformats.org/drawingml/2006/main" noGrp="1"/>
          </p:cNvSpPr>
          <p:nvPr/>
        </p:nvSpPr>
        <p:spPr>
          <a:xfrm xmlns:a="http://schemas.openxmlformats.org/drawingml/2006/main">
            <a:off x="685800" y="4010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3</a:t>
            </a:r>
          </a:p>
        </p:txBody>
      </p:sp>
      <p:sp>
        <p:nvSpPr>
          <p:cNvPr id="13" name="retrieval-question-3">
            <a:extLst xmlns:a="http://schemas.openxmlformats.org/drawingml/2006/main">
              <a:ext uri="{FF2B5EF4-FFF2-40B4-BE49-F238E27FC236}">
                <a16:creationId xmlns:a16="http://schemas.microsoft.com/office/drawing/2014/main" id="{544CA703-7215-47DA-A2E6-F4A925FDD96E}"/>
              </a:ext>
            </a:extLst>
          </p:cNvPr>
          <p:cNvSpPr>
            <a:spLocks xmlns:a="http://schemas.openxmlformats.org/drawingml/2006/main" noGrp="1"/>
          </p:cNvSpPr>
          <p:nvPr/>
        </p:nvSpPr>
        <p:spPr>
          <a:xfrm xmlns:a="http://schemas.openxmlformats.org/drawingml/2006/main">
            <a:off x="1428750" y="394335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“Quality means the product has no visible mistakes.”</a:t>
            </a:r>
          </a:p>
        </p:txBody>
      </p:sp>
      <p:sp>
        <p:nvSpPr>
          <p:cNvPr id="14" name="retrieval-rule-3">
            <a:extLst xmlns:a="http://schemas.openxmlformats.org/drawingml/2006/main">
              <a:ext uri="{FF2B5EF4-FFF2-40B4-BE49-F238E27FC236}">
                <a16:creationId xmlns:a16="http://schemas.microsoft.com/office/drawing/2014/main" id="{F36AAFE6-5889-464B-9FE6-1A25F8E93D04}"/>
              </a:ext>
            </a:extLst>
          </p:cNvPr>
          <p:cNvSpPr>
            <a:spLocks xmlns:a="http://schemas.openxmlformats.org/drawingml/2006/main" noGrp="1"/>
          </p:cNvSpPr>
          <p:nvPr/>
        </p:nvSpPr>
        <p:spPr>
          <a:xfrm xmlns:a="http://schemas.openxmlformats.org/drawingml/2006/main">
            <a:off x="1428750" y="465772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5" name="retrieval-number-bg-4">
            <a:extLst xmlns:a="http://schemas.openxmlformats.org/drawingml/2006/main">
              <a:ext uri="{FF2B5EF4-FFF2-40B4-BE49-F238E27FC236}">
                <a16:creationId xmlns:a16="http://schemas.microsoft.com/office/drawing/2014/main" id="{9A8E577B-5F3F-4D4D-91B3-F3A327A91000}"/>
              </a:ext>
            </a:extLst>
          </p:cNvPr>
          <p:cNvSpPr>
            <a:spLocks xmlns:a="http://schemas.openxmlformats.org/drawingml/2006/main" noGrp="1"/>
          </p:cNvSpPr>
          <p:nvPr/>
        </p:nvSpPr>
        <p:spPr>
          <a:xfrm xmlns:a="http://schemas.openxmlformats.org/drawingml/2006/main">
            <a:off x="685800" y="4924425"/>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6" name="retrieval-number-4">
            <a:extLst xmlns:a="http://schemas.openxmlformats.org/drawingml/2006/main">
              <a:ext uri="{FF2B5EF4-FFF2-40B4-BE49-F238E27FC236}">
                <a16:creationId xmlns:a16="http://schemas.microsoft.com/office/drawing/2014/main" id="{F75E73FA-AA48-4A69-8A29-E976AA65C6E2}"/>
              </a:ext>
            </a:extLst>
          </p:cNvPr>
          <p:cNvSpPr>
            <a:spLocks xmlns:a="http://schemas.openxmlformats.org/drawingml/2006/main" noGrp="1"/>
          </p:cNvSpPr>
          <p:nvPr/>
        </p:nvSpPr>
        <p:spPr>
          <a:xfrm xmlns:a="http://schemas.openxmlformats.org/drawingml/2006/main">
            <a:off x="685800" y="50101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4</a:t>
            </a:r>
          </a:p>
        </p:txBody>
      </p:sp>
      <p:sp>
        <p:nvSpPr>
          <p:cNvPr id="17" name="retrieval-question-4">
            <a:extLst xmlns:a="http://schemas.openxmlformats.org/drawingml/2006/main">
              <a:ext uri="{FF2B5EF4-FFF2-40B4-BE49-F238E27FC236}">
                <a16:creationId xmlns:a16="http://schemas.microsoft.com/office/drawing/2014/main" id="{0D73127D-7DD1-4F97-9DAF-360EE193B608}"/>
              </a:ext>
            </a:extLst>
          </p:cNvPr>
          <p:cNvSpPr>
            <a:spLocks xmlns:a="http://schemas.openxmlformats.org/drawingml/2006/main" noGrp="1"/>
          </p:cNvSpPr>
          <p:nvPr/>
        </p:nvSpPr>
        <p:spPr>
          <a:xfrm xmlns:a="http://schemas.openxmlformats.org/drawingml/2006/main">
            <a:off x="1428750" y="494347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two ideas: how could one change a decision made with the other?</a:t>
            </a:r>
          </a:p>
        </p:txBody>
      </p:sp>
      <p:sp>
        <p:nvSpPr>
          <p:cNvPr id="18" name="footer-module-6">
            <a:extLst xmlns:a="http://schemas.openxmlformats.org/drawingml/2006/main">
              <a:ext uri="{FF2B5EF4-FFF2-40B4-BE49-F238E27FC236}">
                <a16:creationId xmlns:a16="http://schemas.microsoft.com/office/drawing/2014/main" id="{FA83E5CB-C5E8-4AAA-A37A-7780F640F3B4}"/>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04 · YEAR 8 TEXTILES TECHNOLOGY</a:t>
            </a:r>
          </a:p>
        </p:txBody>
      </p:sp>
      <p:sp>
        <p:nvSpPr>
          <p:cNvPr id="19" name="footer-number-6">
            <a:extLst xmlns:a="http://schemas.openxmlformats.org/drawingml/2006/main">
              <a:ext uri="{FF2B5EF4-FFF2-40B4-BE49-F238E27FC236}">
                <a16:creationId xmlns:a16="http://schemas.microsoft.com/office/drawing/2014/main" id="{B3C46FEA-5B80-43D9-930E-33C21A0C77D2}"/>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06</a:t>
            </a:r>
          </a:p>
        </p:txBody>
      </p:sp>
    </p:spTree>
    <p:extLst>
      <p:ext uri="{BB962C8B-B14F-4D97-AF65-F5344CB8AC3E}">
        <p14:creationId xmlns:p14="http://schemas.microsoft.com/office/powerpoint/2010/main" val="860274318"/>
      </p:ext>
    </p:extLst>
  </p:cSld>
</p:sld>
</file>

<file path=ppt/slides/slide7.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24" name="top-accent">
            <a:extLst xmlns:a="http://schemas.openxmlformats.org/drawingml/2006/main">
              <a:ext uri="{FF2B5EF4-FFF2-40B4-BE49-F238E27FC236}">
                <a16:creationId xmlns:a16="http://schemas.microsoft.com/office/drawing/2014/main" id="{1CDFEA27-21EF-4E45-A1B8-5C0BCA7FC97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D6A238"/>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49861E3D-3761-482B-803E-D0D61789E772}"/>
              </a:ext>
            </a:extLst>
          </p:cNvPr>
          <p:cNvSpPr>
            <a:spLocks xmlns:a="http://schemas.openxmlformats.org/drawingml/2006/main" noGrp="1"/>
          </p:cNvSpPr>
          <p:nvPr/>
        </p:nvSpPr>
        <p:spPr>
          <a:xfrm xmlns:a="http://schemas.openxmlformats.org/drawingml/2006/main">
            <a:off x="609600" y="495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Read → Select → Explain → Check</a:t>
            </a:r>
          </a:p>
        </p:txBody>
      </p:sp>
      <p:sp>
        <p:nvSpPr>
          <p:cNvPr id="3" name="guided-question">
            <a:extLst xmlns:a="http://schemas.openxmlformats.org/drawingml/2006/main">
              <a:ext uri="{FF2B5EF4-FFF2-40B4-BE49-F238E27FC236}">
                <a16:creationId xmlns:a16="http://schemas.microsoft.com/office/drawing/2014/main" id="{82FE7B26-EB77-4B14-9294-A6BB38B3ADB4}"/>
              </a:ext>
            </a:extLst>
          </p:cNvPr>
          <p:cNvSpPr>
            <a:spLocks xmlns:a="http://schemas.openxmlformats.org/drawingml/2006/main" noGrp="1"/>
          </p:cNvSpPr>
          <p:nvPr/>
        </p:nvSpPr>
        <p:spPr>
          <a:xfrm xmlns:a="http://schemas.openxmlformats.org/drawingml/2006/main">
            <a:off x="609600" y="12001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C5357"/>
                </a:solidFill>
              </a:defRPr>
            </a:pPr>
            <a:r>
              <a:rPr sz="1500" b="0">
                <a:solidFill>
                  <a:srgbClr val="5C5357"/>
                </a:solidFill>
              </a:rPr>
              <a:t>Evaluate two sewing-bag criteria with different evidence types, explaining any limitation or trade-off and one justified improvement.</a:t>
            </a:r>
          </a:p>
        </p:txBody>
      </p:sp>
      <p:sp>
        <p:nvSpPr>
          <p:cNvPr id="4" name="response-number-1">
            <a:extLst xmlns:a="http://schemas.openxmlformats.org/drawingml/2006/main">
              <a:ext uri="{FF2B5EF4-FFF2-40B4-BE49-F238E27FC236}">
                <a16:creationId xmlns:a16="http://schemas.microsoft.com/office/drawing/2014/main" id="{DBE9ABAE-44EE-4CF8-A75E-4FF569DF0445}"/>
              </a:ext>
            </a:extLst>
          </p:cNvPr>
          <p:cNvSpPr>
            <a:spLocks xmlns:a="http://schemas.openxmlformats.org/drawingml/2006/main" noGrp="1"/>
          </p:cNvSpPr>
          <p:nvPr/>
        </p:nvSpPr>
        <p:spPr>
          <a:xfrm xmlns:a="http://schemas.openxmlformats.org/drawingml/2006/main">
            <a:off x="6096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21735"/>
                </a:solidFill>
              </a:defRPr>
            </a:pPr>
            <a:r>
              <a:rPr sz="2700" b="1">
                <a:solidFill>
                  <a:srgbClr val="721735"/>
                </a:solidFill>
              </a:rPr>
              <a:t>1</a:t>
            </a:r>
          </a:p>
        </p:txBody>
      </p:sp>
      <p:sp>
        <p:nvSpPr>
          <p:cNvPr id="5" name="response-label-1">
            <a:extLst xmlns:a="http://schemas.openxmlformats.org/drawingml/2006/main">
              <a:ext uri="{FF2B5EF4-FFF2-40B4-BE49-F238E27FC236}">
                <a16:creationId xmlns:a16="http://schemas.microsoft.com/office/drawing/2014/main" id="{6B0C4E55-B75B-425D-B943-7AD005C8FBD2}"/>
              </a:ext>
            </a:extLst>
          </p:cNvPr>
          <p:cNvSpPr>
            <a:spLocks xmlns:a="http://schemas.openxmlformats.org/drawingml/2006/main" noGrp="1"/>
          </p:cNvSpPr>
          <p:nvPr/>
        </p:nvSpPr>
        <p:spPr>
          <a:xfrm xmlns:a="http://schemas.openxmlformats.org/drawingml/2006/main">
            <a:off x="6096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21735"/>
                </a:solidFill>
              </a:defRPr>
            </a:pPr>
            <a:r>
              <a:rPr sz="1650" b="1">
                <a:solidFill>
                  <a:srgbClr val="721735"/>
                </a:solidFill>
              </a:rPr>
              <a:t>READ</a:t>
            </a:r>
          </a:p>
        </p:txBody>
      </p:sp>
      <p:sp>
        <p:nvSpPr>
          <p:cNvPr id="6" name="response-step-1">
            <a:extLst xmlns:a="http://schemas.openxmlformats.org/drawingml/2006/main">
              <a:ext uri="{FF2B5EF4-FFF2-40B4-BE49-F238E27FC236}">
                <a16:creationId xmlns:a16="http://schemas.microsoft.com/office/drawing/2014/main" id="{CA19F337-DAB9-4756-AE73-2CAC2EE01ED1}"/>
              </a:ext>
            </a:extLst>
          </p:cNvPr>
          <p:cNvSpPr>
            <a:spLocks xmlns:a="http://schemas.openxmlformats.org/drawingml/2006/main" noGrp="1"/>
          </p:cNvSpPr>
          <p:nvPr/>
        </p:nvSpPr>
        <p:spPr>
          <a:xfrm xmlns:a="http://schemas.openxmlformats.org/drawingml/2006/main">
            <a:off x="6096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Underline the task word and the exact context.</a:t>
            </a:r>
          </a:p>
        </p:txBody>
      </p:sp>
      <p:sp>
        <p:nvSpPr>
          <p:cNvPr id="7" name="response-arrow-1">
            <a:extLst xmlns:a="http://schemas.openxmlformats.org/drawingml/2006/main">
              <a:ext uri="{FF2B5EF4-FFF2-40B4-BE49-F238E27FC236}">
                <a16:creationId xmlns:a16="http://schemas.microsoft.com/office/drawing/2014/main" id="{6E159871-171B-4F8A-9689-36AA8DCC4464}"/>
              </a:ext>
            </a:extLst>
          </p:cNvPr>
          <p:cNvSpPr>
            <a:spLocks xmlns:a="http://schemas.openxmlformats.org/drawingml/2006/main" noGrp="1"/>
          </p:cNvSpPr>
          <p:nvPr/>
        </p:nvSpPr>
        <p:spPr>
          <a:xfrm xmlns:a="http://schemas.openxmlformats.org/drawingml/2006/main">
            <a:off x="29432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8" name="response-number-2">
            <a:extLst xmlns:a="http://schemas.openxmlformats.org/drawingml/2006/main">
              <a:ext uri="{FF2B5EF4-FFF2-40B4-BE49-F238E27FC236}">
                <a16:creationId xmlns:a16="http://schemas.microsoft.com/office/drawing/2014/main" id="{E79B4441-39EB-4B72-A601-E35A922DBE30}"/>
              </a:ext>
            </a:extLst>
          </p:cNvPr>
          <p:cNvSpPr>
            <a:spLocks xmlns:a="http://schemas.openxmlformats.org/drawingml/2006/main" noGrp="1"/>
          </p:cNvSpPr>
          <p:nvPr/>
        </p:nvSpPr>
        <p:spPr>
          <a:xfrm xmlns:a="http://schemas.openxmlformats.org/drawingml/2006/main">
            <a:off x="33337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AC2254"/>
                </a:solidFill>
              </a:defRPr>
            </a:pPr>
            <a:r>
              <a:rPr sz="2700" b="1">
                <a:solidFill>
                  <a:srgbClr val="AC2254"/>
                </a:solidFill>
              </a:rPr>
              <a:t>2</a:t>
            </a:r>
          </a:p>
        </p:txBody>
      </p:sp>
      <p:sp>
        <p:nvSpPr>
          <p:cNvPr id="9" name="response-label-2">
            <a:extLst xmlns:a="http://schemas.openxmlformats.org/drawingml/2006/main">
              <a:ext uri="{FF2B5EF4-FFF2-40B4-BE49-F238E27FC236}">
                <a16:creationId xmlns:a16="http://schemas.microsoft.com/office/drawing/2014/main" id="{E9E0A3FE-EBB5-4BBE-8C35-D62836CEEB6A}"/>
              </a:ext>
            </a:extLst>
          </p:cNvPr>
          <p:cNvSpPr>
            <a:spLocks xmlns:a="http://schemas.openxmlformats.org/drawingml/2006/main" noGrp="1"/>
          </p:cNvSpPr>
          <p:nvPr/>
        </p:nvSpPr>
        <p:spPr>
          <a:xfrm xmlns:a="http://schemas.openxmlformats.org/drawingml/2006/main">
            <a:off x="33337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AC2254"/>
                </a:solidFill>
              </a:defRPr>
            </a:pPr>
            <a:r>
              <a:rPr sz="1650" b="1">
                <a:solidFill>
                  <a:srgbClr val="AC2254"/>
                </a:solidFill>
              </a:rPr>
              <a:t>SELECT</a:t>
            </a:r>
          </a:p>
        </p:txBody>
      </p:sp>
      <p:sp>
        <p:nvSpPr>
          <p:cNvPr id="10" name="response-step-2">
            <a:extLst xmlns:a="http://schemas.openxmlformats.org/drawingml/2006/main">
              <a:ext uri="{FF2B5EF4-FFF2-40B4-BE49-F238E27FC236}">
                <a16:creationId xmlns:a16="http://schemas.microsoft.com/office/drawing/2014/main" id="{560E0F79-5A10-4966-83C7-50A8D4B15E68}"/>
              </a:ext>
            </a:extLst>
          </p:cNvPr>
          <p:cNvSpPr>
            <a:spLocks xmlns:a="http://schemas.openxmlformats.org/drawingml/2006/main" noGrp="1"/>
          </p:cNvSpPr>
          <p:nvPr/>
        </p:nvSpPr>
        <p:spPr>
          <a:xfrm xmlns:a="http://schemas.openxmlformats.org/drawingml/2006/main">
            <a:off x="33337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theory and project evidence that answers it.</a:t>
            </a:r>
          </a:p>
        </p:txBody>
      </p:sp>
      <p:sp>
        <p:nvSpPr>
          <p:cNvPr id="11" name="response-arrow-2">
            <a:extLst xmlns:a="http://schemas.openxmlformats.org/drawingml/2006/main">
              <a:ext uri="{FF2B5EF4-FFF2-40B4-BE49-F238E27FC236}">
                <a16:creationId xmlns:a16="http://schemas.microsoft.com/office/drawing/2014/main" id="{697A75AA-274F-490F-AB0D-63A66ED61C8E}"/>
              </a:ext>
            </a:extLst>
          </p:cNvPr>
          <p:cNvSpPr>
            <a:spLocks xmlns:a="http://schemas.openxmlformats.org/drawingml/2006/main" noGrp="1"/>
          </p:cNvSpPr>
          <p:nvPr/>
        </p:nvSpPr>
        <p:spPr>
          <a:xfrm xmlns:a="http://schemas.openxmlformats.org/drawingml/2006/main">
            <a:off x="566737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2" name="response-number-3">
            <a:extLst xmlns:a="http://schemas.openxmlformats.org/drawingml/2006/main">
              <a:ext uri="{FF2B5EF4-FFF2-40B4-BE49-F238E27FC236}">
                <a16:creationId xmlns:a16="http://schemas.microsoft.com/office/drawing/2014/main" id="{836E6EA6-B988-41C7-9EED-8CDC9A61D384}"/>
              </a:ext>
            </a:extLst>
          </p:cNvPr>
          <p:cNvSpPr>
            <a:spLocks xmlns:a="http://schemas.openxmlformats.org/drawingml/2006/main" noGrp="1"/>
          </p:cNvSpPr>
          <p:nvPr/>
        </p:nvSpPr>
        <p:spPr>
          <a:xfrm xmlns:a="http://schemas.openxmlformats.org/drawingml/2006/main">
            <a:off x="60579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D6A238"/>
                </a:solidFill>
              </a:defRPr>
            </a:pPr>
            <a:r>
              <a:rPr sz="2700" b="1">
                <a:solidFill>
                  <a:srgbClr val="D6A238"/>
                </a:solidFill>
              </a:rPr>
              <a:t>3</a:t>
            </a:r>
          </a:p>
        </p:txBody>
      </p:sp>
      <p:sp>
        <p:nvSpPr>
          <p:cNvPr id="13" name="response-label-3">
            <a:extLst xmlns:a="http://schemas.openxmlformats.org/drawingml/2006/main">
              <a:ext uri="{FF2B5EF4-FFF2-40B4-BE49-F238E27FC236}">
                <a16:creationId xmlns:a16="http://schemas.microsoft.com/office/drawing/2014/main" id="{0780E450-42D2-4691-8781-A072EAF7B6F8}"/>
              </a:ext>
            </a:extLst>
          </p:cNvPr>
          <p:cNvSpPr>
            <a:spLocks xmlns:a="http://schemas.openxmlformats.org/drawingml/2006/main" noGrp="1"/>
          </p:cNvSpPr>
          <p:nvPr/>
        </p:nvSpPr>
        <p:spPr>
          <a:xfrm xmlns:a="http://schemas.openxmlformats.org/drawingml/2006/main">
            <a:off x="60579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6A238"/>
                </a:solidFill>
              </a:defRPr>
            </a:pPr>
            <a:r>
              <a:rPr sz="1650" b="1">
                <a:solidFill>
                  <a:srgbClr val="D6A238"/>
                </a:solidFill>
              </a:rPr>
              <a:t>EXPLAIN</a:t>
            </a:r>
          </a:p>
        </p:txBody>
      </p:sp>
      <p:sp>
        <p:nvSpPr>
          <p:cNvPr id="14" name="response-step-3">
            <a:extLst xmlns:a="http://schemas.openxmlformats.org/drawingml/2006/main">
              <a:ext uri="{FF2B5EF4-FFF2-40B4-BE49-F238E27FC236}">
                <a16:creationId xmlns:a16="http://schemas.microsoft.com/office/drawing/2014/main" id="{12E95722-FD65-4CA0-A195-C67673DF5975}"/>
              </a:ext>
            </a:extLst>
          </p:cNvPr>
          <p:cNvSpPr>
            <a:spLocks xmlns:a="http://schemas.openxmlformats.org/drawingml/2006/main" noGrp="1"/>
          </p:cNvSpPr>
          <p:nvPr/>
        </p:nvSpPr>
        <p:spPr>
          <a:xfrm xmlns:a="http://schemas.openxmlformats.org/drawingml/2006/main">
            <a:off x="60579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Connect the evidence to a reason, effect or judgement.</a:t>
            </a:r>
          </a:p>
        </p:txBody>
      </p:sp>
      <p:sp>
        <p:nvSpPr>
          <p:cNvPr id="15" name="response-arrow-3">
            <a:extLst xmlns:a="http://schemas.openxmlformats.org/drawingml/2006/main">
              <a:ext uri="{FF2B5EF4-FFF2-40B4-BE49-F238E27FC236}">
                <a16:creationId xmlns:a16="http://schemas.microsoft.com/office/drawing/2014/main" id="{12DE2DD6-A477-48B8-87CB-FEFEDD909B39}"/>
              </a:ext>
            </a:extLst>
          </p:cNvPr>
          <p:cNvSpPr>
            <a:spLocks xmlns:a="http://schemas.openxmlformats.org/drawingml/2006/main" noGrp="1"/>
          </p:cNvSpPr>
          <p:nvPr/>
        </p:nvSpPr>
        <p:spPr>
          <a:xfrm xmlns:a="http://schemas.openxmlformats.org/drawingml/2006/main">
            <a:off x="83915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6" name="response-number-4">
            <a:extLst xmlns:a="http://schemas.openxmlformats.org/drawingml/2006/main">
              <a:ext uri="{FF2B5EF4-FFF2-40B4-BE49-F238E27FC236}">
                <a16:creationId xmlns:a16="http://schemas.microsoft.com/office/drawing/2014/main" id="{8B9220F6-899F-4E5C-98F0-DBBC8BA686A4}"/>
              </a:ext>
            </a:extLst>
          </p:cNvPr>
          <p:cNvSpPr>
            <a:spLocks xmlns:a="http://schemas.openxmlformats.org/drawingml/2006/main" noGrp="1"/>
          </p:cNvSpPr>
          <p:nvPr/>
        </p:nvSpPr>
        <p:spPr>
          <a:xfrm xmlns:a="http://schemas.openxmlformats.org/drawingml/2006/main">
            <a:off x="87820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226A61"/>
                </a:solidFill>
              </a:defRPr>
            </a:pPr>
            <a:r>
              <a:rPr sz="2700" b="1">
                <a:solidFill>
                  <a:srgbClr val="226A61"/>
                </a:solidFill>
              </a:rPr>
              <a:t>4</a:t>
            </a:r>
          </a:p>
        </p:txBody>
      </p:sp>
      <p:sp>
        <p:nvSpPr>
          <p:cNvPr id="17" name="response-label-4">
            <a:extLst xmlns:a="http://schemas.openxmlformats.org/drawingml/2006/main">
              <a:ext uri="{FF2B5EF4-FFF2-40B4-BE49-F238E27FC236}">
                <a16:creationId xmlns:a16="http://schemas.microsoft.com/office/drawing/2014/main" id="{7F90AAD9-E02F-4D5B-9768-34ACB0219CBB}"/>
              </a:ext>
            </a:extLst>
          </p:cNvPr>
          <p:cNvSpPr>
            <a:spLocks xmlns:a="http://schemas.openxmlformats.org/drawingml/2006/main" noGrp="1"/>
          </p:cNvSpPr>
          <p:nvPr/>
        </p:nvSpPr>
        <p:spPr>
          <a:xfrm xmlns:a="http://schemas.openxmlformats.org/drawingml/2006/main">
            <a:off x="87820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26A61"/>
                </a:solidFill>
              </a:defRPr>
            </a:pPr>
            <a:r>
              <a:rPr sz="1650" b="1">
                <a:solidFill>
                  <a:srgbClr val="226A61"/>
                </a:solidFill>
              </a:rPr>
              <a:t>CHECK</a:t>
            </a:r>
          </a:p>
        </p:txBody>
      </p:sp>
      <p:sp>
        <p:nvSpPr>
          <p:cNvPr id="18" name="response-step-4">
            <a:extLst xmlns:a="http://schemas.openxmlformats.org/drawingml/2006/main">
              <a:ext uri="{FF2B5EF4-FFF2-40B4-BE49-F238E27FC236}">
                <a16:creationId xmlns:a16="http://schemas.microsoft.com/office/drawing/2014/main" id="{DCA58819-02C1-4ACB-95F3-0D5B8A7B081F}"/>
              </a:ext>
            </a:extLst>
          </p:cNvPr>
          <p:cNvSpPr>
            <a:spLocks xmlns:a="http://schemas.openxmlformats.org/drawingml/2006/main" noGrp="1"/>
          </p:cNvSpPr>
          <p:nvPr/>
        </p:nvSpPr>
        <p:spPr>
          <a:xfrm xmlns:a="http://schemas.openxmlformats.org/drawingml/2006/main">
            <a:off x="87820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Compare the response with the two success criteria.</a:t>
            </a:r>
          </a:p>
        </p:txBody>
      </p:sp>
      <p:sp>
        <p:nvSpPr>
          <p:cNvPr id="19" name="sentence-support">
            <a:extLst xmlns:a="http://schemas.openxmlformats.org/drawingml/2006/main">
              <a:ext uri="{FF2B5EF4-FFF2-40B4-BE49-F238E27FC236}">
                <a16:creationId xmlns:a16="http://schemas.microsoft.com/office/drawing/2014/main" id="{50AA7055-5FD2-408E-9B13-D1B358586DE5}"/>
              </a:ext>
            </a:extLst>
          </p:cNvPr>
          <p:cNvSpPr>
            <a:spLocks xmlns:a="http://schemas.openxmlformats.org/drawingml/2006/main" noGrp="1"/>
          </p:cNvSpPr>
          <p:nvPr/>
        </p:nvSpPr>
        <p:spPr>
          <a:xfrm xmlns:a="http://schemas.openxmlformats.org/drawingml/2006/main">
            <a:off x="609600" y="4895850"/>
            <a:ext cx="10972800" cy="1123950"/>
          </a:xfrm>
          <a:prstGeom xmlns:a="http://schemas.openxmlformats.org/drawingml/2006/main" prst="roundRect">
            <a:avLst>
              <a:gd name="adj" fmla="val 13559"/>
            </a:avLst>
          </a:prstGeom>
          <a:solidFill xmlns:a="http://schemas.openxmlformats.org/drawingml/2006/main">
            <a:srgbClr val="721735"/>
          </a:solidFill>
          <a:ln xmlns:a="http://schemas.openxmlformats.org/drawingml/2006/main" w="0">
            <a:noFill/>
            <a:prstDash val="solid"/>
          </a:ln>
        </p:spPr>
      </p:sp>
      <p:sp>
        <p:nvSpPr>
          <p:cNvPr id="20" name="sentence-support-label">
            <a:extLst xmlns:a="http://schemas.openxmlformats.org/drawingml/2006/main">
              <a:ext uri="{FF2B5EF4-FFF2-40B4-BE49-F238E27FC236}">
                <a16:creationId xmlns:a16="http://schemas.microsoft.com/office/drawing/2014/main" id="{42F821AB-C479-4D22-85A0-0942EED780E9}"/>
              </a:ext>
            </a:extLst>
          </p:cNvPr>
          <p:cNvSpPr>
            <a:spLocks xmlns:a="http://schemas.openxmlformats.org/drawingml/2006/main" noGrp="1"/>
          </p:cNvSpPr>
          <p:nvPr/>
        </p:nvSpPr>
        <p:spPr>
          <a:xfrm xmlns:a="http://schemas.openxmlformats.org/drawingml/2006/main">
            <a:off x="838200" y="50863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SENTENCE SUPPORT</a:t>
            </a:r>
          </a:p>
        </p:txBody>
      </p:sp>
      <p:sp>
        <p:nvSpPr>
          <p:cNvPr id="21" name="sentence-stem">
            <a:extLst xmlns:a="http://schemas.openxmlformats.org/drawingml/2006/main">
              <a:ext uri="{FF2B5EF4-FFF2-40B4-BE49-F238E27FC236}">
                <a16:creationId xmlns:a16="http://schemas.microsoft.com/office/drawing/2014/main" id="{C077050C-8BEF-45C2-A2B7-468D8EBECEBB}"/>
              </a:ext>
            </a:extLst>
          </p:cNvPr>
          <p:cNvSpPr>
            <a:spLocks xmlns:a="http://schemas.openxmlformats.org/drawingml/2006/main" noGrp="1"/>
          </p:cNvSpPr>
          <p:nvPr/>
        </p:nvSpPr>
        <p:spPr>
          <a:xfrm xmlns:a="http://schemas.openxmlformats.org/drawingml/2006/main">
            <a:off x="838200" y="543877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One decision I would make is ___ because evidence from ___ shows ___. I would check it by ___.</a:t>
            </a:r>
          </a:p>
        </p:txBody>
      </p:sp>
      <p:sp>
        <p:nvSpPr>
          <p:cNvPr id="22" name="footer-module-7">
            <a:extLst xmlns:a="http://schemas.openxmlformats.org/drawingml/2006/main">
              <a:ext uri="{FF2B5EF4-FFF2-40B4-BE49-F238E27FC236}">
                <a16:creationId xmlns:a16="http://schemas.microsoft.com/office/drawing/2014/main" id="{F6FDCDF1-D1B9-4A29-BAC4-5F6AB49578D3}"/>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04 · YEAR 8 TEXTILES TECHNOLOGY</a:t>
            </a:r>
          </a:p>
        </p:txBody>
      </p:sp>
      <p:sp>
        <p:nvSpPr>
          <p:cNvPr id="23" name="footer-number-7">
            <a:extLst xmlns:a="http://schemas.openxmlformats.org/drawingml/2006/main">
              <a:ext uri="{FF2B5EF4-FFF2-40B4-BE49-F238E27FC236}">
                <a16:creationId xmlns:a16="http://schemas.microsoft.com/office/drawing/2014/main" id="{64B12331-69B5-43C4-8361-1E1D59E0CD4F}"/>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07</a:t>
            </a:r>
          </a:p>
        </p:txBody>
      </p:sp>
    </p:spTree>
    <p:extLst>
      <p:ext uri="{BB962C8B-B14F-4D97-AF65-F5344CB8AC3E}">
        <p14:creationId xmlns:p14="http://schemas.microsoft.com/office/powerpoint/2010/main" val="1645716006"/>
      </p:ext>
    </p:extLst>
  </p:cSld>
</p:sld>
</file>

<file path=ppt/slides/slide8.xml><?xml version="1.0" encoding="utf-8"?>
<p:sld xmlns:p="http://schemas.openxmlformats.org/presentationml/2006/main">
  <p:cSld>
    <p:bg>
      <p:bgPr>
        <a:solidFill xmlns:a="http://schemas.openxmlformats.org/drawingml/2006/main">
          <a:srgbClr val="226A61"/>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3A1B2951-528B-428A-8BC9-DB6E7D773C00}"/>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Before you leave…</a:t>
            </a:r>
          </a:p>
        </p:txBody>
      </p:sp>
      <p:sp>
        <p:nvSpPr>
          <p:cNvPr id="2" name="exit-number-1">
            <a:extLst xmlns:a="http://schemas.openxmlformats.org/drawingml/2006/main">
              <a:ext uri="{FF2B5EF4-FFF2-40B4-BE49-F238E27FC236}">
                <a16:creationId xmlns:a16="http://schemas.microsoft.com/office/drawing/2014/main" id="{48F49060-857D-4234-8915-A126DEA7A062}"/>
              </a:ext>
            </a:extLst>
          </p:cNvPr>
          <p:cNvSpPr>
            <a:spLocks xmlns:a="http://schemas.openxmlformats.org/drawingml/2006/main" noGrp="1"/>
          </p:cNvSpPr>
          <p:nvPr/>
        </p:nvSpPr>
        <p:spPr>
          <a:xfrm xmlns:a="http://schemas.openxmlformats.org/drawingml/2006/main">
            <a:off x="666750" y="16764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1.</a:t>
            </a:r>
          </a:p>
        </p:txBody>
      </p:sp>
      <p:sp>
        <p:nvSpPr>
          <p:cNvPr id="3" name="exit-prompt-1">
            <a:extLst xmlns:a="http://schemas.openxmlformats.org/drawingml/2006/main">
              <a:ext uri="{FF2B5EF4-FFF2-40B4-BE49-F238E27FC236}">
                <a16:creationId xmlns:a16="http://schemas.microsoft.com/office/drawing/2014/main" id="{9E12A4C8-95E7-4D1A-A165-234ADF08EACB}"/>
              </a:ext>
            </a:extLst>
          </p:cNvPr>
          <p:cNvSpPr>
            <a:spLocks xmlns:a="http://schemas.openxmlformats.org/drawingml/2006/main" noGrp="1"/>
          </p:cNvSpPr>
          <p:nvPr/>
        </p:nvSpPr>
        <p:spPr>
          <a:xfrm xmlns:a="http://schemas.openxmlformats.org/drawingml/2006/main">
            <a:off x="1295400" y="16764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idea I can now explain is…</a:t>
            </a:r>
          </a:p>
        </p:txBody>
      </p:sp>
      <p:sp>
        <p:nvSpPr>
          <p:cNvPr id="4" name="exit-rule-1">
            <a:extLst xmlns:a="http://schemas.openxmlformats.org/drawingml/2006/main">
              <a:ext uri="{FF2B5EF4-FFF2-40B4-BE49-F238E27FC236}">
                <a16:creationId xmlns:a16="http://schemas.microsoft.com/office/drawing/2014/main" id="{F4E7C16A-B2A7-4825-9475-7C413E9430C4}"/>
              </a:ext>
            </a:extLst>
          </p:cNvPr>
          <p:cNvSpPr>
            <a:spLocks xmlns:a="http://schemas.openxmlformats.org/drawingml/2006/main" noGrp="1"/>
          </p:cNvSpPr>
          <p:nvPr/>
        </p:nvSpPr>
        <p:spPr>
          <a:xfrm xmlns:a="http://schemas.openxmlformats.org/drawingml/2006/main">
            <a:off x="1295400" y="219075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5" name="exit-number-2">
            <a:extLst xmlns:a="http://schemas.openxmlformats.org/drawingml/2006/main">
              <a:ext uri="{FF2B5EF4-FFF2-40B4-BE49-F238E27FC236}">
                <a16:creationId xmlns:a16="http://schemas.microsoft.com/office/drawing/2014/main" id="{C86135B5-29A2-4ADC-B018-D45479489AB0}"/>
              </a:ext>
            </a:extLst>
          </p:cNvPr>
          <p:cNvSpPr>
            <a:spLocks xmlns:a="http://schemas.openxmlformats.org/drawingml/2006/main" noGrp="1"/>
          </p:cNvSpPr>
          <p:nvPr/>
        </p:nvSpPr>
        <p:spPr>
          <a:xfrm xmlns:a="http://schemas.openxmlformats.org/drawingml/2006/main">
            <a:off x="666750" y="267652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2.</a:t>
            </a:r>
          </a:p>
        </p:txBody>
      </p:sp>
      <p:sp>
        <p:nvSpPr>
          <p:cNvPr id="6" name="exit-prompt-2">
            <a:extLst xmlns:a="http://schemas.openxmlformats.org/drawingml/2006/main">
              <a:ext uri="{FF2B5EF4-FFF2-40B4-BE49-F238E27FC236}">
                <a16:creationId xmlns:a16="http://schemas.microsoft.com/office/drawing/2014/main" id="{955130D1-F595-4D09-A1A9-3B7C7D9EBA71}"/>
              </a:ext>
            </a:extLst>
          </p:cNvPr>
          <p:cNvSpPr>
            <a:spLocks xmlns:a="http://schemas.openxmlformats.org/drawingml/2006/main" noGrp="1"/>
          </p:cNvSpPr>
          <p:nvPr/>
        </p:nvSpPr>
        <p:spPr>
          <a:xfrm xmlns:a="http://schemas.openxmlformats.org/drawingml/2006/main">
            <a:off x="1295400" y="26765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practical or design decision this changes is…</a:t>
            </a:r>
          </a:p>
        </p:txBody>
      </p:sp>
      <p:sp>
        <p:nvSpPr>
          <p:cNvPr id="7" name="exit-rule-2">
            <a:extLst xmlns:a="http://schemas.openxmlformats.org/drawingml/2006/main">
              <a:ext uri="{FF2B5EF4-FFF2-40B4-BE49-F238E27FC236}">
                <a16:creationId xmlns:a16="http://schemas.microsoft.com/office/drawing/2014/main" id="{BFD053EA-B2D6-4088-9EA7-CFFF1F82F9F5}"/>
              </a:ext>
            </a:extLst>
          </p:cNvPr>
          <p:cNvSpPr>
            <a:spLocks xmlns:a="http://schemas.openxmlformats.org/drawingml/2006/main" noGrp="1"/>
          </p:cNvSpPr>
          <p:nvPr/>
        </p:nvSpPr>
        <p:spPr>
          <a:xfrm xmlns:a="http://schemas.openxmlformats.org/drawingml/2006/main">
            <a:off x="1295400" y="3190875"/>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8" name="exit-number-3">
            <a:extLst xmlns:a="http://schemas.openxmlformats.org/drawingml/2006/main">
              <a:ext uri="{FF2B5EF4-FFF2-40B4-BE49-F238E27FC236}">
                <a16:creationId xmlns:a16="http://schemas.microsoft.com/office/drawing/2014/main" id="{D3D9488C-451D-4052-8979-67F386D93E4F}"/>
              </a:ext>
            </a:extLst>
          </p:cNvPr>
          <p:cNvSpPr>
            <a:spLocks xmlns:a="http://schemas.openxmlformats.org/drawingml/2006/main" noGrp="1"/>
          </p:cNvSpPr>
          <p:nvPr/>
        </p:nvSpPr>
        <p:spPr>
          <a:xfrm xmlns:a="http://schemas.openxmlformats.org/drawingml/2006/main">
            <a:off x="666750" y="36766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3.</a:t>
            </a:r>
          </a:p>
        </p:txBody>
      </p:sp>
      <p:sp>
        <p:nvSpPr>
          <p:cNvPr id="9" name="exit-prompt-3">
            <a:extLst xmlns:a="http://schemas.openxmlformats.org/drawingml/2006/main">
              <a:ext uri="{FF2B5EF4-FFF2-40B4-BE49-F238E27FC236}">
                <a16:creationId xmlns:a16="http://schemas.microsoft.com/office/drawing/2014/main" id="{062B760D-DADC-4BF9-B4DD-F6A4C3E8B1D8}"/>
              </a:ext>
            </a:extLst>
          </p:cNvPr>
          <p:cNvSpPr>
            <a:spLocks xmlns:a="http://schemas.openxmlformats.org/drawingml/2006/main" noGrp="1"/>
          </p:cNvSpPr>
          <p:nvPr/>
        </p:nvSpPr>
        <p:spPr>
          <a:xfrm xmlns:a="http://schemas.openxmlformats.org/drawingml/2006/main">
            <a:off x="1295400" y="36766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question or check I still need is…</a:t>
            </a:r>
          </a:p>
        </p:txBody>
      </p:sp>
      <p:sp>
        <p:nvSpPr>
          <p:cNvPr id="10" name="exit-rule-3">
            <a:extLst xmlns:a="http://schemas.openxmlformats.org/drawingml/2006/main">
              <a:ext uri="{FF2B5EF4-FFF2-40B4-BE49-F238E27FC236}">
                <a16:creationId xmlns:a16="http://schemas.microsoft.com/office/drawing/2014/main" id="{B78E9FDD-4C22-44B1-ABBB-1BB4938F5B26}"/>
              </a:ext>
            </a:extLst>
          </p:cNvPr>
          <p:cNvSpPr>
            <a:spLocks xmlns:a="http://schemas.openxmlformats.org/drawingml/2006/main" noGrp="1"/>
          </p:cNvSpPr>
          <p:nvPr/>
        </p:nvSpPr>
        <p:spPr>
          <a:xfrm xmlns:a="http://schemas.openxmlformats.org/drawingml/2006/main">
            <a:off x="1295400" y="419100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11" name="evidence-destination">
            <a:extLst xmlns:a="http://schemas.openxmlformats.org/drawingml/2006/main">
              <a:ext uri="{FF2B5EF4-FFF2-40B4-BE49-F238E27FC236}">
                <a16:creationId xmlns:a16="http://schemas.microsoft.com/office/drawing/2014/main" id="{5A859C07-C3D3-4127-B6B4-B526C2CA1A76}"/>
              </a:ext>
            </a:extLst>
          </p:cNvPr>
          <p:cNvSpPr>
            <a:spLocks xmlns:a="http://schemas.openxmlformats.org/drawingml/2006/main" noGrp="1"/>
          </p:cNvSpPr>
          <p:nvPr/>
        </p:nvSpPr>
        <p:spPr>
          <a:xfrm xmlns:a="http://schemas.openxmlformats.org/drawingml/2006/main">
            <a:off x="609600" y="4819650"/>
            <a:ext cx="8572500" cy="990600"/>
          </a:xfrm>
          <a:prstGeom xmlns:a="http://schemas.openxmlformats.org/drawingml/2006/main" prst="roundRect">
            <a:avLst>
              <a:gd name="adj" fmla="val 15385"/>
            </a:avLst>
          </a:prstGeom>
          <a:solidFill xmlns:a="http://schemas.openxmlformats.org/drawingml/2006/main">
            <a:srgbClr val="2A101C"/>
          </a:solidFill>
          <a:ln xmlns:a="http://schemas.openxmlformats.org/drawingml/2006/main" w="0">
            <a:noFill/>
            <a:prstDash val="solid"/>
          </a:ln>
        </p:spPr>
      </p:sp>
      <p:sp>
        <p:nvSpPr>
          <p:cNvPr id="12" name="evidence-label">
            <a:extLst xmlns:a="http://schemas.openxmlformats.org/drawingml/2006/main">
              <a:ext uri="{FF2B5EF4-FFF2-40B4-BE49-F238E27FC236}">
                <a16:creationId xmlns:a16="http://schemas.microsoft.com/office/drawing/2014/main" id="{823BC303-50FA-48A1-938E-5B263646EA9B}"/>
              </a:ext>
            </a:extLst>
          </p:cNvPr>
          <p:cNvSpPr>
            <a:spLocks xmlns:a="http://schemas.openxmlformats.org/drawingml/2006/main" noGrp="1"/>
          </p:cNvSpPr>
          <p:nvPr/>
        </p:nvSpPr>
        <p:spPr>
          <a:xfrm xmlns:a="http://schemas.openxmlformats.org/drawingml/2006/main">
            <a:off x="838200" y="5010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EVIDENCE DESTINATION</a:t>
            </a:r>
          </a:p>
        </p:txBody>
      </p:sp>
      <p:sp>
        <p:nvSpPr>
          <p:cNvPr id="13" name="evidence-copy">
            <a:extLst xmlns:a="http://schemas.openxmlformats.org/drawingml/2006/main">
              <a:ext uri="{FF2B5EF4-FFF2-40B4-BE49-F238E27FC236}">
                <a16:creationId xmlns:a16="http://schemas.microsoft.com/office/drawing/2014/main" id="{AD6228AE-2DAA-46B2-90EF-D836B1921BA7}"/>
              </a:ext>
            </a:extLst>
          </p:cNvPr>
          <p:cNvSpPr>
            <a:spLocks xmlns:a="http://schemas.openxmlformats.org/drawingml/2006/main" noGrp="1"/>
          </p:cNvSpPr>
          <p:nvPr/>
        </p:nvSpPr>
        <p:spPr>
          <a:xfrm xmlns:a="http://schemas.openxmlformats.org/drawingml/2006/main">
            <a:off x="838200" y="534352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Complete the three learning packages and save your response on this module page.</a:t>
            </a:r>
          </a:p>
        </p:txBody>
      </p:sp>
      <p:sp>
        <p:nvSpPr>
          <p:cNvPr id="14" name="save-work-circle">
            <a:extLst xmlns:a="http://schemas.openxmlformats.org/drawingml/2006/main">
              <a:ext uri="{FF2B5EF4-FFF2-40B4-BE49-F238E27FC236}">
                <a16:creationId xmlns:a16="http://schemas.microsoft.com/office/drawing/2014/main" id="{88309F83-169D-4D28-9BFD-86C6B11C89BC}"/>
              </a:ext>
            </a:extLst>
          </p:cNvPr>
          <p:cNvSpPr>
            <a:spLocks xmlns:a="http://schemas.openxmlformats.org/drawingml/2006/main" noGrp="1"/>
          </p:cNvSpPr>
          <p:nvPr/>
        </p:nvSpPr>
        <p:spPr>
          <a:xfrm xmlns:a="http://schemas.openxmlformats.org/drawingml/2006/main">
            <a:off x="9810750" y="2038350"/>
            <a:ext cx="1428750" cy="142875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15" name="save-work-text">
            <a:extLst xmlns:a="http://schemas.openxmlformats.org/drawingml/2006/main">
              <a:ext uri="{FF2B5EF4-FFF2-40B4-BE49-F238E27FC236}">
                <a16:creationId xmlns:a16="http://schemas.microsoft.com/office/drawing/2014/main" id="{D5880FF7-F27F-4DF7-96B4-6409BC9A05E3}"/>
              </a:ext>
            </a:extLst>
          </p:cNvPr>
          <p:cNvSpPr>
            <a:spLocks xmlns:a="http://schemas.openxmlformats.org/drawingml/2006/main" noGrp="1"/>
          </p:cNvSpPr>
          <p:nvPr/>
        </p:nvSpPr>
        <p:spPr>
          <a:xfrm xmlns:a="http://schemas.openxmlformats.org/drawingml/2006/main">
            <a:off x="10039350" y="2333625"/>
            <a:ext cx="971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A101C"/>
                </a:solidFill>
              </a:defRPr>
            </a:pPr>
            <a:r>
              <a:rPr sz="1650" b="1">
                <a:solidFill>
                  <a:srgbClr val="2A101C"/>
                </a:solidFill>
              </a:rPr>
              <a:t>SAVE</a:t>
            </a:r>
          </a:p>
          <a:p xmlns:a="http://schemas.openxmlformats.org/drawingml/2006/main">
            <a:pPr algn="ctr">
              <a:defRPr sz="1650" b="1">
                <a:solidFill>
                  <a:srgbClr val="2A101C"/>
                </a:solidFill>
              </a:defRPr>
            </a:pPr>
            <a:r>
              <a:rPr sz="1650" b="1">
                <a:solidFill>
                  <a:srgbClr val="2A101C"/>
                </a:solidFill>
              </a:rPr>
              <a:t>YOUR</a:t>
            </a:r>
          </a:p>
          <a:p xmlns:a="http://schemas.openxmlformats.org/drawingml/2006/main">
            <a:pPr algn="ctr">
              <a:defRPr sz="1650" b="1">
                <a:solidFill>
                  <a:srgbClr val="2A101C"/>
                </a:solidFill>
              </a:defRPr>
            </a:pPr>
            <a:r>
              <a:rPr sz="1650" b="1">
                <a:solidFill>
                  <a:srgbClr val="2A101C"/>
                </a:solidFill>
              </a:rPr>
              <a:t>WORK</a:t>
            </a:r>
          </a:p>
        </p:txBody>
      </p:sp>
      <p:sp>
        <p:nvSpPr>
          <p:cNvPr id="16" name="next-step">
            <a:extLst xmlns:a="http://schemas.openxmlformats.org/drawingml/2006/main">
              <a:ext uri="{FF2B5EF4-FFF2-40B4-BE49-F238E27FC236}">
                <a16:creationId xmlns:a16="http://schemas.microsoft.com/office/drawing/2014/main" id="{DDDDA523-2689-4A3E-AEE5-A68176D987E7}"/>
              </a:ext>
            </a:extLst>
          </p:cNvPr>
          <p:cNvSpPr>
            <a:spLocks xmlns:a="http://schemas.openxmlformats.org/drawingml/2006/main" noGrp="1"/>
          </p:cNvSpPr>
          <p:nvPr/>
        </p:nvSpPr>
        <p:spPr>
          <a:xfrm xmlns:a="http://schemas.openxmlformats.org/drawingml/2006/main">
            <a:off x="609600" y="60579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Next: Design Inspiration</a:t>
            </a:r>
          </a:p>
        </p:txBody>
      </p:sp>
      <p:sp>
        <p:nvSpPr>
          <p:cNvPr id="17" name="footer-module-8">
            <a:extLst xmlns:a="http://schemas.openxmlformats.org/drawingml/2006/main">
              <a:ext uri="{FF2B5EF4-FFF2-40B4-BE49-F238E27FC236}">
                <a16:creationId xmlns:a16="http://schemas.microsoft.com/office/drawing/2014/main" id="{D506E77C-4D03-4C34-9C0E-6B6EBC47469D}"/>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04 · YEAR 8 TEXTILES TECHNOLOGY</a:t>
            </a:r>
          </a:p>
        </p:txBody>
      </p:sp>
      <p:sp>
        <p:nvSpPr>
          <p:cNvPr id="18" name="footer-number-8">
            <a:extLst xmlns:a="http://schemas.openxmlformats.org/drawingml/2006/main">
              <a:ext uri="{FF2B5EF4-FFF2-40B4-BE49-F238E27FC236}">
                <a16:creationId xmlns:a16="http://schemas.microsoft.com/office/drawing/2014/main" id="{7D3B9A48-1A21-434D-B25D-D2E0FAEE063C}"/>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08</a:t>
            </a:r>
          </a:p>
        </p:txBody>
      </p:sp>
    </p:spTree>
    <p:extLst>
      <p:ext uri="{BB962C8B-B14F-4D97-AF65-F5344CB8AC3E}">
        <p14:creationId xmlns:p14="http://schemas.microsoft.com/office/powerpoint/2010/main" val="15718003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2026-08-27T11:20:23.1670000Z</dcterms:created>
  <dcterms:modified xsi:type="dcterms:W3CDTF">2026-08-27T11:20:23.1670000Z</dcterms:modified>
</coreProperties>
</file>