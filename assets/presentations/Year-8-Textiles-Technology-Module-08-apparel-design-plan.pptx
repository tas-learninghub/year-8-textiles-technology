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e0b41cb8364773" /><Relationship Type="http://schemas.openxmlformats.org/officeDocument/2006/relationships/extended-properties" Target="/docProps/app.xml" Id="R856bb3c1a96d4668" /><Relationship Type="http://schemas.openxmlformats.org/officeDocument/2006/relationships/officeDocument" Target="/ppt/presentation.xml" Id="R67cd5712d1d74e36" /></Relationships>
</file>

<file path=ppt/presentation.xml><?xml version="1.0" encoding="utf-8"?>
<p:presentation xmlns:p="http://schemas.openxmlformats.org/presentationml/2006/main">
  <p:sldMasterIdLst>
    <p:sldMasterId xmlns:r="http://schemas.openxmlformats.org/officeDocument/2006/relationships" id="2147483648" r:id="Rd6b9659f3c1e44ca"/>
  </p:sldMasterIdLst>
  <p:notesMasterIdLst>
    <p:notesMasterId xmlns:r="http://schemas.openxmlformats.org/officeDocument/2006/relationships" r:id="Ra98fb1f024a04bad"/>
  </p:notesMasterIdLst>
  <p:sldIdLst>
    <p:sldId xmlns:r="http://schemas.openxmlformats.org/officeDocument/2006/relationships" id="256" r:id="R951fe1d081e5409d"/>
    <p:sldId xmlns:r="http://schemas.openxmlformats.org/officeDocument/2006/relationships" id="257" r:id="R1e4c2f0912634db3"/>
    <p:sldId xmlns:r="http://schemas.openxmlformats.org/officeDocument/2006/relationships" id="258" r:id="R9ead15d227e3403b"/>
    <p:sldId xmlns:r="http://schemas.openxmlformats.org/officeDocument/2006/relationships" id="259" r:id="R745d52b27f3c41e9"/>
    <p:sldId xmlns:r="http://schemas.openxmlformats.org/officeDocument/2006/relationships" id="260" r:id="Rc0c6ca53857c4ff7"/>
    <p:sldId xmlns:r="http://schemas.openxmlformats.org/officeDocument/2006/relationships" id="261" r:id="Rfd95a39eec044791"/>
    <p:sldId xmlns:r="http://schemas.openxmlformats.org/officeDocument/2006/relationships" id="262" r:id="R550503bbf3934058"/>
    <p:sldId xmlns:r="http://schemas.openxmlformats.org/officeDocument/2006/relationships" id="263" r:id="Rd89d6ebf68b44a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5acdda95784086" /><Relationship Type="http://schemas.openxmlformats.org/officeDocument/2006/relationships/slideMaster" Target="/ppt/slideMasters/slideMaster1.xml" Id="Rd6b9659f3c1e44ca" /><Relationship Type="http://schemas.openxmlformats.org/officeDocument/2006/relationships/notesMaster" Target="/ppt/notesMasters/notesMaster1.xml" Id="Ra98fb1f024a04bad" /><Relationship Type="http://schemas.openxmlformats.org/officeDocument/2006/relationships/presProps" Target="/ppt/presProps.xml" Id="R42b1bafd8ac34893" /><Relationship Type="http://schemas.openxmlformats.org/officeDocument/2006/relationships/tableStyles" Target="/ppt/tableStyles.xml" Id="R9ecbb2aa07f148c2" /><Relationship Type="http://schemas.openxmlformats.org/officeDocument/2006/relationships/slide" Target="/ppt/slides/slide1.xml" Id="R951fe1d081e5409d" /><Relationship Type="http://schemas.openxmlformats.org/officeDocument/2006/relationships/slide" Target="/ppt/slides/slide2.xml" Id="R1e4c2f0912634db3" /><Relationship Type="http://schemas.openxmlformats.org/officeDocument/2006/relationships/slide" Target="/ppt/slides/slide3.xml" Id="R9ead15d227e3403b" /><Relationship Type="http://schemas.openxmlformats.org/officeDocument/2006/relationships/slide" Target="/ppt/slides/slide4.xml" Id="R745d52b27f3c41e9" /><Relationship Type="http://schemas.openxmlformats.org/officeDocument/2006/relationships/slide" Target="/ppt/slides/slide5.xml" Id="Rc0c6ca53857c4ff7" /><Relationship Type="http://schemas.openxmlformats.org/officeDocument/2006/relationships/slide" Target="/ppt/slides/slide6.xml" Id="Rfd95a39eec044791" /><Relationship Type="http://schemas.openxmlformats.org/officeDocument/2006/relationships/slide" Target="/ppt/slides/slide7.xml" Id="R550503bbf3934058" /><Relationship Type="http://schemas.openxmlformats.org/officeDocument/2006/relationships/slide" Target="/ppt/slides/slide8.xml" Id="Rd89d6ebf68b44a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bc3d8071c146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de6a8e1fe44f69" /><Relationship Type="http://schemas.openxmlformats.org/officeDocument/2006/relationships/notesMaster" Target="/ppt/notesMasters/notesMaster1.xml" Id="Rec234c944d754c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e00157d70d40dc" /><Relationship Type="http://schemas.openxmlformats.org/officeDocument/2006/relationships/notesMaster" Target="/ppt/notesMasters/notesMaster1.xml" Id="R8ef18ac46b704f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d58a95cc464257" /><Relationship Type="http://schemas.openxmlformats.org/officeDocument/2006/relationships/notesMaster" Target="/ppt/notesMasters/notesMaster1.xml" Id="R8528f44364184c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463d2f705f4701" /><Relationship Type="http://schemas.openxmlformats.org/officeDocument/2006/relationships/notesMaster" Target="/ppt/notesMasters/notesMaster1.xml" Id="Ra6579bd2029841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b8b0aeac894ed6" /><Relationship Type="http://schemas.openxmlformats.org/officeDocument/2006/relationships/notesMaster" Target="/ppt/notesMasters/notesMaster1.xml" Id="R0aaca05a567f4c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38197c6eff48cf" /><Relationship Type="http://schemas.openxmlformats.org/officeDocument/2006/relationships/notesMaster" Target="/ppt/notesMasters/notesMaster1.xml" Id="Rae1ceaeb950540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6ccbfb759c4c62" /><Relationship Type="http://schemas.openxmlformats.org/officeDocument/2006/relationships/notesMaster" Target="/ppt/notesMasters/notesMaster1.xml" Id="Re34209b7b94949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033e19e7644284" /><Relationship Type="http://schemas.openxmlformats.org/officeDocument/2006/relationships/notesMaster" Target="/ppt/notesMasters/notesMaster1.xml" Id="Rf8ee7cd1dbc548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Apparel Design Plan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module-08-apparel-design-plan.png;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Target market and the apparel brief.</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Connect target-market evidence and the authorised shorts/pants brief to design criteria without stereotyping users or inventing specifications.</a:t>
            </a:r>
          </a:p>
          <a:p xmlns:a="http://schemas.openxmlformats.org/drawingml/2006/main">
            <a:r>
              <a:t>- Emphasise: A target market groups relevant user and context evidence but does not define every individual.</a:t>
            </a:r>
          </a:p>
          <a:p xmlns:a="http://schemas.openxmlformats.org/drawingml/2006/main">
            <a:r>
              <a:t>- Connect the image to the decision: Show an apparel design brief connecting evidence-based target-market factors to confirmed constraints, variable design choices and criteria.</a:t>
            </a:r>
          </a:p>
          <a:p xmlns:a="http://schemas.openxmlformats.org/drawingml/2006/main">
            <a:r>
              <a:t/>
            </a:r>
          </a:p>
          <a:p xmlns:a="http://schemas.openxmlformats.org/drawingml/2006/main">
            <a:r>
              <a:t>Prompt: Justify an apparel design direction using target-market evidence, confirmed constraints and four criteria while explaining the limits of the evidence.</a:t>
            </a:r>
          </a:p>
          <a:p xmlns:a="http://schemas.openxmlformats.org/drawingml/2006/main">
            <a:r>
              <a:t>Likely misconception: People in one age group want the same colours and styles. Correction: Target markets can show patterns, but individual evidence and variation still matter.</a:t>
            </a:r>
          </a:p>
          <a:p xmlns:a="http://schemas.openxmlformats.org/drawingml/2006/main">
            <a:r>
              <a:t>Transition: Carry this decision into Aesthetic and functional features.</a:t>
            </a:r>
          </a:p>
          <a:p xmlns:a="http://schemas.openxmlformats.org/drawingml/2006/main">
            <a:r>
              <a:t/>
            </a:r>
          </a:p>
          <a:p xmlns:a="http://schemas.openxmlformats.org/drawingml/2006/main">
            <a:r>
              <a:t>[Sources]</a:t>
            </a:r>
          </a:p>
          <a:p xmlns:a="http://schemas.openxmlformats.org/drawingml/2006/main">
            <a:r>
              <a:t>- Content: Year 8 Textiles theory package v1.0; source domains shorts or pants project; target markets; apparel brief and criteria.</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m08-s01-target-market.png;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analyse and balance aesthetic and functional apparel features using evidence from the brief, user and pattern.</a:t>
            </a:r>
          </a:p>
          <a:p xmlns:a="http://schemas.openxmlformats.org/drawingml/2006/main">
            <a:r>
              <a:t>- Emphasise: Aesthetic features use visual elements and principles to create an intended effect.</a:t>
            </a:r>
          </a:p>
          <a:p xmlns:a="http://schemas.openxmlformats.org/drawingml/2006/main">
            <a:r>
              <a:t>- Connect the image to the decision: Show front-and-back apparel drawings with concise callouts connecting visual elements and principles to user-focused functions.</a:t>
            </a:r>
          </a:p>
          <a:p xmlns:a="http://schemas.openxmlformats.org/drawingml/2006/main">
            <a:r>
              <a:t/>
            </a:r>
          </a:p>
          <a:p xmlns:a="http://schemas.openxmlformats.org/drawingml/2006/main">
            <a:r>
              <a:t>Prompt: Explain how two aesthetic and two functional features work together in an apparel idea, including one trade-off or feasibility limit.</a:t>
            </a:r>
          </a:p>
          <a:p xmlns:a="http://schemas.openxmlformats.org/drawingml/2006/main">
            <a:r>
              <a:t>Likely misconception: Aesthetic means decorative and functional means plain. Correction: A feature can contribute to both appearance and performance, and functional design can be visually expressive.</a:t>
            </a:r>
          </a:p>
          <a:p xmlns:a="http://schemas.openxmlformats.org/drawingml/2006/main">
            <a:r>
              <a:t>Transition: Carry this decision into Final design, material, sustainability and sequence.</a:t>
            </a:r>
          </a:p>
          <a:p xmlns:a="http://schemas.openxmlformats.org/drawingml/2006/main">
            <a:r>
              <a:t/>
            </a:r>
          </a:p>
          <a:p xmlns:a="http://schemas.openxmlformats.org/drawingml/2006/main">
            <a:r>
              <a:t>[Sources]</a:t>
            </a:r>
          </a:p>
          <a:p xmlns:a="http://schemas.openxmlformats.org/drawingml/2006/main">
            <a:r>
              <a:t>- Content: Year 8 Textiles theory package v1.0; source domains front and back design evidence; elements and principles; functional apparel features.</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m08-s02-aesthetic-functional.png;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Bring the design investigation into one justified final proposal that integrates evidence, material choice, resource responsibility and a feasible production sequence.</a:t>
            </a:r>
          </a:p>
          <a:p xmlns:a="http://schemas.openxmlformats.org/drawingml/2006/main">
            <a:r>
              <a:t>- Emphasise: Final selection compares developed ideas with confirmed criteria, constraints and evidence.</a:t>
            </a:r>
          </a:p>
          <a:p xmlns:a="http://schemas.openxmlformats.org/drawingml/2006/main">
            <a:r>
              <a:t>- Connect the image to the decision: Show a coherent final-design spread linking front/back views, evidence-based criteria comparison, material sample, trade-off and high-level sequence.</a:t>
            </a:r>
          </a:p>
          <a:p xmlns:a="http://schemas.openxmlformats.org/drawingml/2006/main">
            <a:r>
              <a:t/>
            </a:r>
          </a:p>
          <a:p xmlns:a="http://schemas.openxmlformats.org/drawingml/2006/main">
            <a:r>
              <a:t>Prompt: Justify the final apparel proposal by linking user evidence, criteria, authorised pattern, material tests, one sustainability decision and the production sequence.</a:t>
            </a:r>
          </a:p>
          <a:p xmlns:a="http://schemas.openxmlformats.org/drawingml/2006/main">
            <a:r>
              <a:t>Likely misconception: The idea with the highest matrix score must be selected. Correction: A matrix supports thinking, but evidence quality, major constraints and trade-offs still require judgement.</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final design and folio; material selection; sustainable design and production planning.</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m08-s03-final-plan.png;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m08-s03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Produce the Bottoms.</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Produce the Bottoms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211c54e2af40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e41088ca0f48b5" /><Relationship Type="http://schemas.openxmlformats.org/officeDocument/2006/relationships/slideLayout" Target="/ppt/slideLayouts/slideLayout1.xml" Id="Rad6e435266414b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6e435266414b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0e8d1ff32f43aa" /><Relationship Type="http://schemas.openxmlformats.org/officeDocument/2006/relationships/image" Target="/ppt/media/image.png" Id="Rd5eca9671d1c4f93" /><Relationship Type="http://schemas.openxmlformats.org/officeDocument/2006/relationships/notesSlide" Target="/ppt/notesSlides/notesSlide1.xml" Id="Rfce7d333005644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d9954f789a4134" /><Relationship Type="http://schemas.openxmlformats.org/officeDocument/2006/relationships/notesSlide" Target="/ppt/notesSlides/notesSlide2.xml" Id="R4ea4d381701140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0e97b3445e4545" /><Relationship Type="http://schemas.openxmlformats.org/officeDocument/2006/relationships/image" Target="/ppt/media/image2.png" Id="R63b8fe2d5c82445e" /><Relationship Type="http://schemas.openxmlformats.org/officeDocument/2006/relationships/notesSlide" Target="/ppt/notesSlides/notesSlide3.xml" Id="Rdb7ecaf18db049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bf896542104ae5" /><Relationship Type="http://schemas.openxmlformats.org/officeDocument/2006/relationships/image" Target="/ppt/media/image3.png" Id="Rd59183d73d634d7c" /><Relationship Type="http://schemas.openxmlformats.org/officeDocument/2006/relationships/notesSlide" Target="/ppt/notesSlides/notesSlide4.xml" Id="R4ed666d118b448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ba4dd4010149e6" /><Relationship Type="http://schemas.openxmlformats.org/officeDocument/2006/relationships/image" Target="/ppt/media/image4.png" Id="Rbe0ee7bbbb194c1c" /><Relationship Type="http://schemas.openxmlformats.org/officeDocument/2006/relationships/notesSlide" Target="/ppt/notesSlides/notesSlide5.xml" Id="Rd66681e5cbff4a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20ec9cecd64917" /><Relationship Type="http://schemas.openxmlformats.org/officeDocument/2006/relationships/notesSlide" Target="/ppt/notesSlides/notesSlide6.xml" Id="R39e8eb7a4eed42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b27bc5cd3b4e2e" /><Relationship Type="http://schemas.openxmlformats.org/officeDocument/2006/relationships/notesSlide" Target="/ppt/notesSlides/notesSlide7.xml" Id="Re03c5cad244745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41bede084e4f20" /><Relationship Type="http://schemas.openxmlformats.org/officeDocument/2006/relationships/notesSlide" Target="/ppt/notesSlides/notesSlide8.xml" Id="Rb48397a9105944c6"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5eca9671d1c4f93"/>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929F86DA-DDB4-49C2-B174-87DC58252BC1}"/>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4EB76E26-1533-4C0C-9B8D-3A2A372F13C7}"/>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4C843A9C-9957-454B-A985-3A823991E1EA}"/>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08 · WEEKS 7–10</a:t>
            </a:r>
          </a:p>
        </p:txBody>
      </p:sp>
      <p:sp>
        <p:nvSpPr>
          <p:cNvPr id="5" name="deck-title">
            <a:extLst xmlns:a="http://schemas.openxmlformats.org/drawingml/2006/main">
              <a:ext uri="{FF2B5EF4-FFF2-40B4-BE49-F238E27FC236}">
                <a16:creationId xmlns:a16="http://schemas.microsoft.com/office/drawing/2014/main" id="{1F6032C5-DE46-44CB-B11E-DCECB95E0366}"/>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Apparel Design Plan</a:t>
            </a:r>
          </a:p>
        </p:txBody>
      </p:sp>
      <p:sp>
        <p:nvSpPr>
          <p:cNvPr id="6" name="module-outcome">
            <a:extLst xmlns:a="http://schemas.openxmlformats.org/drawingml/2006/main">
              <a:ext uri="{FF2B5EF4-FFF2-40B4-BE49-F238E27FC236}">
                <a16:creationId xmlns:a16="http://schemas.microsoft.com/office/drawing/2014/main" id="{2CD40662-6EE6-4553-B281-0EBEA5C9A466}"/>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Develop apparel that balances user needs, aesthetics, function, materials and sustainability.</a:t>
            </a:r>
          </a:p>
        </p:txBody>
      </p:sp>
      <p:sp>
        <p:nvSpPr>
          <p:cNvPr id="7" name="deck-context">
            <a:extLst xmlns:a="http://schemas.openxmlformats.org/drawingml/2006/main">
              <a:ext uri="{FF2B5EF4-FFF2-40B4-BE49-F238E27FC236}">
                <a16:creationId xmlns:a16="http://schemas.microsoft.com/office/drawing/2014/main" id="{00139ABB-0947-4F27-B5CA-44ED675F1DE4}"/>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529664099"/>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5225F828-9D68-49BB-AD65-B14BFACB586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F71C45AC-0C72-4239-AD8D-BD39B9B1E790}"/>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79B87DAD-39F1-43FB-815D-BCD70678E984}"/>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279C885F-C320-420A-9D8C-82F20087CDC6}"/>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D83DBCDE-58EB-49B4-B0A2-91A599ED3A2C}"/>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Target market and the apparel brief</a:t>
            </a:r>
          </a:p>
        </p:txBody>
      </p:sp>
      <p:sp>
        <p:nvSpPr>
          <p:cNvPr id="6" name="path-rule-1">
            <a:extLst xmlns:a="http://schemas.openxmlformats.org/drawingml/2006/main">
              <a:ext uri="{FF2B5EF4-FFF2-40B4-BE49-F238E27FC236}">
                <a16:creationId xmlns:a16="http://schemas.microsoft.com/office/drawing/2014/main" id="{9E406C8B-801E-4587-A8C1-761FB27B6D7C}"/>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0891C257-13AD-4211-B7BF-105BD9950B0C}"/>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E1F4FD99-A016-492F-A402-5B28FF846C50}"/>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Aesthetic and functional features</a:t>
            </a:r>
          </a:p>
        </p:txBody>
      </p:sp>
      <p:sp>
        <p:nvSpPr>
          <p:cNvPr id="9" name="path-rule-2">
            <a:extLst xmlns:a="http://schemas.openxmlformats.org/drawingml/2006/main">
              <a:ext uri="{FF2B5EF4-FFF2-40B4-BE49-F238E27FC236}">
                <a16:creationId xmlns:a16="http://schemas.microsoft.com/office/drawing/2014/main" id="{16EBF1D4-A4D3-44ED-86B9-66C248CBAB97}"/>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C39E72F3-24DB-4613-B755-38B108110BB1}"/>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F271DD92-3F7C-4ED5-A7E0-19F9EAE6E44F}"/>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Final design, material, sustainability and sequence</a:t>
            </a:r>
          </a:p>
        </p:txBody>
      </p:sp>
      <p:sp>
        <p:nvSpPr>
          <p:cNvPr id="12" name="path-rule-3">
            <a:extLst xmlns:a="http://schemas.openxmlformats.org/drawingml/2006/main">
              <a:ext uri="{FF2B5EF4-FFF2-40B4-BE49-F238E27FC236}">
                <a16:creationId xmlns:a16="http://schemas.microsoft.com/office/drawing/2014/main" id="{2BC4FD33-9BE5-4F64-B14A-D0A6081322F5}"/>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917C5C1F-7695-4075-B86F-2EF840EB457F}"/>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D48144B3-7DC5-4390-BCE3-041D2FA2C8D5}"/>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CFD5D100-950A-43DF-BCDC-3A6F4113E60D}"/>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B8175485-8A99-4D22-A3FE-628859728BAD}"/>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08 · YEAR 8 TEXTILES TECHNOLOGY</a:t>
            </a:r>
          </a:p>
        </p:txBody>
      </p:sp>
      <p:sp>
        <p:nvSpPr>
          <p:cNvPr id="17" name="footer-number-2">
            <a:extLst xmlns:a="http://schemas.openxmlformats.org/drawingml/2006/main">
              <a:ext uri="{FF2B5EF4-FFF2-40B4-BE49-F238E27FC236}">
                <a16:creationId xmlns:a16="http://schemas.microsoft.com/office/drawing/2014/main" id="{2A2E2D09-7F6E-40D1-9235-102C70C535F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1839431012"/>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13413D0D-56F7-41CA-BBA6-B3F6FCFC53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E9401713-895F-4E19-880A-CFA88004DAEB}"/>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8.1 · DESCRIBE A TARGET MARKET WITH USEFUL EVIDENCE</a:t>
            </a:r>
          </a:p>
        </p:txBody>
      </p:sp>
      <p:sp>
        <p:nvSpPr>
          <p:cNvPr id="3" name="slide-title">
            <a:extLst xmlns:a="http://schemas.openxmlformats.org/drawingml/2006/main">
              <a:ext uri="{FF2B5EF4-FFF2-40B4-BE49-F238E27FC236}">
                <a16:creationId xmlns:a16="http://schemas.microsoft.com/office/drawing/2014/main" id="{AFDD3DC2-6C8B-41EC-98A4-216FDDEB6EB2}"/>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Target market and the apparel brief</a:t>
            </a:r>
          </a:p>
        </p:txBody>
      </p:sp>
      <p:sp>
        <p:nvSpPr>
          <p:cNvPr id="4" name="image-frame">
            <a:extLst xmlns:a="http://schemas.openxmlformats.org/drawingml/2006/main">
              <a:ext uri="{FF2B5EF4-FFF2-40B4-BE49-F238E27FC236}">
                <a16:creationId xmlns:a16="http://schemas.microsoft.com/office/drawing/2014/main" id="{C14E5E07-90A4-41CA-AAD7-3311F4E29B0A}"/>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3b8fe2d5c82445e"/>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3AE4851B-6856-4826-8753-5ECAF535369C}"/>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target market groups relevant user and context evidence but does not define every individual.</a:t>
            </a:r>
          </a:p>
        </p:txBody>
      </p:sp>
      <p:sp>
        <p:nvSpPr>
          <p:cNvPr id="7" name="key-idea-label">
            <a:extLst xmlns:a="http://schemas.openxmlformats.org/drawingml/2006/main">
              <a:ext uri="{FF2B5EF4-FFF2-40B4-BE49-F238E27FC236}">
                <a16:creationId xmlns:a16="http://schemas.microsoft.com/office/drawing/2014/main" id="{515F786C-E135-40FB-8FBF-A25F4A0F14E3}"/>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8B5AE455-4000-4588-B3AE-E35DA503F7F2}"/>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target market groups relevant user and context evidence but does not define every individual. The apparel brief separates required specifications from optional design choices. Several design responses can fit the same confirmed brief. Apparel criteria need respectful, privacy-safe methods for gathering fit, movement and user evidence.</a:t>
            </a:r>
          </a:p>
        </p:txBody>
      </p:sp>
      <p:sp>
        <p:nvSpPr>
          <p:cNvPr id="9" name="application-block">
            <a:extLst xmlns:a="http://schemas.openxmlformats.org/drawingml/2006/main">
              <a:ext uri="{FF2B5EF4-FFF2-40B4-BE49-F238E27FC236}">
                <a16:creationId xmlns:a16="http://schemas.microsoft.com/office/drawing/2014/main" id="{EEC3531E-0AE2-4EB5-879A-E9DF69BACAC8}"/>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774CB384-5B26-4D1E-B4EF-55B14795D2D8}"/>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68B5969F-9763-42D4-ADBA-4AC6F5C0261B}"/>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Audit the current apparel brief. Write a precise, non-stereotyped target-market statement, identify three confirmed constraints and draft four criteria with suitable evidence methods, including one for movement or use and one for responsible material decisions.</a:t>
            </a:r>
          </a:p>
        </p:txBody>
      </p:sp>
      <p:sp>
        <p:nvSpPr>
          <p:cNvPr id="12" name="footer-module-3">
            <a:extLst xmlns:a="http://schemas.openxmlformats.org/drawingml/2006/main">
              <a:ext uri="{FF2B5EF4-FFF2-40B4-BE49-F238E27FC236}">
                <a16:creationId xmlns:a16="http://schemas.microsoft.com/office/drawing/2014/main" id="{EA635C19-C058-4A2F-8044-0F3405BD9599}"/>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08 · YEAR 8 TEXTILES TECHNOLOGY</a:t>
            </a:r>
          </a:p>
        </p:txBody>
      </p:sp>
      <p:sp>
        <p:nvSpPr>
          <p:cNvPr id="13" name="footer-number-3">
            <a:extLst xmlns:a="http://schemas.openxmlformats.org/drawingml/2006/main">
              <a:ext uri="{FF2B5EF4-FFF2-40B4-BE49-F238E27FC236}">
                <a16:creationId xmlns:a16="http://schemas.microsoft.com/office/drawing/2014/main" id="{E8AD65BF-7F39-4E8C-89D0-F2A9D7F10123}"/>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360417998"/>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8DD216CF-908D-4E5B-A66B-46F0150F112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19C5B385-0A0C-4722-86F7-BB1A9300C543}"/>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8.2 · USE ELEMENTS AND PRINCIPLES TO EXPLAIN APPEARANCE</a:t>
            </a:r>
          </a:p>
        </p:txBody>
      </p:sp>
      <p:sp>
        <p:nvSpPr>
          <p:cNvPr id="3" name="slide-title">
            <a:extLst xmlns:a="http://schemas.openxmlformats.org/drawingml/2006/main">
              <a:ext uri="{FF2B5EF4-FFF2-40B4-BE49-F238E27FC236}">
                <a16:creationId xmlns:a16="http://schemas.microsoft.com/office/drawing/2014/main" id="{57512966-5B6C-4EC9-98A0-306C80C05315}"/>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Aesthetic and functional features</a:t>
            </a:r>
          </a:p>
        </p:txBody>
      </p:sp>
      <p:sp>
        <p:nvSpPr>
          <p:cNvPr id="4" name="image-frame">
            <a:extLst xmlns:a="http://schemas.openxmlformats.org/drawingml/2006/main">
              <a:ext uri="{FF2B5EF4-FFF2-40B4-BE49-F238E27FC236}">
                <a16:creationId xmlns:a16="http://schemas.microsoft.com/office/drawing/2014/main" id="{D6B8648A-DFDC-4F90-B813-133270D882F7}"/>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59183d73d634d7c"/>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A1EBE778-9F72-492C-A007-8E32FE836B50}"/>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Aesthetic features use visual elements and principles to create an intended effect.</a:t>
            </a:r>
          </a:p>
        </p:txBody>
      </p:sp>
      <p:sp>
        <p:nvSpPr>
          <p:cNvPr id="7" name="key-idea-label">
            <a:extLst xmlns:a="http://schemas.openxmlformats.org/drawingml/2006/main">
              <a:ext uri="{FF2B5EF4-FFF2-40B4-BE49-F238E27FC236}">
                <a16:creationId xmlns:a16="http://schemas.microsoft.com/office/drawing/2014/main" id="{F1CF14CF-3350-477E-9C5F-8C0F41EF0E87}"/>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202B904F-F399-49A2-A254-4C64094A369D}"/>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Aesthetic features use visual elements and principles to create an intended effect. Functional features respond to user actions and product needs. One feature can influence appearance, performance, material behaviour and construction. Designers balance priorities and explain trade-offs rather than adding every possible feature.</a:t>
            </a:r>
          </a:p>
        </p:txBody>
      </p:sp>
      <p:sp>
        <p:nvSpPr>
          <p:cNvPr id="9" name="application-block">
            <a:extLst xmlns:a="http://schemas.openxmlformats.org/drawingml/2006/main">
              <a:ext uri="{FF2B5EF4-FFF2-40B4-BE49-F238E27FC236}">
                <a16:creationId xmlns:a16="http://schemas.microsoft.com/office/drawing/2014/main" id="{C2E9ABE3-5FE3-46C6-BF37-DE4A3BC49889}"/>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59849F59-C0B6-4FED-B106-D7E5A59C74B4}"/>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6F591F00-A43A-4ADB-9D8F-1B7393D9B051}"/>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Annotate the front and back of one apparel idea. Explain two aesthetic relationships and two functional effects, then add one feasibility note showing how the current pattern, material or authorised technique affects a feature.</a:t>
            </a:r>
          </a:p>
        </p:txBody>
      </p:sp>
      <p:sp>
        <p:nvSpPr>
          <p:cNvPr id="12" name="footer-module-4">
            <a:extLst xmlns:a="http://schemas.openxmlformats.org/drawingml/2006/main">
              <a:ext uri="{FF2B5EF4-FFF2-40B4-BE49-F238E27FC236}">
                <a16:creationId xmlns:a16="http://schemas.microsoft.com/office/drawing/2014/main" id="{2443AE09-9A8E-4860-9D1F-57CC06FE4260}"/>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08 · YEAR 8 TEXTILES TECHNOLOGY</a:t>
            </a:r>
          </a:p>
        </p:txBody>
      </p:sp>
      <p:sp>
        <p:nvSpPr>
          <p:cNvPr id="13" name="footer-number-4">
            <a:extLst xmlns:a="http://schemas.openxmlformats.org/drawingml/2006/main">
              <a:ext uri="{FF2B5EF4-FFF2-40B4-BE49-F238E27FC236}">
                <a16:creationId xmlns:a16="http://schemas.microsoft.com/office/drawing/2014/main" id="{CDF8C988-9D4A-4EE3-83D8-804F2CB9BFF0}"/>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1281910120"/>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038156A3-369F-4EE5-BE03-F95433A995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94AA3B4F-A396-47DB-9C16-9D48A823C491}"/>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8.3 · SELECT BY COMPARING EVIDENCE</a:t>
            </a:r>
          </a:p>
        </p:txBody>
      </p:sp>
      <p:sp>
        <p:nvSpPr>
          <p:cNvPr id="3" name="slide-title">
            <a:extLst xmlns:a="http://schemas.openxmlformats.org/drawingml/2006/main">
              <a:ext uri="{FF2B5EF4-FFF2-40B4-BE49-F238E27FC236}">
                <a16:creationId xmlns:a16="http://schemas.microsoft.com/office/drawing/2014/main" id="{4835FF5E-A7B6-4A9A-97FA-36B9F002DCDB}"/>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Final design, material, sustainability and sequence</a:t>
            </a:r>
          </a:p>
        </p:txBody>
      </p:sp>
      <p:sp>
        <p:nvSpPr>
          <p:cNvPr id="4" name="image-frame">
            <a:extLst xmlns:a="http://schemas.openxmlformats.org/drawingml/2006/main">
              <a:ext uri="{FF2B5EF4-FFF2-40B4-BE49-F238E27FC236}">
                <a16:creationId xmlns:a16="http://schemas.microsoft.com/office/drawing/2014/main" id="{6F5B8F96-284E-43A0-87CD-B1282C408CA3}"/>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e0ee7bbbb194c1c"/>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FAF409B1-E7A3-467F-A83A-3C02AD0414AD}"/>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Final selection compares developed ideas with confirmed criteria, constraints and evidence.</a:t>
            </a:r>
          </a:p>
        </p:txBody>
      </p:sp>
      <p:sp>
        <p:nvSpPr>
          <p:cNvPr id="7" name="key-idea-label">
            <a:extLst xmlns:a="http://schemas.openxmlformats.org/drawingml/2006/main">
              <a:ext uri="{FF2B5EF4-FFF2-40B4-BE49-F238E27FC236}">
                <a16:creationId xmlns:a16="http://schemas.microsoft.com/office/drawing/2014/main" id="{949CBA44-408E-4B03-92ED-DEE2A83AA12B}"/>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55977E1D-FBB7-410C-9C19-67F82CBEEFFE}"/>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Final selection compares developed ideas with confirmed criteria, constraints and evidence. Front and back drawings should communicate the same authorised design decision. Material justification links end-use needs with supplied information, observations and testing. Responsible planning addresses relevant sourcing, use, waste, durability, care and end-of-life trade-offs.</a:t>
            </a:r>
          </a:p>
        </p:txBody>
      </p:sp>
      <p:sp>
        <p:nvSpPr>
          <p:cNvPr id="9" name="application-block">
            <a:extLst xmlns:a="http://schemas.openxmlformats.org/drawingml/2006/main">
              <a:ext uri="{FF2B5EF4-FFF2-40B4-BE49-F238E27FC236}">
                <a16:creationId xmlns:a16="http://schemas.microsoft.com/office/drawing/2014/main" id="{699DCE4E-DC9D-481F-9463-CD7B8651CCD5}"/>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82B021F8-D587-453E-99C2-262A8818EBFB}"/>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8A4D26CB-F5DA-402B-B21D-41096C674558}"/>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at least two developed apparel ideas against confirmed criteria. Present the selected front and back design, justify the authorised material with test evidence, note one sustainability trade-off and build a high-level sequence with dependencies and checkpoints.</a:t>
            </a:r>
          </a:p>
        </p:txBody>
      </p:sp>
      <p:sp>
        <p:nvSpPr>
          <p:cNvPr id="12" name="footer-module-5">
            <a:extLst xmlns:a="http://schemas.openxmlformats.org/drawingml/2006/main">
              <a:ext uri="{FF2B5EF4-FFF2-40B4-BE49-F238E27FC236}">
                <a16:creationId xmlns:a16="http://schemas.microsoft.com/office/drawing/2014/main" id="{E46806DB-318F-4BA2-903B-D99353859AEA}"/>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08 · YEAR 8 TEXTILES TECHNOLOGY</a:t>
            </a:r>
          </a:p>
        </p:txBody>
      </p:sp>
      <p:sp>
        <p:nvSpPr>
          <p:cNvPr id="13" name="footer-number-5">
            <a:extLst xmlns:a="http://schemas.openxmlformats.org/drawingml/2006/main">
              <a:ext uri="{FF2B5EF4-FFF2-40B4-BE49-F238E27FC236}">
                <a16:creationId xmlns:a16="http://schemas.microsoft.com/office/drawing/2014/main" id="{33B75456-5A84-4159-92B0-D487BB1ED798}"/>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13928627"/>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B4B18670-52E6-4BB1-A188-334C2911F4FD}"/>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22A389B6-1782-49FA-A12F-74E22D82408C}"/>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F70FB064-B2AE-40EE-8FBC-5D76A76C1F7C}"/>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98D92397-0FFB-4BC7-A5C8-E9770B0326F6}"/>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82AA23CC-3A58-46A5-B7F8-8E5A5A609E6B}"/>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“People in one age group want the same colours and styles.”</a:t>
            </a:r>
          </a:p>
        </p:txBody>
      </p:sp>
      <p:sp>
        <p:nvSpPr>
          <p:cNvPr id="6" name="retrieval-rule-1">
            <a:extLst xmlns:a="http://schemas.openxmlformats.org/drawingml/2006/main">
              <a:ext uri="{FF2B5EF4-FFF2-40B4-BE49-F238E27FC236}">
                <a16:creationId xmlns:a16="http://schemas.microsoft.com/office/drawing/2014/main" id="{729B3613-CF4B-40E2-8004-9FFC4573E501}"/>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94239D7D-836A-477C-8660-12EE901D0957}"/>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8A243025-D354-41FE-8BB0-C6F3822572C9}"/>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C211F8CA-32F8-4DC3-9241-722004C37A04}"/>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“Aesthetic means decorative and functional means plain.”</a:t>
            </a:r>
          </a:p>
        </p:txBody>
      </p:sp>
      <p:sp>
        <p:nvSpPr>
          <p:cNvPr id="10" name="retrieval-rule-2">
            <a:extLst xmlns:a="http://schemas.openxmlformats.org/drawingml/2006/main">
              <a:ext uri="{FF2B5EF4-FFF2-40B4-BE49-F238E27FC236}">
                <a16:creationId xmlns:a16="http://schemas.microsoft.com/office/drawing/2014/main" id="{174E9432-F6D4-4713-8A92-087D52356F32}"/>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61913632-1FE9-4F53-88D6-D70BA017F303}"/>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0DDC2B90-C163-4005-BE8D-39B3592E2702}"/>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332DE273-735E-4730-A7A2-F994EC92C123}"/>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“The idea with the highest matrix score must be selected.”</a:t>
            </a:r>
          </a:p>
        </p:txBody>
      </p:sp>
      <p:sp>
        <p:nvSpPr>
          <p:cNvPr id="14" name="retrieval-rule-3">
            <a:extLst xmlns:a="http://schemas.openxmlformats.org/drawingml/2006/main">
              <a:ext uri="{FF2B5EF4-FFF2-40B4-BE49-F238E27FC236}">
                <a16:creationId xmlns:a16="http://schemas.microsoft.com/office/drawing/2014/main" id="{99280EF9-8E48-4023-B1DE-D25BA012D291}"/>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492BAA36-5C9D-480D-80B7-AF461CED8A23}"/>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0AB1D021-2CD5-4DBD-A571-E765BA04F06B}"/>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907D6E84-2FF6-4B74-9B1A-EB25C5778A11}"/>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B271626A-075A-414E-9F26-100C51BDB609}"/>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08 · YEAR 8 TEXTILES TECHNOLOGY</a:t>
            </a:r>
          </a:p>
        </p:txBody>
      </p:sp>
      <p:sp>
        <p:nvSpPr>
          <p:cNvPr id="19" name="footer-number-6">
            <a:extLst xmlns:a="http://schemas.openxmlformats.org/drawingml/2006/main">
              <a:ext uri="{FF2B5EF4-FFF2-40B4-BE49-F238E27FC236}">
                <a16:creationId xmlns:a16="http://schemas.microsoft.com/office/drawing/2014/main" id="{37600125-7061-42F5-96F7-001B092298C5}"/>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10411672"/>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71C33507-70CC-400F-996D-FD84E5EA7B2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ECFABB3B-82A8-4886-86FF-3CBEDBB06B56}"/>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0B7EB6CA-3BE0-4B27-9190-325E5F52E610}"/>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Justify the final apparel proposal by linking user evidence, criteria, authorised pattern, material tests, one sustainability decision and the production sequence.</a:t>
            </a:r>
          </a:p>
        </p:txBody>
      </p:sp>
      <p:sp>
        <p:nvSpPr>
          <p:cNvPr id="4" name="response-number-1">
            <a:extLst xmlns:a="http://schemas.openxmlformats.org/drawingml/2006/main">
              <a:ext uri="{FF2B5EF4-FFF2-40B4-BE49-F238E27FC236}">
                <a16:creationId xmlns:a16="http://schemas.microsoft.com/office/drawing/2014/main" id="{F0791544-1A13-44FC-9878-EFE177751105}"/>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E06C0541-5F28-47E7-91F6-C97A776D85BD}"/>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B262B74C-3674-4149-AB1D-7A5BDD15A31D}"/>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30F4CB9A-71CB-4386-B9C1-281CE50F299C}"/>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4D5D4E79-DDA4-43DF-A6AD-C64CE9539DEE}"/>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ED83480F-DCE1-432F-9980-012CD5961FBB}"/>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5C67AF0F-D837-4036-879A-2F3834D37527}"/>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CFA89361-D7BB-4FA2-AD37-94481924A8BE}"/>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1146BB3B-3656-4091-9262-04A85DAF73FB}"/>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D0F1EEEA-14B7-47E0-81FC-E22AD5CF4CDE}"/>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D8A56F28-E5D0-480D-B207-FA371BACA9F9}"/>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21CDBE9D-4A03-4D4D-A1D9-E6DEE5BBB37D}"/>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7C92B464-7FF5-49AD-9B3D-BEA88D47D595}"/>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8EC7CDC6-DC1F-48F2-92C5-4FB8C5D1837F}"/>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F56397D2-D9F1-4C31-8032-005235C29BEF}"/>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02C2E519-8442-4B72-AE3A-C4AFA391CBD8}"/>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890D064B-6F6A-48A0-8564-FB57A7846D3B}"/>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B8AF0EC1-E908-4225-BA49-3E8966E937E3}"/>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74A69E72-B9A7-4E73-97EB-9988A93C40CA}"/>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08 · YEAR 8 TEXTILES TECHNOLOGY</a:t>
            </a:r>
          </a:p>
        </p:txBody>
      </p:sp>
      <p:sp>
        <p:nvSpPr>
          <p:cNvPr id="23" name="footer-number-7">
            <a:extLst xmlns:a="http://schemas.openxmlformats.org/drawingml/2006/main">
              <a:ext uri="{FF2B5EF4-FFF2-40B4-BE49-F238E27FC236}">
                <a16:creationId xmlns:a16="http://schemas.microsoft.com/office/drawing/2014/main" id="{3400D9EC-E8D3-4A03-918F-F7C48F6F0D86}"/>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2136068349"/>
      </p:ext>
    </p:extLst>
  </p:cSld>
</p:sld>
</file>

<file path=ppt/slides/slide8.xml><?xml version="1.0" encoding="utf-8"?>
<p:sld xmlns:p="http://schemas.openxmlformats.org/presentationml/2006/main">
  <p:cSld>
    <p:bg>
      <p:bgPr>
        <a:solidFill xmlns:a="http://schemas.openxmlformats.org/drawingml/2006/main">
          <a:srgbClr val="226A61"/>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55696BCC-5F52-4063-ADBF-6115440743E0}"/>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D974B780-02FD-4D1F-8966-C9B769873DFF}"/>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B46B417D-FE71-4029-9963-F2976F52D049}"/>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CF2C8570-D904-4D1F-A552-788C9BDAA01D}"/>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88127163-9723-4536-9B93-9579548CA034}"/>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37B7C973-3108-4BA7-B49F-EFD8FA13DA89}"/>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A41BF2E5-BC99-4281-8680-6C510EF7843B}"/>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ADF5DB85-3275-433E-8F5F-FE68C083E376}"/>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7E1E7AAD-2A09-4AB3-B93F-8A0824F67A8D}"/>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E7D173D7-C308-4329-872E-1B613E67EDE6}"/>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26D75A02-4581-4D09-BC02-06AEFE6AA1B9}"/>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8423B4EC-6F68-4823-BF75-DA4414C63E0A}"/>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6AF30779-727D-40D5-AB5F-AE0EBCA287B7}"/>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B5867EE9-70C8-471D-B5A9-48AEB1F740B8}"/>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6A15904A-6EA7-4758-88CF-528F51605EEA}"/>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B91BFA92-5EB2-4453-AEA9-3D4FFC2C7F1E}"/>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Produce the Bottoms</a:t>
            </a:r>
          </a:p>
        </p:txBody>
      </p:sp>
      <p:sp>
        <p:nvSpPr>
          <p:cNvPr id="17" name="footer-module-8">
            <a:extLst xmlns:a="http://schemas.openxmlformats.org/drawingml/2006/main">
              <a:ext uri="{FF2B5EF4-FFF2-40B4-BE49-F238E27FC236}">
                <a16:creationId xmlns:a16="http://schemas.microsoft.com/office/drawing/2014/main" id="{7130545A-FAC4-4958-A94C-58A43DD4EEA0}"/>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08 · YEAR 8 TEXTILES TECHNOLOGY</a:t>
            </a:r>
          </a:p>
        </p:txBody>
      </p:sp>
      <p:sp>
        <p:nvSpPr>
          <p:cNvPr id="18" name="footer-number-8">
            <a:extLst xmlns:a="http://schemas.openxmlformats.org/drawingml/2006/main">
              <a:ext uri="{FF2B5EF4-FFF2-40B4-BE49-F238E27FC236}">
                <a16:creationId xmlns:a16="http://schemas.microsoft.com/office/drawing/2014/main" id="{B24331FE-1641-459D-9F6D-92B646EF003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2477997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2026-08-27T11:20:28.7510000Z</dcterms:created>
  <dcterms:modified xsi:type="dcterms:W3CDTF">2026-08-27T11:20:28.7510000Z</dcterms:modified>
</coreProperties>
</file>