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d1e725ac4407d" /><Relationship Type="http://schemas.openxmlformats.org/officeDocument/2006/relationships/extended-properties" Target="/docProps/app.xml" Id="R75e5491b9a5042fa" /><Relationship Type="http://schemas.openxmlformats.org/officeDocument/2006/relationships/officeDocument" Target="/ppt/presentation.xml" Id="Rc5e7b13095fc49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a809d4ffa847a7"/>
  </p:sldMasterIdLst>
  <p:notesMasterIdLst>
    <p:notesMasterId xmlns:r="http://schemas.openxmlformats.org/officeDocument/2006/relationships" r:id="R519c0d64635b480e"/>
  </p:notesMasterIdLst>
  <p:sldIdLst>
    <p:sldId xmlns:r="http://schemas.openxmlformats.org/officeDocument/2006/relationships" id="256" r:id="R43c298646f8a45c0"/>
    <p:sldId xmlns:r="http://schemas.openxmlformats.org/officeDocument/2006/relationships" id="257" r:id="R7413fdfae99d4848"/>
    <p:sldId xmlns:r="http://schemas.openxmlformats.org/officeDocument/2006/relationships" id="258" r:id="Rf7b2e7af12664452"/>
    <p:sldId xmlns:r="http://schemas.openxmlformats.org/officeDocument/2006/relationships" id="259" r:id="Rb5a4dd42f0ee4b0b"/>
    <p:sldId xmlns:r="http://schemas.openxmlformats.org/officeDocument/2006/relationships" id="260" r:id="Rb1516cef53eb45d4"/>
    <p:sldId xmlns:r="http://schemas.openxmlformats.org/officeDocument/2006/relationships" id="261" r:id="R065650fe29334183"/>
    <p:sldId xmlns:r="http://schemas.openxmlformats.org/officeDocument/2006/relationships" id="262" r:id="Rc69585c155264e56"/>
    <p:sldId xmlns:r="http://schemas.openxmlformats.org/officeDocument/2006/relationships" id="263" r:id="Rce549731b02f40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026faab538400a" /><Relationship Type="http://schemas.openxmlformats.org/officeDocument/2006/relationships/slideMaster" Target="/ppt/slideMasters/slideMaster1.xml" Id="R73a809d4ffa847a7" /><Relationship Type="http://schemas.openxmlformats.org/officeDocument/2006/relationships/notesMaster" Target="/ppt/notesMasters/notesMaster1.xml" Id="R519c0d64635b480e" /><Relationship Type="http://schemas.openxmlformats.org/officeDocument/2006/relationships/presProps" Target="/ppt/presProps.xml" Id="R554e9c8abb9542a4" /><Relationship Type="http://schemas.openxmlformats.org/officeDocument/2006/relationships/tableStyles" Target="/ppt/tableStyles.xml" Id="Ra938c3e565f64a01" /><Relationship Type="http://schemas.openxmlformats.org/officeDocument/2006/relationships/slide" Target="/ppt/slides/slide1.xml" Id="R43c298646f8a45c0" /><Relationship Type="http://schemas.openxmlformats.org/officeDocument/2006/relationships/slide" Target="/ppt/slides/slide2.xml" Id="R7413fdfae99d4848" /><Relationship Type="http://schemas.openxmlformats.org/officeDocument/2006/relationships/slide" Target="/ppt/slides/slide3.xml" Id="Rf7b2e7af12664452" /><Relationship Type="http://schemas.openxmlformats.org/officeDocument/2006/relationships/slide" Target="/ppt/slides/slide4.xml" Id="Rb5a4dd42f0ee4b0b" /><Relationship Type="http://schemas.openxmlformats.org/officeDocument/2006/relationships/slide" Target="/ppt/slides/slide5.xml" Id="Rb1516cef53eb45d4" /><Relationship Type="http://schemas.openxmlformats.org/officeDocument/2006/relationships/slide" Target="/ppt/slides/slide6.xml" Id="R065650fe29334183" /><Relationship Type="http://schemas.openxmlformats.org/officeDocument/2006/relationships/slide" Target="/ppt/slides/slide7.xml" Id="Rc69585c155264e56" /><Relationship Type="http://schemas.openxmlformats.org/officeDocument/2006/relationships/slide" Target="/ppt/slides/slide8.xml" Id="Rce549731b02f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91351fd8942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b7b314b094200" /><Relationship Type="http://schemas.openxmlformats.org/officeDocument/2006/relationships/notesMaster" Target="/ppt/notesMasters/notesMaster1.xml" Id="R93a67548d519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ceb4d7c50450a" /><Relationship Type="http://schemas.openxmlformats.org/officeDocument/2006/relationships/notesMaster" Target="/ppt/notesMasters/notesMaster1.xml" Id="R7a4afda9be9d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789ce88eb64948" /><Relationship Type="http://schemas.openxmlformats.org/officeDocument/2006/relationships/notesMaster" Target="/ppt/notesMasters/notesMaster1.xml" Id="R3c416c3bea7641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5073ad7bce40b6" /><Relationship Type="http://schemas.openxmlformats.org/officeDocument/2006/relationships/notesMaster" Target="/ppt/notesMasters/notesMaster1.xml" Id="R4ee48058a2544e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90ef1ec3804a86" /><Relationship Type="http://schemas.openxmlformats.org/officeDocument/2006/relationships/notesMaster" Target="/ppt/notesMasters/notesMaster1.xml" Id="Rc7b0aaab892e4d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1bd25677c7494f" /><Relationship Type="http://schemas.openxmlformats.org/officeDocument/2006/relationships/notesMaster" Target="/ppt/notesMasters/notesMaster1.xml" Id="R14de25b819b64e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8c87180a4e4787" /><Relationship Type="http://schemas.openxmlformats.org/officeDocument/2006/relationships/notesMaster" Target="/ppt/notesMasters/notesMaster1.xml" Id="R6c8b537970cd48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398f4d64e245e1" /><Relationship Type="http://schemas.openxmlformats.org/officeDocument/2006/relationships/notesMaster" Target="/ppt/notesMasters/notesMaster1.xml" Id="R901b70909e4340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Introduce Evaluate and Communicate as a connected set of three ideas, not three isolated worksheets.</a:t>
            </a:r>
          </a:p>
          <a:p xmlns:a="http://schemas.openxmlformats.org/drawingml/2006/main">
            <a:r>
              <a:t>- Read the outcome aloud and link it to the current project stage.</a:t>
            </a:r>
          </a:p>
          <a:p xmlns:a="http://schemas.openxmlformats.org/drawingml/2006/main">
            <a:r>
              <a:t>- Keep local machine, pattern, safety and assessment details within the current teacher demonstration and authorised class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word in the outcome tells us what evidence we need to produce?</a:t>
            </a:r>
          </a:p>
          <a:p xmlns:a="http://schemas.openxmlformats.org/drawingml/2006/main">
            <a:r>
              <a:t>Likely misconception: Finishing a slide deck is the evidence; the evidence is the student's explanation and project decision.</a:t>
            </a:r>
          </a:p>
          <a:p xmlns:a="http://schemas.openxmlformats.org/drawingml/2006/main">
            <a:r>
              <a:t>Transition: Preview the three ideas and activate prior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sequence: WWHS Year 8 Accessories and Shorts Textiles Technology Program 2024, as bounded by source map v1.0.</a:t>
            </a:r>
          </a:p>
          <a:p xmlns:a="http://schemas.openxmlformats.org/drawingml/2006/main">
            <a:r>
              <a:t>- Curriculum: NESA Textiles Technology 7–10 Syllabus (2025), https://curriculum.nsw.edu.au/learning-areas/tas/textiles-technology-7-10-2025/overview/course</a:t>
            </a:r>
          </a:p>
          <a:p xmlns:a="http://schemas.openxmlformats.org/drawingml/2006/main">
            <a:r>
              <a:t>- Visual: Stage 08 approved module asset module-10-evaluate-communicate.png; provenance retained in the visual production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Name all three substantive sections using the exact module language.</a:t>
            </a:r>
          </a:p>
          <a:p xmlns:a="http://schemas.openxmlformats.org/drawingml/2006/main">
            <a:r>
              <a:t>- Ask students to predict where the ideas connect to current project work.</a:t>
            </a:r>
          </a:p>
          <a:p xmlns:a="http://schemas.openxmlformats.org/drawingml/2006/main">
            <a:r>
              <a:t>- Accept a tentative response, but ask what evidence supports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idea is most likely to change a practical or design decision today?</a:t>
            </a:r>
          </a:p>
          <a:p xmlns:a="http://schemas.openxmlformats.org/drawingml/2006/main">
            <a:r>
              <a:t>Likely misconception: The sequence means students can forget idea one after moving to idea two; the ideas need to remain connected.</a:t>
            </a:r>
          </a:p>
          <a:p xmlns:a="http://schemas.openxmlformats.org/drawingml/2006/main">
            <a:r>
              <a:t>Transition: Begin with Test against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Named section sequence: frozen Stage 01 course inventory and Year 8 Textiles theory package v1.0.</a:t>
            </a:r>
          </a:p>
          <a:p xmlns:a="http://schemas.openxmlformats.org/drawingml/2006/main">
            <a:r>
              <a:t>- Curriculum context: NESA Textiles Technology 7–10 Syllabus (2025), https://curriculum.nsw.edu.au/learning-areas/tas/textiles-technology-7-10-2025/overview/course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Teach students to match evidence to apparel criteria, make qualified judgements and explain trade-offs.</a:t>
            </a:r>
          </a:p>
          <a:p xmlns:a="http://schemas.openxmlformats.org/drawingml/2006/main">
            <a:r>
              <a:t>- Emphasise: Evaluation starts with the criterion and selects evidence that can genuinely test it.</a:t>
            </a:r>
          </a:p>
          <a:p xmlns:a="http://schemas.openxmlformats.org/drawingml/2006/main">
            <a:r>
              <a:t>- Connect the image to the decision: Show several criteria branching to appropriate evidence types, qualified judgements, trade-offs and evidence limits.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Evaluate three criteria using appropriate evidence, stating the degree of success, one trade-off and one evidence limitation.</a:t>
            </a:r>
          </a:p>
          <a:p xmlns:a="http://schemas.openxmlformats.org/drawingml/2006/main">
            <a:r>
              <a:t>Likely misconception: A successful project should receive a positive judgement for every criterion. Correction: An honest evaluation may find different degrees of success and should explain them using evidence.</a:t>
            </a:r>
          </a:p>
          <a:p xmlns:a="http://schemas.openxmlformats.org/drawingml/2006/main">
            <a:r>
              <a:t>Transition: Carry this decision into Care label and swing tag.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Content: Year 8 Textiles theory package v1.0; source domains apparel evaluation; criteria and evidence; trade-offs and improvement.</a:t>
            </a:r>
          </a:p>
          <a:p xmlns:a="http://schemas.openxmlformats.org/drawingml/2006/main">
            <a:r>
              <a:t>- Curriculum: NESA Textiles Technology 7–10 Syllabus (2025), https://curriculum.nsw.edu.au/learning-areas/tas/textiles-technology-7-10-2025/overview/course</a:t>
            </a:r>
          </a:p>
          <a:p xmlns:a="http://schemas.openxmlformats.org/drawingml/2006/main">
            <a:r>
              <a:t>- Outcomes context: https://curriculum.nsw.edu.au/learning-areas/tas/textiles-technology-7-10-2025/outcomes</a:t>
            </a:r>
          </a:p>
          <a:p xmlns:a="http://schemas.openxmlformats.org/drawingml/2006/main">
            <a:r>
              <a:t>- Visual: Stage 08 approved teaching asset m10-s01-test-criteria.png; provenance retained in the visual production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Develop audience-aware product communication through evidence-based care information and a purposeful swing tag, without inventing fibre or legal claims.</a:t>
            </a:r>
          </a:p>
          <a:p xmlns:a="http://schemas.openxmlformats.org/drawingml/2006/main">
            <a:r>
              <a:t>- Emphasise: Care information depends on verified material, component, construction and finish evidence.</a:t>
            </a:r>
          </a:p>
          <a:p xmlns:a="http://schemas.openxmlformats.org/drawingml/2006/main">
            <a:r>
              <a:t>- Connect the image to the decision: Show a realistic care-label and swing-tag communication system with source checks, hierarchy and unsupported-claim warnings.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Justify the information and hierarchy in a care label and swing tag, linking every technical or environmental claim to a verified source.</a:t>
            </a:r>
          </a:p>
          <a:p xmlns:a="http://schemas.openxmlformats.org/drawingml/2006/main">
            <a:r>
              <a:t>Likely misconception: Care symbols are simple pictures, so their meanings can be guessed. Correction: They form a standardised system and should be checked against the approved current reference.</a:t>
            </a:r>
          </a:p>
          <a:p xmlns:a="http://schemas.openxmlformats.org/drawingml/2006/main">
            <a:r>
              <a:t>Transition: Carry this decision into Reflection, folio and collaborative showcase.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Content: Year 8 Textiles theory package v1.0; source domains folio care-label and swing-tag evidence; product communication; ethical sustainability claims.</a:t>
            </a:r>
          </a:p>
          <a:p xmlns:a="http://schemas.openxmlformats.org/drawingml/2006/main">
            <a:r>
              <a:t>- Curriculum: NESA Textiles Technology 7–10 Syllabus (2025), https://curriculum.nsw.edu.au/learning-areas/tas/textiles-technology-7-10-2025/overview/course</a:t>
            </a:r>
          </a:p>
          <a:p xmlns:a="http://schemas.openxmlformats.org/drawingml/2006/main">
            <a:r>
              <a:t>- Outcomes context: https://curriculum.nsw.edu.au/learning-areas/tas/textiles-technology-7-10-2025/outcomes</a:t>
            </a:r>
          </a:p>
          <a:p xmlns:a="http://schemas.openxmlformats.org/drawingml/2006/main">
            <a:r>
              <a:t>- Visual: Stage 08 approved teaching asset m10-s02-label-tag.png; provenance retained in the visual production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Teach students to curate a traceable folio, reflect on learning with evidence and contribute responsibly to a collaborative textile showcase.</a:t>
            </a:r>
          </a:p>
          <a:p xmlns:a="http://schemas.openxmlformats.org/drawingml/2006/main">
            <a:r>
              <a:t>- Emphasise: Reflection links a significant result with evidence, meaning, judgement and a specific next action.</a:t>
            </a:r>
          </a:p>
          <a:p xmlns:a="http://schemas.openxmlformats.org/drawingml/2006/main">
            <a:r>
              <a:t>- Connect the image to the decision: Show a calm folio evidence trail and collaborative showcase workflow with clear privacy, consent, credit and source checkpoints.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Present one traceable learning story from source or brief through design, production evidence, evaluation and improvement, then explain your contribution to a respectful collaborative showcase.</a:t>
            </a:r>
          </a:p>
          <a:p xmlns:a="http://schemas.openxmlformats.org/drawingml/2006/main">
            <a:r>
              <a:t>Likely misconception: A folio is strongest when it includes every photo and worksheet. Correction: A strong folio selects and explains the evidence that best reveals decisions, learning and improvement.</a:t>
            </a:r>
          </a:p>
          <a:p xmlns:a="http://schemas.openxmlformats.org/drawingml/2006/main">
            <a:r>
              <a:t>Transition: Pause for retrieval before students construct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Content: Year 8 Textiles theory package v1.0; source domains folio evidence; reflection and communication; collaborative textile project work.</a:t>
            </a:r>
          </a:p>
          <a:p xmlns:a="http://schemas.openxmlformats.org/drawingml/2006/main">
            <a:r>
              <a:t>- Curriculum: NESA Textiles Technology 7–10 Syllabus (2025), https://curriculum.nsw.edu.au/learning-areas/tas/textiles-technology-7-10-2025/overview/course</a:t>
            </a:r>
          </a:p>
          <a:p xmlns:a="http://schemas.openxmlformats.org/drawingml/2006/main">
            <a:r>
              <a:t>- Outcomes context: https://curriculum.nsw.edu.au/learning-areas/tas/textiles-technology-7-10-2025/outcomes</a:t>
            </a:r>
          </a:p>
          <a:p xmlns:a="http://schemas.openxmlformats.org/drawingml/2006/main">
            <a:r>
              <a:t>- Visual: Stage 08 approved teaching asset m10-s03-reflect-showcase.png; provenance retained in the visual production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silent thinking time before taking answers.</a:t>
            </a:r>
          </a:p>
          <a:p xmlns:a="http://schemas.openxmlformats.org/drawingml/2006/main">
            <a:r>
              <a:t>- Require students to correct the claim, not only label it true or false.</a:t>
            </a:r>
          </a:p>
          <a:p xmlns:a="http://schemas.openxmlformats.org/drawingml/2006/main">
            <a:r>
              <a:t>- Ask a follow-up: What evidence from slides 3–5 supports that correction?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correction becomes stronger when you use an example from your own project?</a:t>
            </a:r>
          </a:p>
          <a:p xmlns:a="http://schemas.openxmlformats.org/drawingml/2006/main">
            <a:r>
              <a:t>Likely misconception: Retrieval is guessing; retrieval should reconstruct the idea and its evidence.</a:t>
            </a:r>
          </a:p>
          <a:p xmlns:a="http://schemas.openxmlformats.org/drawingml/2006/main">
            <a:r>
              <a:t>Transition: Use the corrected ideas to build one longer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Retrieval claims: misconceptions and corrections in the Year 8 Textiles theory package v1.0.</a:t>
            </a:r>
          </a:p>
          <a:p xmlns:a="http://schemas.openxmlformats.org/drawingml/2006/main">
            <a:r>
              <a:t>- Curriculum context: NESA Textiles Technology 7–10 Syllabus (2025), https://curriculum.nsw.edu.au/learning-areas/tas/textiles-technology-7-10-2025/overview/course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Model the four moves with one brief example, then remove the example from view.</a:t>
            </a:r>
          </a:p>
          <a:p xmlns:a="http://schemas.openxmlformats.org/drawingml/2006/main">
            <a:r>
              <a:t>- The selected evidence must answer the exact context, not merely repeat a definition.</a:t>
            </a:r>
          </a:p>
          <a:p xmlns:a="http://schemas.openxmlformats.org/drawingml/2006/main">
            <a:r>
              <a:t>- Use the sentence support as a starting structure; students may improve it in their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evidence is most relevant, and which tempting detail should be left out?</a:t>
            </a:r>
          </a:p>
          <a:p xmlns:a="http://schemas.openxmlformats.org/drawingml/2006/main">
            <a:r>
              <a:t>Likely misconception: A longer response is automatically stronger; relevance and explanation matter more than length.</a:t>
            </a:r>
          </a:p>
          <a:p xmlns:a="http://schemas.openxmlformats.org/drawingml/2006/main">
            <a:r>
              <a:t>Transition: Students now save the response in the matching module learning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Guided response: evidence prompt for m10-s03 in the Year 8 Textiles theory package v1.0.</a:t>
            </a:r>
          </a:p>
          <a:p xmlns:a="http://schemas.openxmlformats.org/drawingml/2006/main">
            <a:r>
              <a:t>- Curriculum context: NESA Textiles Technology 7–10 Syllabus (2025), https://curriculum.nsw.edu.au/learning-areas/tas/textiles-technology-7-10-2025/outcomes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Use the three-part exit ticket as a quick verbal or written check.</a:t>
            </a:r>
          </a:p>
          <a:p xmlns:a="http://schemas.openxmlformats.org/drawingml/2006/main">
            <a:r>
              <a:t>- Direct students to the module page so the evidence is saved in the correct learning package.</a:t>
            </a:r>
          </a:p>
          <a:p xmlns:a="http://schemas.openxmlformats.org/drawingml/2006/main">
            <a:r>
              <a:t>- Close by connecting the completed work to the folio and collaborative showcase.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Prompt: Which answer would you be willing to improve after receiving feedback?</a:t>
            </a:r>
          </a:p>
          <a:p xmlns:a="http://schemas.openxmlformats.org/drawingml/2006/main">
            <a:r>
              <a:t>Likely misconception: Saving work means it is finished; saved evidence can still be reviewed and improved.</a:t>
            </a:r>
          </a:p>
          <a:p xmlns:a="http://schemas.openxmlformats.org/drawingml/2006/main">
            <a:r>
              <a:t>Transition: Move into folio completion and the approved collaborative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 destination: frozen family learning-package contract and local autosave workflow.</a:t>
            </a:r>
          </a:p>
          <a:p xmlns:a="http://schemas.openxmlformats.org/drawingml/2006/main">
            <a:r>
              <a:t>- Module sequence: WWHS Year 8 Accessories and Shorts Textiles Technology Program 2024, as bounded by source map v1.0.</a:t>
            </a:r>
          </a:p>
          <a:p xmlns:a="http://schemas.openxmlformats.org/drawingml/2006/main">
            <a:r>
              <a:t>- Curriculum context: NESA Textiles Technology 7–10 Syllabus (2025), https://curriculum.nsw.edu.au/learning-areas/tas/textiles-technology-7-10-2025/overview/course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3de42e01741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b053cebe8344fe" /><Relationship Type="http://schemas.openxmlformats.org/officeDocument/2006/relationships/slideLayout" Target="/ppt/slideLayouts/slideLayout1.xml" Id="R608a8aaa1b06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a8aaa1b06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6f0e72f314e26" /><Relationship Type="http://schemas.openxmlformats.org/officeDocument/2006/relationships/image" Target="/ppt/media/image.png" Id="R3a4c63e184724728" /><Relationship Type="http://schemas.openxmlformats.org/officeDocument/2006/relationships/notesSlide" Target="/ppt/notesSlides/notesSlide1.xml" Id="R4f94d89e0fb646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54bd96f7d4062" /><Relationship Type="http://schemas.openxmlformats.org/officeDocument/2006/relationships/notesSlide" Target="/ppt/notesSlides/notesSlide2.xml" Id="R3ccae89e10a141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8e42bffa0459e" /><Relationship Type="http://schemas.openxmlformats.org/officeDocument/2006/relationships/image" Target="/ppt/media/image2.png" Id="R16ded74674404ff0" /><Relationship Type="http://schemas.openxmlformats.org/officeDocument/2006/relationships/notesSlide" Target="/ppt/notesSlides/notesSlide3.xml" Id="R8cf2cc35e0ae48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6f2283be54706" /><Relationship Type="http://schemas.openxmlformats.org/officeDocument/2006/relationships/image" Target="/ppt/media/image3.png" Id="R54e684079eba48cd" /><Relationship Type="http://schemas.openxmlformats.org/officeDocument/2006/relationships/notesSlide" Target="/ppt/notesSlides/notesSlide4.xml" Id="R6838717dbfd943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091c634fc4514" /><Relationship Type="http://schemas.openxmlformats.org/officeDocument/2006/relationships/image" Target="/ppt/media/image4.png" Id="Ra952efe9d179483f" /><Relationship Type="http://schemas.openxmlformats.org/officeDocument/2006/relationships/notesSlide" Target="/ppt/notesSlides/notesSlide5.xml" Id="R4fcbfc59123347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a28bf704b4076" /><Relationship Type="http://schemas.openxmlformats.org/officeDocument/2006/relationships/notesSlide" Target="/ppt/notesSlides/notesSlide6.xml" Id="Ra348c39fffb142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e5eef79fb4ca1" /><Relationship Type="http://schemas.openxmlformats.org/officeDocument/2006/relationships/notesSlide" Target="/ppt/notesSlides/notesSlide7.xml" Id="R5ad95a93f69f45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39b4917164ef3" /><Relationship Type="http://schemas.openxmlformats.org/officeDocument/2006/relationships/notesSlide" Target="/ppt/notesSlides/notesSlide8.xml" Id="R674eb7da68ba49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A1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c63e184724728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-panel">
            <a:extLst xmlns:a="http://schemas.openxmlformats.org/drawingml/2006/main">
              <a:ext uri="{FF2B5EF4-FFF2-40B4-BE49-F238E27FC236}">
                <a16:creationId xmlns:a16="http://schemas.microsoft.com/office/drawing/2014/main" id="{6AEB95B8-225F-4A03-825B-5B9FD631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D1D3573-8ED6-49A1-ADB3-7E6F851A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2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69D36995-F7EA-4C69-870A-625B078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238"/>
                </a:solidFill>
              </a:defRPr>
            </a:pPr>
            <a:r>
              <a:rPr sz="1275" b="1">
                <a:solidFill>
                  <a:srgbClr val="D6A238"/>
                </a:solidFill>
              </a:rPr>
              <a:t>MODULE 10 · COURSE CONSOLIDATION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3A7DAD59-7723-42E7-9E06-28854D6F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61962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Evaluate and Communicate</a:t>
            </a:r>
          </a:p>
        </p:txBody>
      </p:sp>
      <p:sp>
        <p:nvSpPr>
          <p:cNvPr id="6" name="module-outcome">
            <a:extLst xmlns:a="http://schemas.openxmlformats.org/drawingml/2006/main">
              <a:ext uri="{FF2B5EF4-FFF2-40B4-BE49-F238E27FC236}">
                <a16:creationId xmlns:a16="http://schemas.microsoft.com/office/drawing/2014/main" id="{6AA50275-F281-49D1-A56A-64F18D2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EAF0"/>
                </a:solidFill>
              </a:defRPr>
            </a:pPr>
            <a:r>
              <a:rPr sz="1800" b="0">
                <a:solidFill>
                  <a:srgbClr val="F7EAF0"/>
                </a:solidFill>
              </a:rPr>
              <a:t>Evaluate a textile product, communicate verified care information and complete a reflective folio.</a:t>
            </a:r>
          </a:p>
        </p:txBody>
      </p:sp>
      <p:sp>
        <p:nvSpPr>
          <p:cNvPr id="7" name="deck-context">
            <a:extLst xmlns:a="http://schemas.openxmlformats.org/drawingml/2006/main">
              <a:ext uri="{FF2B5EF4-FFF2-40B4-BE49-F238E27FC236}">
                <a16:creationId xmlns:a16="http://schemas.microsoft.com/office/drawing/2014/main" id="{AF3A46E5-6C83-486C-9C15-1A3AE498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BCC6"/>
                </a:solidFill>
              </a:defRPr>
            </a:pPr>
            <a:r>
              <a:rPr sz="1125" b="0">
                <a:solidFill>
                  <a:srgbClr val="D5BCC6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89720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B73AEF63-D14C-42A0-8E56-3122AC6D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2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009EDD-7290-4356-BAB9-14323F91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101C"/>
                </a:solidFill>
              </a:defRPr>
            </a:pPr>
            <a:r>
              <a:rPr sz="3000" b="1">
                <a:solidFill>
                  <a:srgbClr val="2A101C"/>
                </a:solidFill>
              </a:rPr>
              <a:t>Three ideas, one connected decision</a:t>
            </a:r>
          </a:p>
        </p:txBody>
      </p:sp>
      <p:sp>
        <p:nvSpPr>
          <p:cNvPr id="3" name="learning-map-intro">
            <a:extLst xmlns:a="http://schemas.openxmlformats.org/drawingml/2006/main">
              <a:ext uri="{FF2B5EF4-FFF2-40B4-BE49-F238E27FC236}">
                <a16:creationId xmlns:a16="http://schemas.microsoft.com/office/drawing/2014/main" id="{DDAB7763-E342-4D95-8EA3-8CBC25D2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5357"/>
                </a:solidFill>
              </a:defRPr>
            </a:pPr>
            <a:r>
              <a:rPr sz="1575" b="0">
                <a:solidFill>
                  <a:srgbClr val="5C5357"/>
                </a:solidFill>
              </a:rPr>
              <a:t>Listen for the relationship between the ideas. Each one changes what you notice, choose or explain.</a:t>
            </a:r>
          </a:p>
        </p:txBody>
      </p:sp>
      <p:sp>
        <p:nvSpPr>
          <p:cNvPr id="4" name="path-number-1">
            <a:extLst xmlns:a="http://schemas.openxmlformats.org/drawingml/2006/main">
              <a:ext uri="{FF2B5EF4-FFF2-40B4-BE49-F238E27FC236}">
                <a16:creationId xmlns:a16="http://schemas.microsoft.com/office/drawing/2014/main" id="{A59FABE1-8E5B-434D-82BE-FBDFA5F2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AC2254"/>
                </a:solidFill>
              </a:defRPr>
            </a:pPr>
            <a:r>
              <a:rPr sz="4650" b="1">
                <a:solidFill>
                  <a:srgbClr val="AC2254"/>
                </a:solidFill>
              </a:rPr>
              <a:t>1</a:t>
            </a:r>
          </a:p>
        </p:txBody>
      </p:sp>
      <p:sp>
        <p:nvSpPr>
          <p:cNvPr id="5" name="path-title-1">
            <a:extLst xmlns:a="http://schemas.openxmlformats.org/drawingml/2006/main">
              <a:ext uri="{FF2B5EF4-FFF2-40B4-BE49-F238E27FC236}">
                <a16:creationId xmlns:a16="http://schemas.microsoft.com/office/drawing/2014/main" id="{8CE48AE2-3CD9-487A-BEBD-9B0B185F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101C"/>
                </a:solidFill>
              </a:defRPr>
            </a:pPr>
            <a:r>
              <a:rPr sz="1875" b="1">
                <a:solidFill>
                  <a:srgbClr val="2A101C"/>
                </a:solidFill>
              </a:rPr>
              <a:t>Test against criteria</a:t>
            </a:r>
          </a:p>
        </p:txBody>
      </p:sp>
      <p:sp>
        <p:nvSpPr>
          <p:cNvPr id="6" name="path-rule-1">
            <a:extLst xmlns:a="http://schemas.openxmlformats.org/drawingml/2006/main">
              <a:ext uri="{FF2B5EF4-FFF2-40B4-BE49-F238E27FC236}">
                <a16:creationId xmlns:a16="http://schemas.microsoft.com/office/drawing/2014/main" id="{61E0042F-57E3-4024-9FA6-AA6075D7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2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number-2">
            <a:extLst xmlns:a="http://schemas.openxmlformats.org/drawingml/2006/main">
              <a:ext uri="{FF2B5EF4-FFF2-40B4-BE49-F238E27FC236}">
                <a16:creationId xmlns:a16="http://schemas.microsoft.com/office/drawing/2014/main" id="{2CA8E4FC-6FDC-43AE-BD7A-AC7147D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764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26A61"/>
                </a:solidFill>
              </a:defRPr>
            </a:pPr>
            <a:r>
              <a:rPr sz="4650" b="1">
                <a:solidFill>
                  <a:srgbClr val="226A61"/>
                </a:solidFill>
              </a:rPr>
              <a:t>2</a:t>
            </a:r>
          </a:p>
        </p:txBody>
      </p:sp>
      <p:sp>
        <p:nvSpPr>
          <p:cNvPr id="8" name="path-title-2">
            <a:extLst xmlns:a="http://schemas.openxmlformats.org/drawingml/2006/main">
              <a:ext uri="{FF2B5EF4-FFF2-40B4-BE49-F238E27FC236}">
                <a16:creationId xmlns:a16="http://schemas.microsoft.com/office/drawing/2014/main" id="{CE0B20F9-A301-4339-BACD-D6F5543B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718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101C"/>
                </a:solidFill>
              </a:defRPr>
            </a:pPr>
            <a:r>
              <a:rPr sz="1875" b="1">
                <a:solidFill>
                  <a:srgbClr val="2A101C"/>
                </a:solidFill>
              </a:rPr>
              <a:t>Care label and swing tag</a:t>
            </a:r>
          </a:p>
        </p:txBody>
      </p:sp>
      <p:sp>
        <p:nvSpPr>
          <p:cNvPr id="9" name="path-rule-2">
            <a:extLst xmlns:a="http://schemas.openxmlformats.org/drawingml/2006/main">
              <a:ext uri="{FF2B5EF4-FFF2-40B4-BE49-F238E27FC236}">
                <a16:creationId xmlns:a16="http://schemas.microsoft.com/office/drawing/2014/main" id="{A0BA15EB-99A3-419E-8691-5DD1D18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7195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number-3">
            <a:extLst xmlns:a="http://schemas.openxmlformats.org/drawingml/2006/main">
              <a:ext uri="{FF2B5EF4-FFF2-40B4-BE49-F238E27FC236}">
                <a16:creationId xmlns:a16="http://schemas.microsoft.com/office/drawing/2014/main" id="{C7831430-2963-4A12-839B-0B0F0AEC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764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C94C46"/>
                </a:solidFill>
              </a:defRPr>
            </a:pPr>
            <a:r>
              <a:rPr sz="4650" b="1">
                <a:solidFill>
                  <a:srgbClr val="C94C46"/>
                </a:solidFill>
              </a:rPr>
              <a:t>3</a:t>
            </a:r>
          </a:p>
        </p:txBody>
      </p:sp>
      <p:sp>
        <p:nvSpPr>
          <p:cNvPr id="11" name="path-title-3">
            <a:extLst xmlns:a="http://schemas.openxmlformats.org/drawingml/2006/main">
              <a:ext uri="{FF2B5EF4-FFF2-40B4-BE49-F238E27FC236}">
                <a16:creationId xmlns:a16="http://schemas.microsoft.com/office/drawing/2014/main" id="{DF3D3EE1-F80D-4CBB-9880-201E763A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101C"/>
                </a:solidFill>
              </a:defRPr>
            </a:pPr>
            <a:r>
              <a:rPr sz="1875" b="1">
                <a:solidFill>
                  <a:srgbClr val="2A101C"/>
                </a:solidFill>
              </a:rPr>
              <a:t>Reflection, folio and collaborative showcase</a:t>
            </a:r>
          </a:p>
        </p:txBody>
      </p:sp>
      <p:sp>
        <p:nvSpPr>
          <p:cNvPr id="12" name="path-rule-3">
            <a:extLst xmlns:a="http://schemas.openxmlformats.org/drawingml/2006/main">
              <a:ext uri="{FF2B5EF4-FFF2-40B4-BE49-F238E27FC236}">
                <a16:creationId xmlns:a16="http://schemas.microsoft.com/office/drawing/2014/main" id="{DF4661D1-FC93-4CCC-A710-CF3E12B6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2724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trieval-strip">
            <a:extLst xmlns:a="http://schemas.openxmlformats.org/drawingml/2006/main">
              <a:ext uri="{FF2B5EF4-FFF2-40B4-BE49-F238E27FC236}">
                <a16:creationId xmlns:a16="http://schemas.microsoft.com/office/drawing/2014/main" id="{E731F6F7-F866-44D8-B72E-8FA99311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72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arm-up-label">
            <a:extLst xmlns:a="http://schemas.openxmlformats.org/drawingml/2006/main">
              <a:ext uri="{FF2B5EF4-FFF2-40B4-BE49-F238E27FC236}">
                <a16:creationId xmlns:a16="http://schemas.microsoft.com/office/drawing/2014/main" id="{F362AB7A-8912-471C-94C7-70576BCD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238"/>
                </a:solidFill>
              </a:defRPr>
            </a:pPr>
            <a:r>
              <a:rPr sz="1200" b="1">
                <a:solidFill>
                  <a:srgbClr val="D6A238"/>
                </a:solidFill>
              </a:rPr>
              <a:t>RETRIEVAL WARM-UP</a:t>
            </a:r>
          </a:p>
        </p:txBody>
      </p:sp>
      <p:sp>
        <p:nvSpPr>
          <p:cNvPr id="15" name="warm-up-question">
            <a:extLst xmlns:a="http://schemas.openxmlformats.org/drawingml/2006/main">
              <a:ext uri="{FF2B5EF4-FFF2-40B4-BE49-F238E27FC236}">
                <a16:creationId xmlns:a16="http://schemas.microsoft.com/office/drawing/2014/main" id="{6C62E53E-3CD2-4573-A786-C978A78D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76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Which idea feels most familiar—and what evidence supports what you think you know?</a:t>
            </a:r>
          </a:p>
        </p:txBody>
      </p:sp>
      <p:sp>
        <p:nvSpPr>
          <p:cNvPr id="16" name="footer-module-2">
            <a:extLst xmlns:a="http://schemas.openxmlformats.org/drawingml/2006/main">
              <a:ext uri="{FF2B5EF4-FFF2-40B4-BE49-F238E27FC236}">
                <a16:creationId xmlns:a16="http://schemas.microsoft.com/office/drawing/2014/main" id="{3EF99849-892E-4E91-AA71-62F41D80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MODULE 10 · YEAR 8 TEXTILES TECHNOLOGY</a:t>
            </a:r>
          </a:p>
        </p:txBody>
      </p:sp>
      <p:sp>
        <p:nvSpPr>
          <p:cNvPr id="17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6C2B4CA5-9F14-4E03-864E-28F2696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753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4B3DB730-B575-4717-98E4-5FE44A19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22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B4BA4C28-900F-47C7-B02D-44FBD57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C2254"/>
                </a:solidFill>
              </a:defRPr>
            </a:pPr>
            <a:r>
              <a:rPr sz="1125" b="1">
                <a:solidFill>
                  <a:srgbClr val="AC2254"/>
                </a:solidFill>
              </a:rPr>
              <a:t>10.1 · MATCH THE EVIDENCE TO THE CRITERION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44105F-9617-4D64-A14E-623556DF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A101C"/>
                </a:solidFill>
              </a:defRPr>
            </a:pPr>
            <a:r>
              <a:rPr sz="2850" b="1">
                <a:solidFill>
                  <a:srgbClr val="2A101C"/>
                </a:solidFill>
              </a:rPr>
              <a:t>Test against criteria</a:t>
            </a:r>
          </a:p>
        </p:txBody>
      </p:sp>
      <p:sp>
        <p:nvSpPr>
          <p:cNvPr id="4" name="image-frame">
            <a:extLst xmlns:a="http://schemas.openxmlformats.org/drawingml/2006/main">
              <a:ext uri="{FF2B5EF4-FFF2-40B4-BE49-F238E27FC236}">
                <a16:creationId xmlns:a16="http://schemas.microsoft.com/office/drawing/2014/main" id="{128236A1-A714-40A5-AE40-D1C60A6D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953000" cy="3448050"/>
          </a:xfrm>
          <a:prstGeom xmlns:a="http://schemas.openxmlformats.org/drawingml/2006/main" prst="roundRect">
            <a:avLst>
              <a:gd name="adj" fmla="val 4972"/>
            </a:avLst>
          </a:prstGeom>
          <a:solidFill xmlns:a="http://schemas.openxmlformats.org/drawingml/2006/main">
            <a:srgbClr val="AC22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ed74674404ff0"/>
          <a:srcRect xmlns:a="http://schemas.openxmlformats.org/drawingml/2006/main" l="1619" t="0" r="1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62100"/>
            <a:ext cx="48387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A18BE43C-9E78-4402-AF07-68E93CF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838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357"/>
                </a:solidFill>
              </a:defRPr>
            </a:pPr>
            <a:r>
              <a:rPr sz="1200" b="0">
                <a:solidFill>
                  <a:srgbClr val="5C5357"/>
                </a:solidFill>
              </a:rPr>
              <a:t>Look closely: find visible evidence for this claim — Evaluation starts with the criterion and selects evidence that can genuinely test it.</a:t>
            </a:r>
          </a:p>
        </p:txBody>
      </p:sp>
      <p:sp>
        <p:nvSpPr>
          <p:cNvPr id="7" name="key-idea-label">
            <a:extLst xmlns:a="http://schemas.openxmlformats.org/drawingml/2006/main">
              <a:ext uri="{FF2B5EF4-FFF2-40B4-BE49-F238E27FC236}">
                <a16:creationId xmlns:a16="http://schemas.microsoft.com/office/drawing/2014/main" id="{2A250564-389F-4178-82E5-A7368E1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62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C2254"/>
                </a:solidFill>
              </a:defRPr>
            </a:pPr>
            <a:r>
              <a:rPr sz="1200" b="1">
                <a:solidFill>
                  <a:srgbClr val="AC2254"/>
                </a:solidFill>
              </a:rPr>
              <a:t>THE KEY IDEA</a:t>
            </a:r>
          </a:p>
        </p:txBody>
      </p:sp>
      <p:sp>
        <p:nvSpPr>
          <p:cNvPr id="8" name="key-idea-copy">
            <a:extLst xmlns:a="http://schemas.openxmlformats.org/drawingml/2006/main">
              <a:ext uri="{FF2B5EF4-FFF2-40B4-BE49-F238E27FC236}">
                <a16:creationId xmlns:a16="http://schemas.microsoft.com/office/drawing/2014/main" id="{3979FAFF-DBAB-47D6-A022-C71940AF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4838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01C"/>
                </a:solidFill>
              </a:defRPr>
            </a:pPr>
            <a:r>
              <a:rPr sz="1500" b="0">
                <a:solidFill>
                  <a:srgbClr val="2A101C"/>
                </a:solidFill>
              </a:rPr>
              <a:t>Evaluation starts with the criterion and selects evidence that can genuinely test it. Different evidence types reveal different aspects and have limits. A reasoned judgement states the degree of success and explains why. Trade-offs and evidence limitations make an evaluation more accurate, not less successful.</a:t>
            </a:r>
          </a:p>
        </p:txBody>
      </p:sp>
      <p:sp>
        <p:nvSpPr>
          <p:cNvPr id="9" name="application-block">
            <a:extLst xmlns:a="http://schemas.openxmlformats.org/drawingml/2006/main">
              <a:ext uri="{FF2B5EF4-FFF2-40B4-BE49-F238E27FC236}">
                <a16:creationId xmlns:a16="http://schemas.microsoft.com/office/drawing/2014/main" id="{9C2C4F83-9C01-4CFB-B44D-722F79D1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4838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plication-label">
            <a:extLst xmlns:a="http://schemas.openxmlformats.org/drawingml/2006/main">
              <a:ext uri="{FF2B5EF4-FFF2-40B4-BE49-F238E27FC236}">
                <a16:creationId xmlns:a16="http://schemas.microsoft.com/office/drawing/2014/main" id="{C34B0ABA-278A-4330-86A6-A4077E14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957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C2254"/>
                </a:solidFill>
              </a:defRPr>
            </a:pPr>
            <a:r>
              <a:rPr sz="1200" b="1">
                <a:solidFill>
                  <a:srgbClr val="AC2254"/>
                </a:solidFill>
              </a:rPr>
              <a:t>USE THIS IDEA</a:t>
            </a:r>
          </a:p>
        </p:txBody>
      </p:sp>
      <p:sp>
        <p:nvSpPr>
          <p:cNvPr id="11" name="application-copy">
            <a:extLst xmlns:a="http://schemas.openxmlformats.org/drawingml/2006/main">
              <a:ext uri="{FF2B5EF4-FFF2-40B4-BE49-F238E27FC236}">
                <a16:creationId xmlns:a16="http://schemas.microsoft.com/office/drawing/2014/main" id="{98A5B883-90E4-490D-ABE1-D87155F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01C"/>
                </a:solidFill>
              </a:defRPr>
            </a:pPr>
            <a:r>
              <a:rPr sz="1350" b="0">
                <a:solidFill>
                  <a:srgbClr val="2A101C"/>
                </a:solidFill>
              </a:rPr>
              <a:t>Evaluate three confirmed apparel criteria using at least two evidence types. For each, state the degree of success and the evidence limit. Finish by explaining one trade-off without inventing a technical cause.</a:t>
            </a:r>
          </a:p>
        </p:txBody>
      </p:sp>
      <p:sp>
        <p:nvSpPr>
          <p:cNvPr id="12" name="footer-module-3">
            <a:extLst xmlns:a="http://schemas.openxmlformats.org/drawingml/2006/main">
              <a:ext uri="{FF2B5EF4-FFF2-40B4-BE49-F238E27FC236}">
                <a16:creationId xmlns:a16="http://schemas.microsoft.com/office/drawing/2014/main" id="{D1626117-2AD4-46A0-BE59-8FFF5C6D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MODULE 10 · YEAR 8 TEXTILES TECHNOLOGY</a:t>
            </a:r>
          </a:p>
        </p:txBody>
      </p:sp>
      <p:sp>
        <p:nvSpPr>
          <p:cNvPr id="13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F2229CC-F201-4216-AC7C-1B70BC1C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724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12B87B73-E72E-40BD-8562-E96305E4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4F6CB8B4-F328-42C2-8D1C-F9365741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6A61"/>
                </a:solidFill>
              </a:defRPr>
            </a:pPr>
            <a:r>
              <a:rPr sz="1125" b="1">
                <a:solidFill>
                  <a:srgbClr val="226A61"/>
                </a:solidFill>
              </a:rPr>
              <a:t>10.2 · BASE CARE INFORMATION ON EVIDENCE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28FAE8-48C7-4729-A1F5-5D66C8C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A101C"/>
                </a:solidFill>
              </a:defRPr>
            </a:pPr>
            <a:r>
              <a:rPr sz="2850" b="1">
                <a:solidFill>
                  <a:srgbClr val="2A101C"/>
                </a:solidFill>
              </a:rPr>
              <a:t>Care label and swing tag</a:t>
            </a:r>
          </a:p>
        </p:txBody>
      </p:sp>
      <p:sp>
        <p:nvSpPr>
          <p:cNvPr id="4" name="image-frame">
            <a:extLst xmlns:a="http://schemas.openxmlformats.org/drawingml/2006/main">
              <a:ext uri="{FF2B5EF4-FFF2-40B4-BE49-F238E27FC236}">
                <a16:creationId xmlns:a16="http://schemas.microsoft.com/office/drawing/2014/main" id="{E42818FE-4935-4510-AD66-EA7DBA0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04950"/>
            <a:ext cx="4953000" cy="3448050"/>
          </a:xfrm>
          <a:prstGeom xmlns:a="http://schemas.openxmlformats.org/drawingml/2006/main" prst="roundRect">
            <a:avLst>
              <a:gd name="adj" fmla="val 4972"/>
            </a:avLst>
          </a:prstGeom>
          <a:solidFill xmlns:a="http://schemas.openxmlformats.org/drawingml/2006/main">
            <a:srgbClr val="226A6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684079eba48cd"/>
          <a:srcRect xmlns:a="http://schemas.openxmlformats.org/drawingml/2006/main" l="1619" t="0" r="1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62100"/>
            <a:ext cx="48387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0D29DAC6-7329-4D88-BA89-BF76CBA5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4838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357"/>
                </a:solidFill>
              </a:defRPr>
            </a:pPr>
            <a:r>
              <a:rPr sz="1200" b="0">
                <a:solidFill>
                  <a:srgbClr val="5C5357"/>
                </a:solidFill>
              </a:rPr>
              <a:t>Look closely: find visible evidence for this claim — Care information depends on verified material, component, construction and finish evidence.</a:t>
            </a:r>
          </a:p>
        </p:txBody>
      </p:sp>
      <p:sp>
        <p:nvSpPr>
          <p:cNvPr id="7" name="key-idea-label">
            <a:extLst xmlns:a="http://schemas.openxmlformats.org/drawingml/2006/main">
              <a:ext uri="{FF2B5EF4-FFF2-40B4-BE49-F238E27FC236}">
                <a16:creationId xmlns:a16="http://schemas.microsoft.com/office/drawing/2014/main" id="{1FCBA1AA-C37D-4706-B3E2-0BE12D33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6A61"/>
                </a:solidFill>
              </a:defRPr>
            </a:pPr>
            <a:r>
              <a:rPr sz="1200" b="1">
                <a:solidFill>
                  <a:srgbClr val="226A61"/>
                </a:solidFill>
              </a:rPr>
              <a:t>THE KEY IDEA</a:t>
            </a:r>
          </a:p>
        </p:txBody>
      </p:sp>
      <p:sp>
        <p:nvSpPr>
          <p:cNvPr id="8" name="key-idea-copy">
            <a:extLst xmlns:a="http://schemas.openxmlformats.org/drawingml/2006/main">
              <a:ext uri="{FF2B5EF4-FFF2-40B4-BE49-F238E27FC236}">
                <a16:creationId xmlns:a16="http://schemas.microsoft.com/office/drawing/2014/main" id="{31198D50-7B7F-4648-B3D8-3C77D6B3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838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01C"/>
                </a:solidFill>
              </a:defRPr>
            </a:pPr>
            <a:r>
              <a:rPr sz="1500" b="0">
                <a:solidFill>
                  <a:srgbClr val="2A101C"/>
                </a:solidFill>
              </a:rPr>
              <a:t>Care information depends on verified material, component, construction and finish evidence. Care symbols and fibre statements must come from an approved current source. A swing tag communicates product identity and selected evidence-based benefits to an audience. Clear hierarchy, accurate claims, accessibility and privacy support trustworthy communication.</a:t>
            </a:r>
          </a:p>
        </p:txBody>
      </p:sp>
      <p:sp>
        <p:nvSpPr>
          <p:cNvPr id="9" name="application-block">
            <a:extLst xmlns:a="http://schemas.openxmlformats.org/drawingml/2006/main">
              <a:ext uri="{FF2B5EF4-FFF2-40B4-BE49-F238E27FC236}">
                <a16:creationId xmlns:a16="http://schemas.microsoft.com/office/drawing/2014/main" id="{D2B71987-5AC9-4A46-A7E7-0BE9AE51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838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9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plication-label">
            <a:extLst xmlns:a="http://schemas.openxmlformats.org/drawingml/2006/main">
              <a:ext uri="{FF2B5EF4-FFF2-40B4-BE49-F238E27FC236}">
                <a16:creationId xmlns:a16="http://schemas.microsoft.com/office/drawing/2014/main" id="{56E5597F-A501-47F4-8663-31B61127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957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6A61"/>
                </a:solidFill>
              </a:defRPr>
            </a:pPr>
            <a:r>
              <a:rPr sz="1200" b="1">
                <a:solidFill>
                  <a:srgbClr val="226A61"/>
                </a:solidFill>
              </a:rPr>
              <a:t>USE THIS IDEA</a:t>
            </a:r>
          </a:p>
        </p:txBody>
      </p:sp>
      <p:sp>
        <p:nvSpPr>
          <p:cNvPr id="11" name="application-copy">
            <a:extLst xmlns:a="http://schemas.openxmlformats.org/drawingml/2006/main">
              <a:ext uri="{FF2B5EF4-FFF2-40B4-BE49-F238E27FC236}">
                <a16:creationId xmlns:a16="http://schemas.microsoft.com/office/drawing/2014/main" id="{29ACB583-0C08-4EFD-A72B-96B195B6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01C"/>
                </a:solidFill>
              </a:defRPr>
            </a:pPr>
            <a:r>
              <a:rPr sz="1350" b="0">
                <a:solidFill>
                  <a:srgbClr val="2A101C"/>
                </a:solidFill>
              </a:rPr>
              <a:t>Draft a care-label information plan and swing-tag layout for the finished product. Highlight every fibre, care, origin or sustainability claim, attach its source, and move any unverified detail to a confirmation list.</a:t>
            </a:r>
          </a:p>
        </p:txBody>
      </p:sp>
      <p:sp>
        <p:nvSpPr>
          <p:cNvPr id="12" name="footer-module-4">
            <a:extLst xmlns:a="http://schemas.openxmlformats.org/drawingml/2006/main">
              <a:ext uri="{FF2B5EF4-FFF2-40B4-BE49-F238E27FC236}">
                <a16:creationId xmlns:a16="http://schemas.microsoft.com/office/drawing/2014/main" id="{2EC87770-48C5-4305-BDB9-19BE0800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MODULE 10 · YEAR 8 TEXTILES TECHNOLOGY</a:t>
            </a:r>
          </a:p>
        </p:txBody>
      </p:sp>
      <p:sp>
        <p:nvSpPr>
          <p:cNvPr id="13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0DD5BDEE-A647-4CA8-98AB-FAB35E9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78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12C804A7-1091-41CE-826B-199926A9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C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968373-2C04-45CE-AF40-B7C05D7D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C46"/>
                </a:solidFill>
              </a:defRPr>
            </a:pPr>
            <a:r>
              <a:rPr sz="1125" b="1">
                <a:solidFill>
                  <a:srgbClr val="C94C46"/>
                </a:solidFill>
              </a:rPr>
              <a:t>10.3 · REFLECT FROM EVIDENCE TO NEXT ACTION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01D86B-C264-4A5D-97B6-DF8A7C6A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A101C"/>
                </a:solidFill>
              </a:defRPr>
            </a:pPr>
            <a:r>
              <a:rPr sz="2850" b="1">
                <a:solidFill>
                  <a:srgbClr val="2A101C"/>
                </a:solidFill>
              </a:rPr>
              <a:t>Reflection, folio and collaborative showcase</a:t>
            </a:r>
          </a:p>
        </p:txBody>
      </p:sp>
      <p:sp>
        <p:nvSpPr>
          <p:cNvPr id="4" name="image-frame">
            <a:extLst xmlns:a="http://schemas.openxmlformats.org/drawingml/2006/main">
              <a:ext uri="{FF2B5EF4-FFF2-40B4-BE49-F238E27FC236}">
                <a16:creationId xmlns:a16="http://schemas.microsoft.com/office/drawing/2014/main" id="{3742789F-6745-45A7-910B-D728D96E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953000" cy="3448050"/>
          </a:xfrm>
          <a:prstGeom xmlns:a="http://schemas.openxmlformats.org/drawingml/2006/main" prst="roundRect">
            <a:avLst>
              <a:gd name="adj" fmla="val 4972"/>
            </a:avLst>
          </a:prstGeom>
          <a:solidFill xmlns:a="http://schemas.openxmlformats.org/drawingml/2006/main">
            <a:srgbClr val="C94C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2efe9d179483f"/>
          <a:srcRect xmlns:a="http://schemas.openxmlformats.org/drawingml/2006/main" l="1619" t="0" r="1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62100"/>
            <a:ext cx="48387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7B4260BD-4D58-4A57-9C13-0BC935D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838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5357"/>
                </a:solidFill>
              </a:defRPr>
            </a:pPr>
            <a:r>
              <a:rPr sz="1200" b="0">
                <a:solidFill>
                  <a:srgbClr val="5C5357"/>
                </a:solidFill>
              </a:rPr>
              <a:t>Look closely: find visible evidence for this claim — Reflection links a significant result with evidence, meaning, judgement and a specific next action.</a:t>
            </a:r>
          </a:p>
        </p:txBody>
      </p:sp>
      <p:sp>
        <p:nvSpPr>
          <p:cNvPr id="7" name="key-idea-label">
            <a:extLst xmlns:a="http://schemas.openxmlformats.org/drawingml/2006/main">
              <a:ext uri="{FF2B5EF4-FFF2-40B4-BE49-F238E27FC236}">
                <a16:creationId xmlns:a16="http://schemas.microsoft.com/office/drawing/2014/main" id="{AFC155FD-E9F8-4AA7-A1D5-CAD0751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62100"/>
            <a:ext cx="483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C46"/>
                </a:solidFill>
              </a:defRPr>
            </a:pPr>
            <a:r>
              <a:rPr sz="1200" b="1">
                <a:solidFill>
                  <a:srgbClr val="C94C46"/>
                </a:solidFill>
              </a:rPr>
              <a:t>THE KEY IDEA</a:t>
            </a:r>
          </a:p>
        </p:txBody>
      </p:sp>
      <p:sp>
        <p:nvSpPr>
          <p:cNvPr id="8" name="key-idea-copy">
            <a:extLst xmlns:a="http://schemas.openxmlformats.org/drawingml/2006/main">
              <a:ext uri="{FF2B5EF4-FFF2-40B4-BE49-F238E27FC236}">
                <a16:creationId xmlns:a16="http://schemas.microsoft.com/office/drawing/2014/main" id="{488121A1-A2D4-485B-B1D6-FFD6F776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48387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A101C"/>
                </a:solidFill>
              </a:defRPr>
            </a:pPr>
            <a:r>
              <a:rPr sz="1500" b="0">
                <a:solidFill>
                  <a:srgbClr val="2A101C"/>
                </a:solidFill>
              </a:rPr>
              <a:t>Reflection links a significant result with evidence, meaning, judgement and a specific next action. A traceable folio shows how sources and evidence shaped decisions across the whole process. Curation selects the strongest evidence and removes repetition and private information. A collaborative showcase needs agreed roles, consent, accurate credit and separation from official assessment records.</a:t>
            </a:r>
          </a:p>
        </p:txBody>
      </p:sp>
      <p:sp>
        <p:nvSpPr>
          <p:cNvPr id="9" name="application-block">
            <a:extLst xmlns:a="http://schemas.openxmlformats.org/drawingml/2006/main">
              <a:ext uri="{FF2B5EF4-FFF2-40B4-BE49-F238E27FC236}">
                <a16:creationId xmlns:a16="http://schemas.microsoft.com/office/drawing/2014/main" id="{734D059C-BB87-4F9F-938A-9964053F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4838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1D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plication-label">
            <a:extLst xmlns:a="http://schemas.openxmlformats.org/drawingml/2006/main">
              <a:ext uri="{FF2B5EF4-FFF2-40B4-BE49-F238E27FC236}">
                <a16:creationId xmlns:a16="http://schemas.microsoft.com/office/drawing/2014/main" id="{83C3E069-8406-4C60-AF21-35FCB698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957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C46"/>
                </a:solidFill>
              </a:defRPr>
            </a:pPr>
            <a:r>
              <a:rPr sz="1200" b="1">
                <a:solidFill>
                  <a:srgbClr val="C94C46"/>
                </a:solidFill>
              </a:rPr>
              <a:t>USE THIS IDEA</a:t>
            </a:r>
          </a:p>
        </p:txBody>
      </p:sp>
      <p:sp>
        <p:nvSpPr>
          <p:cNvPr id="11" name="application-copy">
            <a:extLst xmlns:a="http://schemas.openxmlformats.org/drawingml/2006/main">
              <a:ext uri="{FF2B5EF4-FFF2-40B4-BE49-F238E27FC236}">
                <a16:creationId xmlns:a16="http://schemas.microsoft.com/office/drawing/2014/main" id="{39C5614C-BA16-46E4-A9AD-989C2311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01C"/>
                </a:solidFill>
              </a:defRPr>
            </a:pPr>
            <a:r>
              <a:rPr sz="1350" b="0">
                <a:solidFill>
                  <a:srgbClr val="2A101C"/>
                </a:solidFill>
              </a:rPr>
              <a:t>Audit your folio for traceability from brief to reflection. Select one evidence chain for a showcase, remove private or controlled material, write an accessible caption and complete an agreed group role while recording one useful piece of feedback.</a:t>
            </a:r>
          </a:p>
        </p:txBody>
      </p:sp>
      <p:sp>
        <p:nvSpPr>
          <p:cNvPr id="12" name="footer-module-5">
            <a:extLst xmlns:a="http://schemas.openxmlformats.org/drawingml/2006/main">
              <a:ext uri="{FF2B5EF4-FFF2-40B4-BE49-F238E27FC236}">
                <a16:creationId xmlns:a16="http://schemas.microsoft.com/office/drawing/2014/main" id="{A8596781-5C2F-4407-9E0E-166640D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MODULE 10 · YEAR 8 TEXTILES TECHNOLOGY</a:t>
            </a:r>
          </a:p>
        </p:txBody>
      </p:sp>
      <p:sp>
        <p:nvSpPr>
          <p:cNvPr id="13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F5E5AD5D-5E3D-4688-A701-F3FE4314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7218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721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07B9C7-5ED9-42E0-AE61-1CF66C5D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2" name="retrieval-instruction">
            <a:extLst xmlns:a="http://schemas.openxmlformats.org/drawingml/2006/main">
              <a:ext uri="{FF2B5EF4-FFF2-40B4-BE49-F238E27FC236}">
                <a16:creationId xmlns:a16="http://schemas.microsoft.com/office/drawing/2014/main" id="{D706D14D-18D3-4AEA-A611-480F10D6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3DCE5"/>
                </a:solidFill>
              </a:defRPr>
            </a:pPr>
            <a:r>
              <a:rPr sz="1500" b="0">
                <a:solidFill>
                  <a:srgbClr val="F3DCE5"/>
                </a:solidFill>
              </a:rPr>
              <a:t>Correct or improve each claim, then support your answer with evidence from the module.</a:t>
            </a:r>
          </a:p>
        </p:txBody>
      </p:sp>
      <p:sp>
        <p:nvSpPr>
          <p:cNvPr id="3" name="retrieval-number-bg-1">
            <a:extLst xmlns:a="http://schemas.openxmlformats.org/drawingml/2006/main">
              <a:ext uri="{FF2B5EF4-FFF2-40B4-BE49-F238E27FC236}">
                <a16:creationId xmlns:a16="http://schemas.microsoft.com/office/drawing/2014/main" id="{F8C2F541-35C7-440B-B345-48E6E377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trieval-number-1">
            <a:extLst xmlns:a="http://schemas.openxmlformats.org/drawingml/2006/main">
              <a:ext uri="{FF2B5EF4-FFF2-40B4-BE49-F238E27FC236}">
                <a16:creationId xmlns:a16="http://schemas.microsoft.com/office/drawing/2014/main" id="{928BF09B-8364-4F55-B066-BC0DDB7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21735"/>
                </a:solidFill>
              </a:defRPr>
            </a:pPr>
            <a:r>
              <a:rPr sz="1425" b="1">
                <a:solidFill>
                  <a:srgbClr val="721735"/>
                </a:solidFill>
              </a:rPr>
              <a:t>1</a:t>
            </a:r>
          </a:p>
        </p:txBody>
      </p:sp>
      <p:sp>
        <p:nvSpPr>
          <p:cNvPr id="5" name="retrieval-question-1">
            <a:extLst xmlns:a="http://schemas.openxmlformats.org/drawingml/2006/main">
              <a:ext uri="{FF2B5EF4-FFF2-40B4-BE49-F238E27FC236}">
                <a16:creationId xmlns:a16="http://schemas.microsoft.com/office/drawing/2014/main" id="{4BDF0D0D-0732-4D5A-A03D-025185DE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Correct or improve: “A successful project should receive a positive judgement for every criterion.”</a:t>
            </a:r>
          </a:p>
        </p:txBody>
      </p:sp>
      <p:sp>
        <p:nvSpPr>
          <p:cNvPr id="6" name="retrieval-rule-1">
            <a:extLst xmlns:a="http://schemas.openxmlformats.org/drawingml/2006/main">
              <a:ext uri="{FF2B5EF4-FFF2-40B4-BE49-F238E27FC236}">
                <a16:creationId xmlns:a16="http://schemas.microsoft.com/office/drawing/2014/main" id="{B6B4F692-01B5-4FCF-88B0-F640B08D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5747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trieval-number-bg-2">
            <a:extLst xmlns:a="http://schemas.openxmlformats.org/drawingml/2006/main">
              <a:ext uri="{FF2B5EF4-FFF2-40B4-BE49-F238E27FC236}">
                <a16:creationId xmlns:a16="http://schemas.microsoft.com/office/drawing/2014/main" id="{85360627-87D5-4AF3-9415-99767DC3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trieval-number-2">
            <a:extLst xmlns:a="http://schemas.openxmlformats.org/drawingml/2006/main">
              <a:ext uri="{FF2B5EF4-FFF2-40B4-BE49-F238E27FC236}">
                <a16:creationId xmlns:a16="http://schemas.microsoft.com/office/drawing/2014/main" id="{20E100CD-2A8F-4F2D-BC6B-ED74A4A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21735"/>
                </a:solidFill>
              </a:defRPr>
            </a:pPr>
            <a:r>
              <a:rPr sz="1425" b="1">
                <a:solidFill>
                  <a:srgbClr val="721735"/>
                </a:solidFill>
              </a:rPr>
              <a:t>2</a:t>
            </a:r>
          </a:p>
        </p:txBody>
      </p:sp>
      <p:sp>
        <p:nvSpPr>
          <p:cNvPr id="9" name="retrieval-question-2">
            <a:extLst xmlns:a="http://schemas.openxmlformats.org/drawingml/2006/main">
              <a:ext uri="{FF2B5EF4-FFF2-40B4-BE49-F238E27FC236}">
                <a16:creationId xmlns:a16="http://schemas.microsoft.com/office/drawing/2014/main" id="{87C7AD0E-5E9E-4131-B547-3287731B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43225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Correct or improve: “Care symbols are simple pictures, so their meanings can be guessed.”</a:t>
            </a:r>
          </a:p>
        </p:txBody>
      </p:sp>
      <p:sp>
        <p:nvSpPr>
          <p:cNvPr id="10" name="retrieval-rule-2">
            <a:extLst xmlns:a="http://schemas.openxmlformats.org/drawingml/2006/main">
              <a:ext uri="{FF2B5EF4-FFF2-40B4-BE49-F238E27FC236}">
                <a16:creationId xmlns:a16="http://schemas.microsoft.com/office/drawing/2014/main" id="{20FAD82E-D2B6-40BB-8AEF-68EFAA86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trieval-number-bg-3">
            <a:extLst xmlns:a="http://schemas.openxmlformats.org/drawingml/2006/main">
              <a:ext uri="{FF2B5EF4-FFF2-40B4-BE49-F238E27FC236}">
                <a16:creationId xmlns:a16="http://schemas.microsoft.com/office/drawing/2014/main" id="{5A76B741-9E0E-479D-9D7C-CCE053B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trieval-number-3">
            <a:extLst xmlns:a="http://schemas.openxmlformats.org/drawingml/2006/main">
              <a:ext uri="{FF2B5EF4-FFF2-40B4-BE49-F238E27FC236}">
                <a16:creationId xmlns:a16="http://schemas.microsoft.com/office/drawing/2014/main" id="{BFB49A57-E8DF-46BE-BA8E-2C55FCE6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21735"/>
                </a:solidFill>
              </a:defRPr>
            </a:pPr>
            <a:r>
              <a:rPr sz="1425" b="1">
                <a:solidFill>
                  <a:srgbClr val="721735"/>
                </a:solidFill>
              </a:rPr>
              <a:t>3</a:t>
            </a:r>
          </a:p>
        </p:txBody>
      </p:sp>
      <p:sp>
        <p:nvSpPr>
          <p:cNvPr id="13" name="retrieval-question-3">
            <a:extLst xmlns:a="http://schemas.openxmlformats.org/drawingml/2006/main">
              <a:ext uri="{FF2B5EF4-FFF2-40B4-BE49-F238E27FC236}">
                <a16:creationId xmlns:a16="http://schemas.microsoft.com/office/drawing/2014/main" id="{5A14C3AB-655D-4498-BAA0-745B7DE3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Correct or improve: “A folio is strongest when it includes every photo and worksheet.”</a:t>
            </a:r>
          </a:p>
        </p:txBody>
      </p:sp>
      <p:sp>
        <p:nvSpPr>
          <p:cNvPr id="14" name="retrieval-rule-3">
            <a:extLst xmlns:a="http://schemas.openxmlformats.org/drawingml/2006/main">
              <a:ext uri="{FF2B5EF4-FFF2-40B4-BE49-F238E27FC236}">
                <a16:creationId xmlns:a16="http://schemas.microsoft.com/office/drawing/2014/main" id="{CE195076-1B55-4001-BAB0-242C22AC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trieval-number-bg-4">
            <a:extLst xmlns:a="http://schemas.openxmlformats.org/drawingml/2006/main">
              <a:ext uri="{FF2B5EF4-FFF2-40B4-BE49-F238E27FC236}">
                <a16:creationId xmlns:a16="http://schemas.microsoft.com/office/drawing/2014/main" id="{C90AF87D-AECE-451B-9AB4-F35803F6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trieval-number-4">
            <a:extLst xmlns:a="http://schemas.openxmlformats.org/drawingml/2006/main">
              <a:ext uri="{FF2B5EF4-FFF2-40B4-BE49-F238E27FC236}">
                <a16:creationId xmlns:a16="http://schemas.microsoft.com/office/drawing/2014/main" id="{4781FA23-C783-46F3-86A3-ECB93D26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21735"/>
                </a:solidFill>
              </a:defRPr>
            </a:pPr>
            <a:r>
              <a:rPr sz="1425" b="1">
                <a:solidFill>
                  <a:srgbClr val="721735"/>
                </a:solidFill>
              </a:rPr>
              <a:t>4</a:t>
            </a:r>
          </a:p>
        </p:txBody>
      </p:sp>
      <p:sp>
        <p:nvSpPr>
          <p:cNvPr id="17" name="retrieval-question-4">
            <a:extLst xmlns:a="http://schemas.openxmlformats.org/drawingml/2006/main">
              <a:ext uri="{FF2B5EF4-FFF2-40B4-BE49-F238E27FC236}">
                <a16:creationId xmlns:a16="http://schemas.microsoft.com/office/drawing/2014/main" id="{BB0A4E2A-B365-43EA-88FE-E765471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Connect two ideas: how could one change a decision made with the other?</a:t>
            </a:r>
          </a:p>
        </p:txBody>
      </p:sp>
      <p:sp>
        <p:nvSpPr>
          <p:cNvPr id="18" name="footer-module-6">
            <a:extLst xmlns:a="http://schemas.openxmlformats.org/drawingml/2006/main">
              <a:ext uri="{FF2B5EF4-FFF2-40B4-BE49-F238E27FC236}">
                <a16:creationId xmlns:a16="http://schemas.microsoft.com/office/drawing/2014/main" id="{6E786A72-52D2-419A-AAEA-F2BBE1F9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CE5"/>
                </a:solidFill>
              </a:defRPr>
            </a:pPr>
            <a:r>
              <a:rPr sz="900" b="1">
                <a:solidFill>
                  <a:srgbClr val="F5DCE5"/>
                </a:solidFill>
              </a:rPr>
              <a:t>MODULE 10 · YEAR 8 TEXTILES TECHNOLOGY</a:t>
            </a:r>
          </a:p>
        </p:txBody>
      </p:sp>
      <p:sp>
        <p:nvSpPr>
          <p:cNvPr id="19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29D567F4-C485-4F9F-A3B1-EFA30C47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DCE5"/>
                </a:solidFill>
              </a:defRPr>
            </a:pPr>
            <a:r>
              <a:rPr sz="900" b="1">
                <a:solidFill>
                  <a:srgbClr val="F5DCE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6277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ED70D878-CE31-4037-A4F9-CE613BA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D935AC-F604-4A14-94CC-BEB9F98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A101C"/>
                </a:solidFill>
              </a:defRPr>
            </a:pPr>
            <a:r>
              <a:rPr sz="3000" b="1">
                <a:solidFill>
                  <a:srgbClr val="2A101C"/>
                </a:solidFill>
              </a:rPr>
              <a:t>Read → Select → Explain → Check</a:t>
            </a:r>
          </a:p>
        </p:txBody>
      </p:sp>
      <p:sp>
        <p:nvSpPr>
          <p:cNvPr id="3" name="guided-question">
            <a:extLst xmlns:a="http://schemas.openxmlformats.org/drawingml/2006/main">
              <a:ext uri="{FF2B5EF4-FFF2-40B4-BE49-F238E27FC236}">
                <a16:creationId xmlns:a16="http://schemas.microsoft.com/office/drawing/2014/main" id="{7075BFA2-F3F3-4709-9908-8093C2AC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5357"/>
                </a:solidFill>
              </a:defRPr>
            </a:pPr>
            <a:r>
              <a:rPr sz="1500" b="0">
                <a:solidFill>
                  <a:srgbClr val="5C5357"/>
                </a:solidFill>
              </a:rPr>
              <a:t>Present one traceable learning story from source or brief through design, production evidence, evaluation and improvement, then explain your contribution to a respectful collaborative showcase.</a:t>
            </a:r>
          </a:p>
        </p:txBody>
      </p:sp>
      <p:sp>
        <p:nvSpPr>
          <p:cNvPr id="4" name="response-number-1">
            <a:extLst xmlns:a="http://schemas.openxmlformats.org/drawingml/2006/main">
              <a:ext uri="{FF2B5EF4-FFF2-40B4-BE49-F238E27FC236}">
                <a16:creationId xmlns:a16="http://schemas.microsoft.com/office/drawing/2014/main" id="{101D8DB5-8585-4AF7-B5D1-18CA8B0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721735"/>
                </a:solidFill>
              </a:defRPr>
            </a:pPr>
            <a:r>
              <a:rPr sz="2700" b="1">
                <a:solidFill>
                  <a:srgbClr val="721735"/>
                </a:solidFill>
              </a:rPr>
              <a:t>1</a:t>
            </a:r>
          </a:p>
        </p:txBody>
      </p:sp>
      <p:sp>
        <p:nvSpPr>
          <p:cNvPr id="5" name="response-label-1">
            <a:extLst xmlns:a="http://schemas.openxmlformats.org/drawingml/2006/main">
              <a:ext uri="{FF2B5EF4-FFF2-40B4-BE49-F238E27FC236}">
                <a16:creationId xmlns:a16="http://schemas.microsoft.com/office/drawing/2014/main" id="{B342536B-2461-4BB8-9E43-F813712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21735"/>
                </a:solidFill>
              </a:defRPr>
            </a:pPr>
            <a:r>
              <a:rPr sz="1650" b="1">
                <a:solidFill>
                  <a:srgbClr val="721735"/>
                </a:solidFill>
              </a:rPr>
              <a:t>READ</a:t>
            </a:r>
          </a:p>
        </p:txBody>
      </p:sp>
      <p:sp>
        <p:nvSpPr>
          <p:cNvPr id="6" name="response-step-1">
            <a:extLst xmlns:a="http://schemas.openxmlformats.org/drawingml/2006/main">
              <a:ext uri="{FF2B5EF4-FFF2-40B4-BE49-F238E27FC236}">
                <a16:creationId xmlns:a16="http://schemas.microsoft.com/office/drawing/2014/main" id="{985178C5-AA76-4D40-8E28-B28935FF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343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01C"/>
                </a:solidFill>
              </a:defRPr>
            </a:pPr>
            <a:r>
              <a:rPr sz="1350" b="0">
                <a:solidFill>
                  <a:srgbClr val="2A101C"/>
                </a:solidFill>
              </a:rPr>
              <a:t>Underline the task word and the exact context.</a:t>
            </a:r>
          </a:p>
        </p:txBody>
      </p:sp>
      <p:sp>
        <p:nvSpPr>
          <p:cNvPr id="7" name="response-arrow-1">
            <a:extLst xmlns:a="http://schemas.openxmlformats.org/drawingml/2006/main">
              <a:ext uri="{FF2B5EF4-FFF2-40B4-BE49-F238E27FC236}">
                <a16:creationId xmlns:a16="http://schemas.microsoft.com/office/drawing/2014/main" id="{DA6DC493-4F22-4607-8BF2-C8A2CED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4325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7A9AE"/>
                </a:solidFill>
              </a:defRPr>
            </a:pPr>
            <a:r>
              <a:rPr sz="2400" b="1">
                <a:solidFill>
                  <a:srgbClr val="B7A9AE"/>
                </a:solidFill>
              </a:rPr>
              <a:t>→</a:t>
            </a:r>
          </a:p>
        </p:txBody>
      </p:sp>
      <p:sp>
        <p:nvSpPr>
          <p:cNvPr id="8" name="response-number-2">
            <a:extLst xmlns:a="http://schemas.openxmlformats.org/drawingml/2006/main">
              <a:ext uri="{FF2B5EF4-FFF2-40B4-BE49-F238E27FC236}">
                <a16:creationId xmlns:a16="http://schemas.microsoft.com/office/drawing/2014/main" id="{1BD9B582-70C4-4B58-B87F-33B2E64A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C2254"/>
                </a:solidFill>
              </a:defRPr>
            </a:pPr>
            <a:r>
              <a:rPr sz="2700" b="1">
                <a:solidFill>
                  <a:srgbClr val="AC2254"/>
                </a:solidFill>
              </a:rPr>
              <a:t>2</a:t>
            </a:r>
          </a:p>
        </p:txBody>
      </p:sp>
      <p:sp>
        <p:nvSpPr>
          <p:cNvPr id="9" name="response-label-2">
            <a:extLst xmlns:a="http://schemas.openxmlformats.org/drawingml/2006/main">
              <a:ext uri="{FF2B5EF4-FFF2-40B4-BE49-F238E27FC236}">
                <a16:creationId xmlns:a16="http://schemas.microsoft.com/office/drawing/2014/main" id="{CB39155A-9731-476E-9506-158C984C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C2254"/>
                </a:solidFill>
              </a:defRPr>
            </a:pPr>
            <a:r>
              <a:rPr sz="1650" b="1">
                <a:solidFill>
                  <a:srgbClr val="AC2254"/>
                </a:solidFill>
              </a:rPr>
              <a:t>SELECT</a:t>
            </a:r>
          </a:p>
        </p:txBody>
      </p:sp>
      <p:sp>
        <p:nvSpPr>
          <p:cNvPr id="10" name="response-step-2">
            <a:extLst xmlns:a="http://schemas.openxmlformats.org/drawingml/2006/main">
              <a:ext uri="{FF2B5EF4-FFF2-40B4-BE49-F238E27FC236}">
                <a16:creationId xmlns:a16="http://schemas.microsoft.com/office/drawing/2014/main" id="{8B398BBC-318B-4797-9050-8F6D8257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343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01C"/>
                </a:solidFill>
              </a:defRPr>
            </a:pPr>
            <a:r>
              <a:rPr sz="1350" b="0">
                <a:solidFill>
                  <a:srgbClr val="2A101C"/>
                </a:solidFill>
              </a:rPr>
              <a:t>Choose theory and project evidence that answers it.</a:t>
            </a:r>
          </a:p>
        </p:txBody>
      </p:sp>
      <p:sp>
        <p:nvSpPr>
          <p:cNvPr id="11" name="response-arrow-2">
            <a:extLst xmlns:a="http://schemas.openxmlformats.org/drawingml/2006/main">
              <a:ext uri="{FF2B5EF4-FFF2-40B4-BE49-F238E27FC236}">
                <a16:creationId xmlns:a16="http://schemas.microsoft.com/office/drawing/2014/main" id="{0EB2F26B-F0F9-4750-988C-E198B8E5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7A9AE"/>
                </a:solidFill>
              </a:defRPr>
            </a:pPr>
            <a:r>
              <a:rPr sz="2400" b="1">
                <a:solidFill>
                  <a:srgbClr val="B7A9AE"/>
                </a:solidFill>
              </a:rPr>
              <a:t>→</a:t>
            </a:r>
          </a:p>
        </p:txBody>
      </p:sp>
      <p:sp>
        <p:nvSpPr>
          <p:cNvPr id="12" name="response-number-3">
            <a:extLst xmlns:a="http://schemas.openxmlformats.org/drawingml/2006/main">
              <a:ext uri="{FF2B5EF4-FFF2-40B4-BE49-F238E27FC236}">
                <a16:creationId xmlns:a16="http://schemas.microsoft.com/office/drawing/2014/main" id="{BB56F5AC-7828-4D43-B8FB-8BD2494F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6A238"/>
                </a:solidFill>
              </a:defRPr>
            </a:pPr>
            <a:r>
              <a:rPr sz="2700" b="1">
                <a:solidFill>
                  <a:srgbClr val="D6A238"/>
                </a:solidFill>
              </a:rPr>
              <a:t>3</a:t>
            </a:r>
          </a:p>
        </p:txBody>
      </p:sp>
      <p:sp>
        <p:nvSpPr>
          <p:cNvPr id="13" name="response-label-3">
            <a:extLst xmlns:a="http://schemas.openxmlformats.org/drawingml/2006/main">
              <a:ext uri="{FF2B5EF4-FFF2-40B4-BE49-F238E27FC236}">
                <a16:creationId xmlns:a16="http://schemas.microsoft.com/office/drawing/2014/main" id="{86DE03B9-1D0E-422B-AD58-11C0B938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0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238"/>
                </a:solidFill>
              </a:defRPr>
            </a:pPr>
            <a:r>
              <a:rPr sz="1650" b="1">
                <a:solidFill>
                  <a:srgbClr val="D6A238"/>
                </a:solidFill>
              </a:rPr>
              <a:t>EXPLAIN</a:t>
            </a:r>
          </a:p>
        </p:txBody>
      </p:sp>
      <p:sp>
        <p:nvSpPr>
          <p:cNvPr id="14" name="response-step-3">
            <a:extLst xmlns:a="http://schemas.openxmlformats.org/drawingml/2006/main">
              <a:ext uri="{FF2B5EF4-FFF2-40B4-BE49-F238E27FC236}">
                <a16:creationId xmlns:a16="http://schemas.microsoft.com/office/drawing/2014/main" id="{240CF705-22D1-405C-9423-6ACF8885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2343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01C"/>
                </a:solidFill>
              </a:defRPr>
            </a:pPr>
            <a:r>
              <a:rPr sz="1350" b="0">
                <a:solidFill>
                  <a:srgbClr val="2A101C"/>
                </a:solidFill>
              </a:rPr>
              <a:t>Connect the evidence to a reason, effect or judgement.</a:t>
            </a:r>
          </a:p>
        </p:txBody>
      </p:sp>
      <p:sp>
        <p:nvSpPr>
          <p:cNvPr id="15" name="response-arrow-3">
            <a:extLst xmlns:a="http://schemas.openxmlformats.org/drawingml/2006/main">
              <a:ext uri="{FF2B5EF4-FFF2-40B4-BE49-F238E27FC236}">
                <a16:creationId xmlns:a16="http://schemas.microsoft.com/office/drawing/2014/main" id="{92B11CD3-6D8F-48B6-A88D-4DEA6E0D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4325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7A9AE"/>
                </a:solidFill>
              </a:defRPr>
            </a:pPr>
            <a:r>
              <a:rPr sz="2400" b="1">
                <a:solidFill>
                  <a:srgbClr val="B7A9AE"/>
                </a:solidFill>
              </a:rPr>
              <a:t>→</a:t>
            </a:r>
          </a:p>
        </p:txBody>
      </p:sp>
      <p:sp>
        <p:nvSpPr>
          <p:cNvPr id="16" name="response-number-4">
            <a:extLst xmlns:a="http://schemas.openxmlformats.org/drawingml/2006/main">
              <a:ext uri="{FF2B5EF4-FFF2-40B4-BE49-F238E27FC236}">
                <a16:creationId xmlns:a16="http://schemas.microsoft.com/office/drawing/2014/main" id="{23A26268-CF3B-43AA-A9D3-7690ACEF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6A61"/>
                </a:solidFill>
              </a:defRPr>
            </a:pPr>
            <a:r>
              <a:rPr sz="2700" b="1">
                <a:solidFill>
                  <a:srgbClr val="226A61"/>
                </a:solidFill>
              </a:rPr>
              <a:t>4</a:t>
            </a:r>
          </a:p>
        </p:txBody>
      </p:sp>
      <p:sp>
        <p:nvSpPr>
          <p:cNvPr id="17" name="response-label-4">
            <a:extLst xmlns:a="http://schemas.openxmlformats.org/drawingml/2006/main">
              <a:ext uri="{FF2B5EF4-FFF2-40B4-BE49-F238E27FC236}">
                <a16:creationId xmlns:a16="http://schemas.microsoft.com/office/drawing/2014/main" id="{11934881-CF38-425D-BB6B-44CE3C4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6A61"/>
                </a:solidFill>
              </a:defRPr>
            </a:pPr>
            <a:r>
              <a:rPr sz="1650" b="1">
                <a:solidFill>
                  <a:srgbClr val="226A61"/>
                </a:solidFill>
              </a:rPr>
              <a:t>CHECK</a:t>
            </a:r>
          </a:p>
        </p:txBody>
      </p:sp>
      <p:sp>
        <p:nvSpPr>
          <p:cNvPr id="18" name="response-step-4">
            <a:extLst xmlns:a="http://schemas.openxmlformats.org/drawingml/2006/main">
              <a:ext uri="{FF2B5EF4-FFF2-40B4-BE49-F238E27FC236}">
                <a16:creationId xmlns:a16="http://schemas.microsoft.com/office/drawing/2014/main" id="{778D2B1E-9384-46B0-AC63-77836293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343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A101C"/>
                </a:solidFill>
              </a:defRPr>
            </a:pPr>
            <a:r>
              <a:rPr sz="1350" b="0">
                <a:solidFill>
                  <a:srgbClr val="2A101C"/>
                </a:solidFill>
              </a:rPr>
              <a:t>Compare the response with the two success criteria.</a:t>
            </a:r>
          </a:p>
        </p:txBody>
      </p:sp>
      <p:sp>
        <p:nvSpPr>
          <p:cNvPr id="19" name="sentence-support">
            <a:extLst xmlns:a="http://schemas.openxmlformats.org/drawingml/2006/main">
              <a:ext uri="{FF2B5EF4-FFF2-40B4-BE49-F238E27FC236}">
                <a16:creationId xmlns:a16="http://schemas.microsoft.com/office/drawing/2014/main" id="{E45DE5EF-7098-41AF-881D-1CC0D31C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721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entence-support-label">
            <a:extLst xmlns:a="http://schemas.openxmlformats.org/drawingml/2006/main">
              <a:ext uri="{FF2B5EF4-FFF2-40B4-BE49-F238E27FC236}">
                <a16:creationId xmlns:a16="http://schemas.microsoft.com/office/drawing/2014/main" id="{713948E4-CC40-4F02-8959-93FF3E53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A238"/>
                </a:solidFill>
              </a:defRPr>
            </a:pPr>
            <a:r>
              <a:rPr sz="1125" b="1">
                <a:solidFill>
                  <a:srgbClr val="D6A238"/>
                </a:solidFill>
              </a:rPr>
              <a:t>SENTENCE SUPPORT</a:t>
            </a:r>
          </a:p>
        </p:txBody>
      </p:sp>
      <p:sp>
        <p:nvSpPr>
          <p:cNvPr id="21" name="sentence-stem">
            <a:extLst xmlns:a="http://schemas.openxmlformats.org/drawingml/2006/main">
              <a:ext uri="{FF2B5EF4-FFF2-40B4-BE49-F238E27FC236}">
                <a16:creationId xmlns:a16="http://schemas.microsoft.com/office/drawing/2014/main" id="{C3E1A5FB-1AE1-4688-B95A-3C9203FE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decision I would make is ___ because evidence from ___ shows ___. I would check it by ___.</a:t>
            </a:r>
          </a:p>
        </p:txBody>
      </p:sp>
      <p:sp>
        <p:nvSpPr>
          <p:cNvPr id="22" name="footer-module-7">
            <a:extLst xmlns:a="http://schemas.openxmlformats.org/drawingml/2006/main">
              <a:ext uri="{FF2B5EF4-FFF2-40B4-BE49-F238E27FC236}">
                <a16:creationId xmlns:a16="http://schemas.microsoft.com/office/drawing/2014/main" id="{814AF65C-B8A6-4E85-AE98-8553F38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MODULE 10 · YEAR 8 TEXTILES TECHNOLOGY</a:t>
            </a:r>
          </a:p>
        </p:txBody>
      </p:sp>
      <p:sp>
        <p:nvSpPr>
          <p:cNvPr id="23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A6FA1098-AB65-433F-ABC5-B265B6BA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A6D72"/>
                </a:solidFill>
              </a:defRPr>
            </a:pPr>
            <a:r>
              <a:rPr sz="900" b="1">
                <a:solidFill>
                  <a:srgbClr val="7A6D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67133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26A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80BC93-9532-4A28-9ECA-1D4164B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leave…</a:t>
            </a:r>
          </a:p>
        </p:txBody>
      </p:sp>
      <p:sp>
        <p:nvSpPr>
          <p:cNvPr id="2" name="exit-number-1">
            <a:extLst xmlns:a="http://schemas.openxmlformats.org/drawingml/2006/main">
              <a:ext uri="{FF2B5EF4-FFF2-40B4-BE49-F238E27FC236}">
                <a16:creationId xmlns:a16="http://schemas.microsoft.com/office/drawing/2014/main" id="{DA3F1FFF-4FDC-4E05-B1E7-D62993C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238"/>
                </a:solidFill>
              </a:defRPr>
            </a:pPr>
            <a:r>
              <a:rPr sz="2100" b="1">
                <a:solidFill>
                  <a:srgbClr val="D6A238"/>
                </a:solidFill>
              </a:rPr>
              <a:t>1.</a:t>
            </a:r>
          </a:p>
        </p:txBody>
      </p:sp>
      <p:sp>
        <p:nvSpPr>
          <p:cNvPr id="3" name="exit-prompt-1">
            <a:extLst xmlns:a="http://schemas.openxmlformats.org/drawingml/2006/main">
              <a:ext uri="{FF2B5EF4-FFF2-40B4-BE49-F238E27FC236}">
                <a16:creationId xmlns:a16="http://schemas.microsoft.com/office/drawing/2014/main" id="{67E00A17-F261-4705-8DAD-5CFA3941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764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idea I can now explain is…</a:t>
            </a:r>
          </a:p>
        </p:txBody>
      </p:sp>
      <p:sp>
        <p:nvSpPr>
          <p:cNvPr id="4" name="exit-rule-1">
            <a:extLst xmlns:a="http://schemas.openxmlformats.org/drawingml/2006/main">
              <a:ext uri="{FF2B5EF4-FFF2-40B4-BE49-F238E27FC236}">
                <a16:creationId xmlns:a16="http://schemas.microsoft.com/office/drawing/2014/main" id="{9623A1CF-CC5C-4E38-B910-68693E07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9075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xit-number-2">
            <a:extLst xmlns:a="http://schemas.openxmlformats.org/drawingml/2006/main">
              <a:ext uri="{FF2B5EF4-FFF2-40B4-BE49-F238E27FC236}">
                <a16:creationId xmlns:a16="http://schemas.microsoft.com/office/drawing/2014/main" id="{11D7E47F-389C-4E05-B8CC-FE8743C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238"/>
                </a:solidFill>
              </a:defRPr>
            </a:pPr>
            <a:r>
              <a:rPr sz="2100" b="1">
                <a:solidFill>
                  <a:srgbClr val="D6A238"/>
                </a:solidFill>
              </a:rPr>
              <a:t>2.</a:t>
            </a:r>
          </a:p>
        </p:txBody>
      </p:sp>
      <p:sp>
        <p:nvSpPr>
          <p:cNvPr id="6" name="exit-prompt-2">
            <a:extLst xmlns:a="http://schemas.openxmlformats.org/drawingml/2006/main">
              <a:ext uri="{FF2B5EF4-FFF2-40B4-BE49-F238E27FC236}">
                <a16:creationId xmlns:a16="http://schemas.microsoft.com/office/drawing/2014/main" id="{CE651EEB-72AA-46BE-9726-C1206B29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65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practical or design decision this changes is…</a:t>
            </a:r>
          </a:p>
        </p:txBody>
      </p:sp>
      <p:sp>
        <p:nvSpPr>
          <p:cNvPr id="7" name="exit-rule-2">
            <a:extLst xmlns:a="http://schemas.openxmlformats.org/drawingml/2006/main">
              <a:ext uri="{FF2B5EF4-FFF2-40B4-BE49-F238E27FC236}">
                <a16:creationId xmlns:a16="http://schemas.microsoft.com/office/drawing/2014/main" id="{6C78BFC8-B6EC-43F4-8C89-4FF2F5F0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90875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it-number-3">
            <a:extLst xmlns:a="http://schemas.openxmlformats.org/drawingml/2006/main">
              <a:ext uri="{FF2B5EF4-FFF2-40B4-BE49-F238E27FC236}">
                <a16:creationId xmlns:a16="http://schemas.microsoft.com/office/drawing/2014/main" id="{E1F23AB0-EBA4-4171-8458-7309B5A2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238"/>
                </a:solidFill>
              </a:defRPr>
            </a:pPr>
            <a:r>
              <a:rPr sz="2100" b="1">
                <a:solidFill>
                  <a:srgbClr val="D6A238"/>
                </a:solidFill>
              </a:rPr>
              <a:t>3.</a:t>
            </a:r>
          </a:p>
        </p:txBody>
      </p:sp>
      <p:sp>
        <p:nvSpPr>
          <p:cNvPr id="9" name="exit-prompt-3">
            <a:extLst xmlns:a="http://schemas.openxmlformats.org/drawingml/2006/main">
              <a:ext uri="{FF2B5EF4-FFF2-40B4-BE49-F238E27FC236}">
                <a16:creationId xmlns:a16="http://schemas.microsoft.com/office/drawing/2014/main" id="{491D9AAF-00B0-4AAA-94B6-A7B18093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question or check I still need is…</a:t>
            </a:r>
          </a:p>
        </p:txBody>
      </p:sp>
      <p:sp>
        <p:nvSpPr>
          <p:cNvPr id="10" name="exit-rule-3">
            <a:extLst xmlns:a="http://schemas.openxmlformats.org/drawingml/2006/main">
              <a:ext uri="{FF2B5EF4-FFF2-40B4-BE49-F238E27FC236}">
                <a16:creationId xmlns:a16="http://schemas.microsoft.com/office/drawing/2014/main" id="{286ABBFA-38A1-4B3C-AB53-AD86D1A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910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C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vidence-destination">
            <a:extLst xmlns:a="http://schemas.openxmlformats.org/drawingml/2006/main">
              <a:ext uri="{FF2B5EF4-FFF2-40B4-BE49-F238E27FC236}">
                <a16:creationId xmlns:a16="http://schemas.microsoft.com/office/drawing/2014/main" id="{A57DAD1D-2462-4961-8226-3B1E5F42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8572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1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990DA36A-0949-41A9-ABAF-0538EE5C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A238"/>
                </a:solidFill>
              </a:defRPr>
            </a:pPr>
            <a:r>
              <a:rPr sz="1125" b="1">
                <a:solidFill>
                  <a:srgbClr val="D6A238"/>
                </a:solidFill>
              </a:rPr>
              <a:t>EVIDENCE DESTINATION</a:t>
            </a:r>
          </a:p>
        </p:txBody>
      </p:sp>
      <p:sp>
        <p:nvSpPr>
          <p:cNvPr id="13" name="evidence-copy">
            <a:extLst xmlns:a="http://schemas.openxmlformats.org/drawingml/2006/main">
              <a:ext uri="{FF2B5EF4-FFF2-40B4-BE49-F238E27FC236}">
                <a16:creationId xmlns:a16="http://schemas.microsoft.com/office/drawing/2014/main" id="{7A9C8876-E616-41E5-8605-823C5481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Complete the three learning packages and save your response on this module page.</a:t>
            </a:r>
          </a:p>
        </p:txBody>
      </p:sp>
      <p:sp>
        <p:nvSpPr>
          <p:cNvPr id="14" name="save-work-circle">
            <a:extLst xmlns:a="http://schemas.openxmlformats.org/drawingml/2006/main">
              <a:ext uri="{FF2B5EF4-FFF2-40B4-BE49-F238E27FC236}">
                <a16:creationId xmlns:a16="http://schemas.microsoft.com/office/drawing/2014/main" id="{6E06521A-DBDD-4C5B-8887-28FDC0C6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38350"/>
            <a:ext cx="142875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ave-work-text">
            <a:extLst xmlns:a="http://schemas.openxmlformats.org/drawingml/2006/main">
              <a:ext uri="{FF2B5EF4-FFF2-40B4-BE49-F238E27FC236}">
                <a16:creationId xmlns:a16="http://schemas.microsoft.com/office/drawing/2014/main" id="{4C183C8D-9AF4-4F56-81C3-864649CF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33625"/>
            <a:ext cx="971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A101C"/>
                </a:solidFill>
              </a:defRPr>
            </a:pPr>
            <a:r>
              <a:rPr sz="1650" b="1">
                <a:solidFill>
                  <a:srgbClr val="2A101C"/>
                </a:solidFill>
              </a:rPr>
              <a:t>SAVE</a:t>
            </a:r>
          </a:p>
          <a:p xmlns:a="http://schemas.openxmlformats.org/drawingml/2006/main">
            <a:pPr algn="ctr">
              <a:defRPr sz="1650" b="1">
                <a:solidFill>
                  <a:srgbClr val="2A101C"/>
                </a:solidFill>
              </a:defRPr>
            </a:pPr>
            <a:r>
              <a:rPr sz="1650" b="1">
                <a:solidFill>
                  <a:srgbClr val="2A101C"/>
                </a:solidFill>
              </a:rPr>
              <a:t>YOUR</a:t>
            </a:r>
          </a:p>
          <a:p xmlns:a="http://schemas.openxmlformats.org/drawingml/2006/main">
            <a:pPr algn="ctr">
              <a:defRPr sz="1650" b="1">
                <a:solidFill>
                  <a:srgbClr val="2A101C"/>
                </a:solidFill>
              </a:defRPr>
            </a:pPr>
            <a:r>
              <a:rPr sz="1650" b="1">
                <a:solidFill>
                  <a:srgbClr val="2A101C"/>
                </a:solidFill>
              </a:rPr>
              <a:t>WORK</a:t>
            </a:r>
          </a:p>
        </p:txBody>
      </p:sp>
      <p:sp>
        <p:nvSpPr>
          <p:cNvPr id="16" name="next-step">
            <a:extLst xmlns:a="http://schemas.openxmlformats.org/drawingml/2006/main">
              <a:ext uri="{FF2B5EF4-FFF2-40B4-BE49-F238E27FC236}">
                <a16:creationId xmlns:a16="http://schemas.microsoft.com/office/drawing/2014/main" id="{B0C873BC-C2A4-4BFC-8CD5-0A0172D2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Next: complete your folio and collaborative showcase</a:t>
            </a:r>
          </a:p>
        </p:txBody>
      </p:sp>
      <p:sp>
        <p:nvSpPr>
          <p:cNvPr id="17" name="footer-module-8">
            <a:extLst xmlns:a="http://schemas.openxmlformats.org/drawingml/2006/main">
              <a:ext uri="{FF2B5EF4-FFF2-40B4-BE49-F238E27FC236}">
                <a16:creationId xmlns:a16="http://schemas.microsoft.com/office/drawing/2014/main" id="{CA31B1F3-5C5C-4D5B-AD78-673E5D39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DCE5"/>
                </a:solidFill>
              </a:defRPr>
            </a:pPr>
            <a:r>
              <a:rPr sz="900" b="1">
                <a:solidFill>
                  <a:srgbClr val="F5DCE5"/>
                </a:solidFill>
              </a:rPr>
              <a:t>MODULE 10 · YEAR 8 TEXTILES TECHNOLOGY</a:t>
            </a:r>
          </a:p>
        </p:txBody>
      </p:sp>
      <p:sp>
        <p:nvSpPr>
          <p:cNvPr id="18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8347A189-648A-4E93-9D31-3DE19A37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5DCE5"/>
                </a:solidFill>
              </a:defRPr>
            </a:pPr>
            <a:r>
              <a:rPr sz="900" b="1">
                <a:solidFill>
                  <a:srgbClr val="F5DCE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55766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2026-08-27T11:20:31.5940000Z</dcterms:created>
  <dcterms:modified xsi:type="dcterms:W3CDTF">2026-08-27T11:20:31.5950000Z</dcterms:modified>
</coreProperties>
</file>