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682793dc694981" /><Relationship Type="http://schemas.openxmlformats.org/officeDocument/2006/relationships/extended-properties" Target="/docProps/app.xml" Id="R49f99590ead04150" /><Relationship Type="http://schemas.openxmlformats.org/officeDocument/2006/relationships/officeDocument" Target="/ppt/presentation.xml" Id="Rf9a7604abf074eb8" /></Relationships>
</file>

<file path=ppt/presentation.xml><?xml version="1.0" encoding="utf-8"?>
<p:presentation xmlns:p="http://schemas.openxmlformats.org/presentationml/2006/main">
  <p:sldMasterIdLst>
    <p:sldMasterId xmlns:r="http://schemas.openxmlformats.org/officeDocument/2006/relationships" id="2147483648" r:id="R1fcc3f7e85aa4f45"/>
  </p:sldMasterIdLst>
  <p:notesMasterIdLst>
    <p:notesMasterId xmlns:r="http://schemas.openxmlformats.org/officeDocument/2006/relationships" r:id="Rb684eb87ec79461f"/>
  </p:notesMasterIdLst>
  <p:sldIdLst>
    <p:sldId xmlns:r="http://schemas.openxmlformats.org/officeDocument/2006/relationships" id="256" r:id="R55190e0948b64aab"/>
    <p:sldId xmlns:r="http://schemas.openxmlformats.org/officeDocument/2006/relationships" id="257" r:id="R413b220c50384397"/>
    <p:sldId xmlns:r="http://schemas.openxmlformats.org/officeDocument/2006/relationships" id="258" r:id="R239bdbe21d2c4f9a"/>
    <p:sldId xmlns:r="http://schemas.openxmlformats.org/officeDocument/2006/relationships" id="259" r:id="R5a96d583af79455b"/>
    <p:sldId xmlns:r="http://schemas.openxmlformats.org/officeDocument/2006/relationships" id="260" r:id="R298d4bdd1dc14908"/>
    <p:sldId xmlns:r="http://schemas.openxmlformats.org/officeDocument/2006/relationships" id="261" r:id="R4ccf33f068684ee0"/>
    <p:sldId xmlns:r="http://schemas.openxmlformats.org/officeDocument/2006/relationships" id="262" r:id="R2a831b5e6a214ef5"/>
    <p:sldId xmlns:r="http://schemas.openxmlformats.org/officeDocument/2006/relationships" id="263" r:id="R5cda8966930b4e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d33fb8f8a74b1f" /><Relationship Type="http://schemas.openxmlformats.org/officeDocument/2006/relationships/slideMaster" Target="/ppt/slideMasters/slideMaster1.xml" Id="R1fcc3f7e85aa4f45" /><Relationship Type="http://schemas.openxmlformats.org/officeDocument/2006/relationships/notesMaster" Target="/ppt/notesMasters/notesMaster1.xml" Id="Rb684eb87ec79461f" /><Relationship Type="http://schemas.openxmlformats.org/officeDocument/2006/relationships/presProps" Target="/ppt/presProps.xml" Id="Rf487236739d64907" /><Relationship Type="http://schemas.openxmlformats.org/officeDocument/2006/relationships/tableStyles" Target="/ppt/tableStyles.xml" Id="R1bde4061d2ce41c4" /><Relationship Type="http://schemas.openxmlformats.org/officeDocument/2006/relationships/slide" Target="/ppt/slides/slide1.xml" Id="R55190e0948b64aab" /><Relationship Type="http://schemas.openxmlformats.org/officeDocument/2006/relationships/slide" Target="/ppt/slides/slide2.xml" Id="R413b220c50384397" /><Relationship Type="http://schemas.openxmlformats.org/officeDocument/2006/relationships/slide" Target="/ppt/slides/slide3.xml" Id="R239bdbe21d2c4f9a" /><Relationship Type="http://schemas.openxmlformats.org/officeDocument/2006/relationships/slide" Target="/ppt/slides/slide4.xml" Id="R5a96d583af79455b" /><Relationship Type="http://schemas.openxmlformats.org/officeDocument/2006/relationships/slide" Target="/ppt/slides/slide5.xml" Id="R298d4bdd1dc14908" /><Relationship Type="http://schemas.openxmlformats.org/officeDocument/2006/relationships/slide" Target="/ppt/slides/slide6.xml" Id="R4ccf33f068684ee0" /><Relationship Type="http://schemas.openxmlformats.org/officeDocument/2006/relationships/slide" Target="/ppt/slides/slide7.xml" Id="R2a831b5e6a214ef5" /><Relationship Type="http://schemas.openxmlformats.org/officeDocument/2006/relationships/slide" Target="/ppt/slides/slide8.xml" Id="R5cda8966930b4e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a661b2b1b245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cd3055bb9040e5" /><Relationship Type="http://schemas.openxmlformats.org/officeDocument/2006/relationships/notesMaster" Target="/ppt/notesMasters/notesMaster1.xml" Id="Rff90ebeedd4f43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4c2113b20d43e2" /><Relationship Type="http://schemas.openxmlformats.org/officeDocument/2006/relationships/notesMaster" Target="/ppt/notesMasters/notesMaster1.xml" Id="Re8f311fc9aab40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a5a552127746cb" /><Relationship Type="http://schemas.openxmlformats.org/officeDocument/2006/relationships/notesMaster" Target="/ppt/notesMasters/notesMaster1.xml" Id="R403d44336f2c41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9cfabf77ba4a90" /><Relationship Type="http://schemas.openxmlformats.org/officeDocument/2006/relationships/notesMaster" Target="/ppt/notesMasters/notesMaster1.xml" Id="Rc4efc9ef24374b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9c08ddc758468f" /><Relationship Type="http://schemas.openxmlformats.org/officeDocument/2006/relationships/notesMaster" Target="/ppt/notesMasters/notesMaster1.xml" Id="R96e2e21ab221407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9f43af803e4611" /><Relationship Type="http://schemas.openxmlformats.org/officeDocument/2006/relationships/notesMaster" Target="/ppt/notesMasters/notesMaster1.xml" Id="R89058436596c4f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0a4dad9fc840ae" /><Relationship Type="http://schemas.openxmlformats.org/officeDocument/2006/relationships/notesMaster" Target="/ppt/notesMasters/notesMaster1.xml" Id="Rff7dec19ff4a4721" /></Relationships>
</file>

<file path=ppt/notesSlides/_rels/notesSlide8.xml.rels>&#65279;<?xml version="1.0" encoding="utf-8"?><Relationships xmlns="http://schemas.openxmlformats.org/package/2006/relationships"><Relationship Type="http://schemas.openxmlformats.org/officeDocument/2006/relationships/slide" Target="/ppt/slides/slide8.xml" Id="Rd76bffd224b64c4f" /><Relationship Type="http://schemas.openxmlformats.org/officeDocument/2006/relationships/notesMaster" Target="/ppt/notesMasters/notesMaster1.xml" Id="R457b855b58ca42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Introduce Design Inspiration as a connected set of three ideas, not three isolated worksheets.</a:t>
            </a:r>
          </a:p>
          <a:p xmlns:a="http://schemas.openxmlformats.org/drawingml/2006/main">
            <a:r>
              <a:t>- Read the outcome aloud and link it to the current project stage.</a:t>
            </a:r>
          </a:p>
          <a:p xmlns:a="http://schemas.openxmlformats.org/drawingml/2006/main">
            <a:r>
              <a:t>- Keep local machine, pattern, safety and assessment details within the current teacher demonstration and authorised class documents.</a:t>
            </a:r>
          </a:p>
          <a:p xmlns:a="http://schemas.openxmlformats.org/drawingml/2006/main">
            <a:r>
              <a:t/>
            </a:r>
          </a:p>
          <a:p xmlns:a="http://schemas.openxmlformats.org/drawingml/2006/main">
            <a:r>
              <a:t>Prompt: Which word in the outcome tells us what evidence we need to produce?</a:t>
            </a:r>
          </a:p>
          <a:p xmlns:a="http://schemas.openxmlformats.org/drawingml/2006/main">
            <a:r>
              <a:t>Likely misconception: Finishing a slide deck is the evidence; the evidence is the student's explanation and project decision.</a:t>
            </a:r>
          </a:p>
          <a:p xmlns:a="http://schemas.openxmlformats.org/drawingml/2006/main">
            <a:r>
              <a:t>Transition: Preview the three ideas and activate prior knowledge.</a:t>
            </a:r>
          </a:p>
          <a:p xmlns:a="http://schemas.openxmlformats.org/drawingml/2006/main">
            <a:r>
              <a:t/>
            </a:r>
          </a:p>
          <a:p xmlns:a="http://schemas.openxmlformats.org/drawingml/2006/main">
            <a:r>
              <a:t>[Sources]</a:t>
            </a:r>
          </a:p>
          <a:p xmlns:a="http://schemas.openxmlformats.org/drawingml/2006/main">
            <a:r>
              <a:t>- Course sequence: WWHS Year 8 Accessories and Shorts Textiles Technology Program 2024, as bounded by source map v1.0.</a:t>
            </a:r>
          </a:p>
          <a:p xmlns:a="http://schemas.openxmlformats.org/drawingml/2006/main">
            <a:r>
              <a:t>- Curriculum: NESA Textiles Technology 7–10 Syllabus (2025), https://curriculum.nsw.edu.au/learning-areas/tas/textiles-technology-7-10-2025/overview/course</a:t>
            </a:r>
          </a:p>
          <a:p xmlns:a="http://schemas.openxmlformats.org/drawingml/2006/main">
            <a:r>
              <a:t>- Visual: Stage 08 approved module asset module-05-design-inspiration.png;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Name all three substantive sections using the exact module language.</a:t>
            </a:r>
          </a:p>
          <a:p xmlns:a="http://schemas.openxmlformats.org/drawingml/2006/main">
            <a:r>
              <a:t>- Ask students to predict where the ideas connect to current project work.</a:t>
            </a:r>
          </a:p>
          <a:p xmlns:a="http://schemas.openxmlformats.org/drawingml/2006/main">
            <a:r>
              <a:t>- Accept a tentative response, but ask what evidence supports it.</a:t>
            </a:r>
          </a:p>
          <a:p xmlns:a="http://schemas.openxmlformats.org/drawingml/2006/main">
            <a:r>
              <a:t/>
            </a:r>
          </a:p>
          <a:p xmlns:a="http://schemas.openxmlformats.org/drawingml/2006/main">
            <a:r>
              <a:t>Prompt: Which idea is most likely to change a practical or design decision today?</a:t>
            </a:r>
          </a:p>
          <a:p xmlns:a="http://schemas.openxmlformats.org/drawingml/2006/main">
            <a:r>
              <a:t>Likely misconception: The sequence means students can forget idea one after moving to idea two; the ideas need to remain connected.</a:t>
            </a:r>
          </a:p>
          <a:p xmlns:a="http://schemas.openxmlformats.org/drawingml/2006/main">
            <a:r>
              <a:t>Transition: Begin with Design brief and user.</a:t>
            </a:r>
          </a:p>
          <a:p xmlns:a="http://schemas.openxmlformats.org/drawingml/2006/main">
            <a:r>
              <a:t/>
            </a:r>
          </a:p>
          <a:p xmlns:a="http://schemas.openxmlformats.org/drawingml/2006/main">
            <a:r>
              <a:t>[Sources]</a:t>
            </a:r>
          </a:p>
          <a:p xmlns:a="http://schemas.openxmlformats.org/drawingml/2006/main">
            <a:r>
              <a:t>- Named section sequence: frozen Stage 01 course inventory and Year 8 Textiles theory package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Develop disciplined interpretation of a design brief and ethical, efficient gathering of user information before idea generation.</a:t>
            </a:r>
          </a:p>
          <a:p xmlns:a="http://schemas.openxmlformats.org/drawingml/2006/main">
            <a:r>
              <a:t>- Emphasise: A design brief provides the problem, purpose, user, context and confirmed limits.</a:t>
            </a:r>
          </a:p>
          <a:p xmlns:a="http://schemas.openxmlformats.org/drawingml/2006/main">
            <a:r>
              <a:t>- Connect the image to the decision: Show a design brief being separated into facts, user evidence, constraints, questions and an open design direction.</a:t>
            </a:r>
          </a:p>
          <a:p xmlns:a="http://schemas.openxmlformats.org/drawingml/2006/main">
            <a:r>
              <a:t/>
            </a:r>
          </a:p>
          <a:p xmlns:a="http://schemas.openxmlformats.org/drawingml/2006/main">
            <a:r>
              <a:t>Prompt: Explain how two pieces of user evidence and two confirmed constraints shape a design direction without locking in unsupported features.</a:t>
            </a:r>
          </a:p>
          <a:p xmlns:a="http://schemas.openxmlformats.org/drawingml/2006/main">
            <a:r>
              <a:t>Likely misconception: Designing for myself means user research is unnecessary. Correction: You still need to identify the real context, test assumptions and explain evidence for your choices.</a:t>
            </a:r>
          </a:p>
          <a:p xmlns:a="http://schemas.openxmlformats.org/drawingml/2006/main">
            <a:r>
              <a:t>Transition: Carry this decision into Mood boards, colour and texture.</a:t>
            </a:r>
          </a:p>
          <a:p xmlns:a="http://schemas.openxmlformats.org/drawingml/2006/main">
            <a:r>
              <a:t/>
            </a:r>
          </a:p>
          <a:p xmlns:a="http://schemas.openxmlformats.org/drawingml/2006/main">
            <a:r>
              <a:t>[Sources]</a:t>
            </a:r>
          </a:p>
          <a:p xmlns:a="http://schemas.openxmlformats.org/drawingml/2006/main">
            <a:r>
              <a:t>- Content: Year 8 Textiles theory package v1.0; source domains design inspiration sequence; folio design evidence; user-centred design.</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m05-s01-design-brief.png;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Teach students to curate a coherent mood board and use colour and texture as evidence-based design tools.</a:t>
            </a:r>
          </a:p>
          <a:p xmlns:a="http://schemas.openxmlformats.org/drawingml/2006/main">
            <a:r>
              <a:t>- Emphasise: A mood board communicates a focused design direction rather than a collection of finished products to copy.</a:t>
            </a:r>
          </a:p>
          <a:p xmlns:a="http://schemas.openxmlformats.org/drawingml/2006/main">
            <a:r>
              <a:t>- Connect the image to the decision: Show an authentic mood-board refinement from cluttered collection to a coherent image, palette, textile-sample and keyword composition.</a:t>
            </a:r>
          </a:p>
          <a:p xmlns:a="http://schemas.openxmlformats.org/drawingml/2006/main">
            <a:r>
              <a:t/>
            </a:r>
          </a:p>
          <a:p xmlns:a="http://schemas.openxmlformats.org/drawingml/2006/main">
            <a:r>
              <a:t>Prompt: Justify the selected images, palette, textile samples and keywords by explaining how they support the user, purpose and two later design decisions.</a:t>
            </a:r>
          </a:p>
          <a:p xmlns:a="http://schemas.openxmlformats.org/drawingml/2006/main">
            <a:r>
              <a:t>Likely misconception: A mood board should contain as many images as possible. Correction: The class guidance sets a purposeful range, and each item should contribute to one clear direction.</a:t>
            </a:r>
          </a:p>
          <a:p xmlns:a="http://schemas.openxmlformats.org/drawingml/2006/main">
            <a:r>
              <a:t>Transition: Carry this decision into Ethical digital inspiration.</a:t>
            </a:r>
          </a:p>
          <a:p xmlns:a="http://schemas.openxmlformats.org/drawingml/2006/main">
            <a:r>
              <a:t/>
            </a:r>
          </a:p>
          <a:p xmlns:a="http://schemas.openxmlformats.org/drawingml/2006/main">
            <a:r>
              <a:t>[Sources]</a:t>
            </a:r>
          </a:p>
          <a:p xmlns:a="http://schemas.openxmlformats.org/drawingml/2006/main">
            <a:r>
              <a:t>- Content: Year 8 Textiles theory package v1.0; source domains mood-board quantities; folio inspiration evidence; colour and texture in design.</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m05-s02-moodboard.png;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Teach students to research, record and transform inspiration while respecting copyright, privacy and Indigenous Cultural and Intellectual Property.</a:t>
            </a:r>
          </a:p>
          <a:p xmlns:a="http://schemas.openxmlformats.org/drawingml/2006/main">
            <a:r>
              <a:t>- Emphasise: A searchable or downloadable image is not automatically licensed for reuse.</a:t>
            </a:r>
          </a:p>
          <a:p xmlns:a="http://schemas.openxmlformats.org/drawingml/2006/main">
            <a:r>
              <a:t>- Connect the image to the decision: Show a source-to-analysis-to-thumbnails-to-sample development trail, with separate rights and cultural-protocol decision points.</a:t>
            </a:r>
          </a:p>
          <a:p xmlns:a="http://schemas.openxmlformats.org/drawingml/2006/main">
            <a:r>
              <a:t/>
            </a:r>
          </a:p>
          <a:p xmlns:a="http://schemas.openxmlformats.org/drawingml/2006/main">
            <a:r>
              <a:t>Prompt: Explain how one recorded source influenced an original design direction, what rights or protocol checks were required and how the idea was transformed.</a:t>
            </a:r>
          </a:p>
          <a:p xmlns:a="http://schemas.openxmlformats.org/drawingml/2006/main">
            <a:r>
              <a:t>Likely misconception: Giving credit means I can use any image publicly. Correction: Acknowledgement is important, but it does not replace the licence, permission or cultural protocol required for reuse.</a:t>
            </a:r>
          </a:p>
          <a:p xmlns:a="http://schemas.openxmlformats.org/drawingml/2006/main">
            <a:r>
              <a:t>Transition: Pause for retrieval before students construct evidence.</a:t>
            </a:r>
          </a:p>
          <a:p xmlns:a="http://schemas.openxmlformats.org/drawingml/2006/main">
            <a:r>
              <a:t/>
            </a:r>
          </a:p>
          <a:p xmlns:a="http://schemas.openxmlformats.org/drawingml/2006/main">
            <a:r>
              <a:t>[Sources]</a:t>
            </a:r>
          </a:p>
          <a:p xmlns:a="http://schemas.openxmlformats.org/drawingml/2006/main">
            <a:r>
              <a:t>- Content: Year 8 Textiles theory package v1.0; source domains digital design practice; source ethics; ICIP and cultural protocols.</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m05-s03-ethical-inspiration.png;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Give silent thinking time before taking answers.</a:t>
            </a:r>
          </a:p>
          <a:p xmlns:a="http://schemas.openxmlformats.org/drawingml/2006/main">
            <a:r>
              <a:t>- Require students to correct the claim, not only label it true or false.</a:t>
            </a:r>
          </a:p>
          <a:p xmlns:a="http://schemas.openxmlformats.org/drawingml/2006/main">
            <a:r>
              <a:t>- Ask a follow-up: What evidence from slides 3–5 supports that correction?</a:t>
            </a:r>
          </a:p>
          <a:p xmlns:a="http://schemas.openxmlformats.org/drawingml/2006/main">
            <a:r>
              <a:t/>
            </a:r>
          </a:p>
          <a:p xmlns:a="http://schemas.openxmlformats.org/drawingml/2006/main">
            <a:r>
              <a:t>Prompt: Which correction becomes stronger when you use an example from your own project?</a:t>
            </a:r>
          </a:p>
          <a:p xmlns:a="http://schemas.openxmlformats.org/drawingml/2006/main">
            <a:r>
              <a:t>Likely misconception: Retrieval is guessing; retrieval should reconstruct the idea and its evidence.</a:t>
            </a:r>
          </a:p>
          <a:p xmlns:a="http://schemas.openxmlformats.org/drawingml/2006/main">
            <a:r>
              <a:t>Transition: Use the corrected ideas to build one longer piece of evidence.</a:t>
            </a:r>
          </a:p>
          <a:p xmlns:a="http://schemas.openxmlformats.org/drawingml/2006/main">
            <a:r>
              <a:t/>
            </a:r>
          </a:p>
          <a:p xmlns:a="http://schemas.openxmlformats.org/drawingml/2006/main">
            <a:r>
              <a:t>[Sources]</a:t>
            </a:r>
          </a:p>
          <a:p xmlns:a="http://schemas.openxmlformats.org/drawingml/2006/main">
            <a:r>
              <a:t>- Retrieval claims: misconceptions and corrections in the Year 8 Textiles theory package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Model the four moves with one brief example, then remove the example from view.</a:t>
            </a:r>
          </a:p>
          <a:p xmlns:a="http://schemas.openxmlformats.org/drawingml/2006/main">
            <a:r>
              <a:t>- The selected evidence must answer the exact context, not merely repeat a definition.</a:t>
            </a:r>
          </a:p>
          <a:p xmlns:a="http://schemas.openxmlformats.org/drawingml/2006/main">
            <a:r>
              <a:t>- Use the sentence support as a starting structure; students may improve it in their own words.</a:t>
            </a:r>
          </a:p>
          <a:p xmlns:a="http://schemas.openxmlformats.org/drawingml/2006/main">
            <a:r>
              <a:t/>
            </a:r>
          </a:p>
          <a:p xmlns:a="http://schemas.openxmlformats.org/drawingml/2006/main">
            <a:r>
              <a:t>Prompt: Which evidence is most relevant, and which tempting detail should be left out?</a:t>
            </a:r>
          </a:p>
          <a:p xmlns:a="http://schemas.openxmlformats.org/drawingml/2006/main">
            <a:r>
              <a:t>Likely misconception: A longer response is automatically stronger; relevance and explanation matter more than length.</a:t>
            </a:r>
          </a:p>
          <a:p xmlns:a="http://schemas.openxmlformats.org/drawingml/2006/main">
            <a:r>
              <a:t>Transition: Students now save the response in the matching module learning package.</a:t>
            </a:r>
          </a:p>
          <a:p xmlns:a="http://schemas.openxmlformats.org/drawingml/2006/main">
            <a:r>
              <a:t/>
            </a:r>
          </a:p>
          <a:p xmlns:a="http://schemas.openxmlformats.org/drawingml/2006/main">
            <a:r>
              <a:t>[Sources]</a:t>
            </a:r>
          </a:p>
          <a:p xmlns:a="http://schemas.openxmlformats.org/drawingml/2006/main">
            <a:r>
              <a:t>- Guided response: evidence prompt for m05-s03 in the Year 8 Textiles theory package v1.0.</a:t>
            </a:r>
          </a:p>
          <a:p xmlns:a="http://schemas.openxmlformats.org/drawingml/2006/main">
            <a:r>
              <a:t>- Curriculum context: NESA Textiles Technology 7–10 Syllabus (2025), https://curriculum.nsw.edu.au/learning-areas/tas/textiles-technology-7-10-2025/outcomes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Use the three-part exit ticket as a quick verbal or written check.</a:t>
            </a:r>
          </a:p>
          <a:p xmlns:a="http://schemas.openxmlformats.org/drawingml/2006/main">
            <a:r>
              <a:t>- Direct students to the module page so the evidence is saved in the correct learning package.</a:t>
            </a:r>
          </a:p>
          <a:p xmlns:a="http://schemas.openxmlformats.org/drawingml/2006/main">
            <a:r>
              <a:t>- Preview the connection to Fibres, Yarns and Fabrics.</a:t>
            </a:r>
          </a:p>
          <a:p xmlns:a="http://schemas.openxmlformats.org/drawingml/2006/main">
            <a:r>
              <a:t/>
            </a:r>
          </a:p>
          <a:p xmlns:a="http://schemas.openxmlformats.org/drawingml/2006/main">
            <a:r>
              <a:t>Prompt: Which answer would you be willing to improve after receiving feedback?</a:t>
            </a:r>
          </a:p>
          <a:p xmlns:a="http://schemas.openxmlformats.org/drawingml/2006/main">
            <a:r>
              <a:t>Likely misconception: Saving work means it is finished; saved evidence can still be reviewed and improved.</a:t>
            </a:r>
          </a:p>
          <a:p xmlns:a="http://schemas.openxmlformats.org/drawingml/2006/main">
            <a:r>
              <a:t>Transition: Continue to Fibres, Yarns and Fabrics when the class sequence is ready.</a:t>
            </a:r>
          </a:p>
          <a:p xmlns:a="http://schemas.openxmlformats.org/drawingml/2006/main">
            <a:r>
              <a:t/>
            </a:r>
          </a:p>
          <a:p xmlns:a="http://schemas.openxmlformats.org/drawingml/2006/main">
            <a:r>
              <a:t>[Sources]</a:t>
            </a:r>
          </a:p>
          <a:p xmlns:a="http://schemas.openxmlformats.org/drawingml/2006/main">
            <a:r>
              <a:t>- Evidence destination: frozen family learning-package contract and local autosave workflow.</a:t>
            </a:r>
          </a:p>
          <a:p xmlns:a="http://schemas.openxmlformats.org/drawingml/2006/main">
            <a:r>
              <a:t>- Module sequence: WWHS Year 8 Accessories and Shorts Textiles Technology Program 2024, as bounded by source map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d1a572627441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b1c7b6a5424195" /><Relationship Type="http://schemas.openxmlformats.org/officeDocument/2006/relationships/slideLayout" Target="/ppt/slideLayouts/slideLayout1.xml" Id="R55dfd1336d0045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dfd1336d0045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2d0de67fc84a5e" /><Relationship Type="http://schemas.openxmlformats.org/officeDocument/2006/relationships/image" Target="/ppt/media/image.png" Id="Rcf1155bac3574133" /><Relationship Type="http://schemas.openxmlformats.org/officeDocument/2006/relationships/notesSlide" Target="/ppt/notesSlides/notesSlide1.xml" Id="R0ca3dd5ec70141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e47cf8b60b94ac4" /><Relationship Type="http://schemas.openxmlformats.org/officeDocument/2006/relationships/notesSlide" Target="/ppt/notesSlides/notesSlide2.xml" Id="R5d67e31c8a6440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2732bb70cb8479b" /><Relationship Type="http://schemas.openxmlformats.org/officeDocument/2006/relationships/image" Target="/ppt/media/image2.png" Id="Rf611d82d7e5b4553" /><Relationship Type="http://schemas.openxmlformats.org/officeDocument/2006/relationships/notesSlide" Target="/ppt/notesSlides/notesSlide3.xml" Id="Ra47d530e483d4d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3b8b22f05044388" /><Relationship Type="http://schemas.openxmlformats.org/officeDocument/2006/relationships/image" Target="/ppt/media/image3.png" Id="R010fe738b8ba4d7d" /><Relationship Type="http://schemas.openxmlformats.org/officeDocument/2006/relationships/notesSlide" Target="/ppt/notesSlides/notesSlide4.xml" Id="R41bcfaf7b39344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30daecbb0f74449" /><Relationship Type="http://schemas.openxmlformats.org/officeDocument/2006/relationships/image" Target="/ppt/media/image4.png" Id="Rdee2058137d44f48" /><Relationship Type="http://schemas.openxmlformats.org/officeDocument/2006/relationships/notesSlide" Target="/ppt/notesSlides/notesSlide5.xml" Id="Rd352879b088648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74d556664b34fe2" /><Relationship Type="http://schemas.openxmlformats.org/officeDocument/2006/relationships/notesSlide" Target="/ppt/notesSlides/notesSlide6.xml" Id="R66078fda5a5d40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5db887712634be6" /><Relationship Type="http://schemas.openxmlformats.org/officeDocument/2006/relationships/notesSlide" Target="/ppt/notesSlides/notesSlide7.xml" Id="Rda1eeb21d33140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6fb12eb43dc4e5f" /><Relationship Type="http://schemas.openxmlformats.org/officeDocument/2006/relationships/notesSlide" Target="/ppt/notesSlides/notesSlide8.xml" Id="R2330f92e0d82456e" /></Relationships>
</file>

<file path=ppt/slides/slide1.xml><?xml version="1.0" encoding="utf-8"?>
<p:sld xmlns:p="http://schemas.openxmlformats.org/presentationml/2006/main">
  <p:cSld>
    <p:bg>
      <p:bgPr>
        <a:solidFill xmlns:a="http://schemas.openxmlformats.org/drawingml/2006/main">
          <a:srgbClr val="2A101C"/>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f1155bac3574133"/>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title-panel">
            <a:extLst xmlns:a="http://schemas.openxmlformats.org/drawingml/2006/main">
              <a:ext uri="{FF2B5EF4-FFF2-40B4-BE49-F238E27FC236}">
                <a16:creationId xmlns:a16="http://schemas.microsoft.com/office/drawing/2014/main" id="{BD4A8973-3C63-4964-8DC1-32BA8FB0C0F0}"/>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2A101C"/>
          </a:solidFill>
          <a:ln xmlns:a="http://schemas.openxmlformats.org/drawingml/2006/main" w="0">
            <a:noFill/>
            <a:prstDash val="solid"/>
          </a:ln>
        </p:spPr>
      </p:sp>
      <p:sp>
        <p:nvSpPr>
          <p:cNvPr id="3" name="title-accent">
            <a:extLst xmlns:a="http://schemas.openxmlformats.org/drawingml/2006/main">
              <a:ext uri="{FF2B5EF4-FFF2-40B4-BE49-F238E27FC236}">
                <a16:creationId xmlns:a16="http://schemas.microsoft.com/office/drawing/2014/main" id="{EADCE054-6678-417C-99A9-9E65170DBAE0}"/>
              </a:ext>
            </a:extLst>
          </p:cNvPr>
          <p:cNvSpPr>
            <a:spLocks xmlns:a="http://schemas.openxmlformats.org/drawingml/2006/main" noGrp="1"/>
          </p:cNvSpPr>
          <p:nvPr/>
        </p:nvSpPr>
        <p:spPr>
          <a:xfrm xmlns:a="http://schemas.openxmlformats.org/drawingml/2006/main">
            <a:off x="5619750" y="0"/>
            <a:ext cx="133350" cy="68580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4" name="module-label">
            <a:extLst xmlns:a="http://schemas.openxmlformats.org/drawingml/2006/main">
              <a:ext uri="{FF2B5EF4-FFF2-40B4-BE49-F238E27FC236}">
                <a16:creationId xmlns:a16="http://schemas.microsoft.com/office/drawing/2014/main" id="{14F08F4E-EDD1-43F1-993B-62602F1E1597}"/>
              </a:ext>
            </a:extLst>
          </p:cNvPr>
          <p:cNvSpPr>
            <a:spLocks xmlns:a="http://schemas.openxmlformats.org/drawingml/2006/main" noGrp="1"/>
          </p:cNvSpPr>
          <p:nvPr/>
        </p:nvSpPr>
        <p:spPr>
          <a:xfrm xmlns:a="http://schemas.openxmlformats.org/drawingml/2006/main">
            <a:off x="647700" y="7048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D6A238"/>
                </a:solidFill>
              </a:defRPr>
            </a:pPr>
            <a:r>
              <a:rPr sz="1275" b="1">
                <a:solidFill>
                  <a:srgbClr val="D6A238"/>
                </a:solidFill>
              </a:rPr>
              <a:t>MODULE 05 · WEEK 7</a:t>
            </a:r>
          </a:p>
        </p:txBody>
      </p:sp>
      <p:sp>
        <p:nvSpPr>
          <p:cNvPr id="5" name="deck-title">
            <a:extLst xmlns:a="http://schemas.openxmlformats.org/drawingml/2006/main">
              <a:ext uri="{FF2B5EF4-FFF2-40B4-BE49-F238E27FC236}">
                <a16:creationId xmlns:a16="http://schemas.microsoft.com/office/drawing/2014/main" id="{D286C2CF-4B62-494F-8CDA-CF16DB8AAC84}"/>
              </a:ext>
            </a:extLst>
          </p:cNvPr>
          <p:cNvSpPr>
            <a:spLocks xmlns:a="http://schemas.openxmlformats.org/drawingml/2006/main" noGrp="1"/>
          </p:cNvSpPr>
          <p:nvPr/>
        </p:nvSpPr>
        <p:spPr>
          <a:xfrm xmlns:a="http://schemas.openxmlformats.org/drawingml/2006/main">
            <a:off x="647700" y="1752600"/>
            <a:ext cx="4619625"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Design Inspiration</a:t>
            </a:r>
          </a:p>
        </p:txBody>
      </p:sp>
      <p:sp>
        <p:nvSpPr>
          <p:cNvPr id="6" name="module-outcome">
            <a:extLst xmlns:a="http://schemas.openxmlformats.org/drawingml/2006/main">
              <a:ext uri="{FF2B5EF4-FFF2-40B4-BE49-F238E27FC236}">
                <a16:creationId xmlns:a16="http://schemas.microsoft.com/office/drawing/2014/main" id="{2C1FA12A-2FA9-4C3D-BFB7-0F7903744D8C}"/>
              </a:ext>
            </a:extLst>
          </p:cNvPr>
          <p:cNvSpPr>
            <a:spLocks xmlns:a="http://schemas.openxmlformats.org/drawingml/2006/main" noGrp="1"/>
          </p:cNvSpPr>
          <p:nvPr/>
        </p:nvSpPr>
        <p:spPr>
          <a:xfrm xmlns:a="http://schemas.openxmlformats.org/drawingml/2006/main">
            <a:off x="647700" y="3857625"/>
            <a:ext cx="4476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F7EAF0"/>
                </a:solidFill>
              </a:defRPr>
            </a:pPr>
            <a:r>
              <a:rPr sz="1800" b="0">
                <a:solidFill>
                  <a:srgbClr val="F7EAF0"/>
                </a:solidFill>
              </a:rPr>
              <a:t>Use a brief, mood board and ethical sources to develop a clear design direction.</a:t>
            </a:r>
          </a:p>
        </p:txBody>
      </p:sp>
      <p:sp>
        <p:nvSpPr>
          <p:cNvPr id="7" name="deck-context">
            <a:extLst xmlns:a="http://schemas.openxmlformats.org/drawingml/2006/main">
              <a:ext uri="{FF2B5EF4-FFF2-40B4-BE49-F238E27FC236}">
                <a16:creationId xmlns:a16="http://schemas.microsoft.com/office/drawing/2014/main" id="{95933171-D820-44CD-9852-E17BC5EB7E02}"/>
              </a:ext>
            </a:extLst>
          </p:cNvPr>
          <p:cNvSpPr>
            <a:spLocks xmlns:a="http://schemas.openxmlformats.org/drawingml/2006/main" noGrp="1"/>
          </p:cNvSpPr>
          <p:nvPr/>
        </p:nvSpPr>
        <p:spPr>
          <a:xfrm xmlns:a="http://schemas.openxmlformats.org/drawingml/2006/main">
            <a:off x="647700" y="601980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D5BCC6"/>
                </a:solidFill>
              </a:defRPr>
            </a:pPr>
            <a:r>
              <a:rPr sz="1125" b="0">
                <a:solidFill>
                  <a:srgbClr val="D5BCC6"/>
                </a:solidFill>
              </a:rPr>
              <a:t>Teacher-led classroom presentation</a:t>
            </a:r>
          </a:p>
        </p:txBody>
      </p:sp>
    </p:spTree>
    <p:extLst>
      <p:ext uri="{BB962C8B-B14F-4D97-AF65-F5344CB8AC3E}">
        <p14:creationId xmlns:p14="http://schemas.microsoft.com/office/powerpoint/2010/main" val="1473169360"/>
      </p:ext>
    </p:extLst>
  </p:cSld>
</p:sld>
</file>

<file path=ppt/slides/slide2.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8" name="top-accent">
            <a:extLst xmlns:a="http://schemas.openxmlformats.org/drawingml/2006/main">
              <a:ext uri="{FF2B5EF4-FFF2-40B4-BE49-F238E27FC236}">
                <a16:creationId xmlns:a16="http://schemas.microsoft.com/office/drawing/2014/main" id="{FC9EA6EF-93C3-4E2D-8DE1-10FA4407CA5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2" name="slide-title">
            <a:extLst xmlns:a="http://schemas.openxmlformats.org/drawingml/2006/main">
              <a:ext uri="{FF2B5EF4-FFF2-40B4-BE49-F238E27FC236}">
                <a16:creationId xmlns:a16="http://schemas.microsoft.com/office/drawing/2014/main" id="{E23B1C5E-2D37-43DB-9E1E-C9C518D7BEEC}"/>
              </a:ext>
            </a:extLst>
          </p:cNvPr>
          <p:cNvSpPr>
            <a:spLocks xmlns:a="http://schemas.openxmlformats.org/drawingml/2006/main" noGrp="1"/>
          </p:cNvSpPr>
          <p:nvPr/>
        </p:nvSpPr>
        <p:spPr>
          <a:xfrm xmlns:a="http://schemas.openxmlformats.org/drawingml/2006/main">
            <a:off x="609600" y="552450"/>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2A101C"/>
                </a:solidFill>
              </a:defRPr>
            </a:pPr>
            <a:r>
              <a:rPr sz="3000" b="1">
                <a:solidFill>
                  <a:srgbClr val="2A101C"/>
                </a:solidFill>
              </a:rPr>
              <a:t>Three ideas, one connected decision</a:t>
            </a:r>
          </a:p>
        </p:txBody>
      </p:sp>
      <p:sp>
        <p:nvSpPr>
          <p:cNvPr id="3" name="learning-map-intro">
            <a:extLst xmlns:a="http://schemas.openxmlformats.org/drawingml/2006/main">
              <a:ext uri="{FF2B5EF4-FFF2-40B4-BE49-F238E27FC236}">
                <a16:creationId xmlns:a16="http://schemas.microsoft.com/office/drawing/2014/main" id="{A960925B-6ED9-4B9F-AC0F-11A392AA55D1}"/>
              </a:ext>
            </a:extLst>
          </p:cNvPr>
          <p:cNvSpPr>
            <a:spLocks xmlns:a="http://schemas.openxmlformats.org/drawingml/2006/main" noGrp="1"/>
          </p:cNvSpPr>
          <p:nvPr/>
        </p:nvSpPr>
        <p:spPr>
          <a:xfrm xmlns:a="http://schemas.openxmlformats.org/drawingml/2006/main">
            <a:off x="609600" y="114300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5C5357"/>
                </a:solidFill>
              </a:defRPr>
            </a:pPr>
            <a:r>
              <a:rPr sz="1575" b="0">
                <a:solidFill>
                  <a:srgbClr val="5C5357"/>
                </a:solidFill>
              </a:rPr>
              <a:t>Listen for the relationship between the ideas. Each one changes what you notice, choose or explain.</a:t>
            </a:r>
          </a:p>
        </p:txBody>
      </p:sp>
      <p:sp>
        <p:nvSpPr>
          <p:cNvPr id="4" name="path-number-1">
            <a:extLst xmlns:a="http://schemas.openxmlformats.org/drawingml/2006/main">
              <a:ext uri="{FF2B5EF4-FFF2-40B4-BE49-F238E27FC236}">
                <a16:creationId xmlns:a16="http://schemas.microsoft.com/office/drawing/2014/main" id="{F1C2F807-5936-4AB5-BA90-4FDBF9BF3605}"/>
              </a:ext>
            </a:extLst>
          </p:cNvPr>
          <p:cNvSpPr>
            <a:spLocks xmlns:a="http://schemas.openxmlformats.org/drawingml/2006/main" noGrp="1"/>
          </p:cNvSpPr>
          <p:nvPr/>
        </p:nvSpPr>
        <p:spPr>
          <a:xfrm xmlns:a="http://schemas.openxmlformats.org/drawingml/2006/main">
            <a:off x="704850"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AC2254"/>
                </a:solidFill>
              </a:defRPr>
            </a:pPr>
            <a:r>
              <a:rPr sz="4650" b="1">
                <a:solidFill>
                  <a:srgbClr val="AC2254"/>
                </a:solidFill>
              </a:rPr>
              <a:t>1</a:t>
            </a:r>
          </a:p>
        </p:txBody>
      </p:sp>
      <p:sp>
        <p:nvSpPr>
          <p:cNvPr id="5" name="path-title-1">
            <a:extLst xmlns:a="http://schemas.openxmlformats.org/drawingml/2006/main">
              <a:ext uri="{FF2B5EF4-FFF2-40B4-BE49-F238E27FC236}">
                <a16:creationId xmlns:a16="http://schemas.microsoft.com/office/drawing/2014/main" id="{0AB480CD-3A06-49D0-98F1-DBFBD223EBB2}"/>
              </a:ext>
            </a:extLst>
          </p:cNvPr>
          <p:cNvSpPr>
            <a:spLocks xmlns:a="http://schemas.openxmlformats.org/drawingml/2006/main" noGrp="1"/>
          </p:cNvSpPr>
          <p:nvPr/>
        </p:nvSpPr>
        <p:spPr>
          <a:xfrm xmlns:a="http://schemas.openxmlformats.org/drawingml/2006/main">
            <a:off x="704850"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Design brief and user</a:t>
            </a:r>
          </a:p>
        </p:txBody>
      </p:sp>
      <p:sp>
        <p:nvSpPr>
          <p:cNvPr id="6" name="path-rule-1">
            <a:extLst xmlns:a="http://schemas.openxmlformats.org/drawingml/2006/main">
              <a:ext uri="{FF2B5EF4-FFF2-40B4-BE49-F238E27FC236}">
                <a16:creationId xmlns:a16="http://schemas.microsoft.com/office/drawing/2014/main" id="{989CF51D-3AF4-44D9-A224-3722D0BD882E}"/>
              </a:ext>
            </a:extLst>
          </p:cNvPr>
          <p:cNvSpPr>
            <a:spLocks xmlns:a="http://schemas.openxmlformats.org/drawingml/2006/main" noGrp="1"/>
          </p:cNvSpPr>
          <p:nvPr/>
        </p:nvSpPr>
        <p:spPr>
          <a:xfrm xmlns:a="http://schemas.openxmlformats.org/drawingml/2006/main">
            <a:off x="704850" y="4171950"/>
            <a:ext cx="2724150" cy="47625"/>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7" name="path-number-2">
            <a:extLst xmlns:a="http://schemas.openxmlformats.org/drawingml/2006/main">
              <a:ext uri="{FF2B5EF4-FFF2-40B4-BE49-F238E27FC236}">
                <a16:creationId xmlns:a16="http://schemas.microsoft.com/office/drawing/2014/main" id="{6A39898B-DD38-48B6-9947-4C5F8BC841AD}"/>
              </a:ext>
            </a:extLst>
          </p:cNvPr>
          <p:cNvSpPr>
            <a:spLocks xmlns:a="http://schemas.openxmlformats.org/drawingml/2006/main" noGrp="1"/>
          </p:cNvSpPr>
          <p:nvPr/>
        </p:nvSpPr>
        <p:spPr>
          <a:xfrm xmlns:a="http://schemas.openxmlformats.org/drawingml/2006/main">
            <a:off x="4333875"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226A61"/>
                </a:solidFill>
              </a:defRPr>
            </a:pPr>
            <a:r>
              <a:rPr sz="4650" b="1">
                <a:solidFill>
                  <a:srgbClr val="226A61"/>
                </a:solidFill>
              </a:rPr>
              <a:t>2</a:t>
            </a:r>
          </a:p>
        </p:txBody>
      </p:sp>
      <p:sp>
        <p:nvSpPr>
          <p:cNvPr id="8" name="path-title-2">
            <a:extLst xmlns:a="http://schemas.openxmlformats.org/drawingml/2006/main">
              <a:ext uri="{FF2B5EF4-FFF2-40B4-BE49-F238E27FC236}">
                <a16:creationId xmlns:a16="http://schemas.microsoft.com/office/drawing/2014/main" id="{69723058-8737-4D95-B22E-D8211411F7CB}"/>
              </a:ext>
            </a:extLst>
          </p:cNvPr>
          <p:cNvSpPr>
            <a:spLocks xmlns:a="http://schemas.openxmlformats.org/drawingml/2006/main" noGrp="1"/>
          </p:cNvSpPr>
          <p:nvPr/>
        </p:nvSpPr>
        <p:spPr>
          <a:xfrm xmlns:a="http://schemas.openxmlformats.org/drawingml/2006/main">
            <a:off x="4333875"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Mood boards, colour and texture</a:t>
            </a:r>
          </a:p>
        </p:txBody>
      </p:sp>
      <p:sp>
        <p:nvSpPr>
          <p:cNvPr id="9" name="path-rule-2">
            <a:extLst xmlns:a="http://schemas.openxmlformats.org/drawingml/2006/main">
              <a:ext uri="{FF2B5EF4-FFF2-40B4-BE49-F238E27FC236}">
                <a16:creationId xmlns:a16="http://schemas.microsoft.com/office/drawing/2014/main" id="{CD1CA247-319A-48ED-A30C-D4527064BCC4}"/>
              </a:ext>
            </a:extLst>
          </p:cNvPr>
          <p:cNvSpPr>
            <a:spLocks xmlns:a="http://schemas.openxmlformats.org/drawingml/2006/main" noGrp="1"/>
          </p:cNvSpPr>
          <p:nvPr/>
        </p:nvSpPr>
        <p:spPr>
          <a:xfrm xmlns:a="http://schemas.openxmlformats.org/drawingml/2006/main">
            <a:off x="4333875" y="4171950"/>
            <a:ext cx="2724150" cy="47625"/>
          </a:xfrm>
          <a:prstGeom xmlns:a="http://schemas.openxmlformats.org/drawingml/2006/main" prst="rect">
            <a:avLst/>
          </a:prstGeom>
          <a:solidFill xmlns:a="http://schemas.openxmlformats.org/drawingml/2006/main">
            <a:srgbClr val="226A61"/>
          </a:solidFill>
          <a:ln xmlns:a="http://schemas.openxmlformats.org/drawingml/2006/main" w="0">
            <a:noFill/>
            <a:prstDash val="solid"/>
          </a:ln>
        </p:spPr>
      </p:sp>
      <p:sp>
        <p:nvSpPr>
          <p:cNvPr id="10" name="path-number-3">
            <a:extLst xmlns:a="http://schemas.openxmlformats.org/drawingml/2006/main">
              <a:ext uri="{FF2B5EF4-FFF2-40B4-BE49-F238E27FC236}">
                <a16:creationId xmlns:a16="http://schemas.microsoft.com/office/drawing/2014/main" id="{AA558A2F-E3A6-4381-920F-C2CD18908352}"/>
              </a:ext>
            </a:extLst>
          </p:cNvPr>
          <p:cNvSpPr>
            <a:spLocks xmlns:a="http://schemas.openxmlformats.org/drawingml/2006/main" noGrp="1"/>
          </p:cNvSpPr>
          <p:nvPr/>
        </p:nvSpPr>
        <p:spPr>
          <a:xfrm xmlns:a="http://schemas.openxmlformats.org/drawingml/2006/main">
            <a:off x="7962900"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C94C46"/>
                </a:solidFill>
              </a:defRPr>
            </a:pPr>
            <a:r>
              <a:rPr sz="4650" b="1">
                <a:solidFill>
                  <a:srgbClr val="C94C46"/>
                </a:solidFill>
              </a:rPr>
              <a:t>3</a:t>
            </a:r>
          </a:p>
        </p:txBody>
      </p:sp>
      <p:sp>
        <p:nvSpPr>
          <p:cNvPr id="11" name="path-title-3">
            <a:extLst xmlns:a="http://schemas.openxmlformats.org/drawingml/2006/main">
              <a:ext uri="{FF2B5EF4-FFF2-40B4-BE49-F238E27FC236}">
                <a16:creationId xmlns:a16="http://schemas.microsoft.com/office/drawing/2014/main" id="{E3249C58-C7CC-4A5A-9984-9F9C738010E5}"/>
              </a:ext>
            </a:extLst>
          </p:cNvPr>
          <p:cNvSpPr>
            <a:spLocks xmlns:a="http://schemas.openxmlformats.org/drawingml/2006/main" noGrp="1"/>
          </p:cNvSpPr>
          <p:nvPr/>
        </p:nvSpPr>
        <p:spPr>
          <a:xfrm xmlns:a="http://schemas.openxmlformats.org/drawingml/2006/main">
            <a:off x="7962900"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Ethical digital inspiration</a:t>
            </a:r>
          </a:p>
        </p:txBody>
      </p:sp>
      <p:sp>
        <p:nvSpPr>
          <p:cNvPr id="12" name="path-rule-3">
            <a:extLst xmlns:a="http://schemas.openxmlformats.org/drawingml/2006/main">
              <a:ext uri="{FF2B5EF4-FFF2-40B4-BE49-F238E27FC236}">
                <a16:creationId xmlns:a16="http://schemas.microsoft.com/office/drawing/2014/main" id="{E1B1C7A1-5B06-4565-B0EB-E37CAA5D6011}"/>
              </a:ext>
            </a:extLst>
          </p:cNvPr>
          <p:cNvSpPr>
            <a:spLocks xmlns:a="http://schemas.openxmlformats.org/drawingml/2006/main" noGrp="1"/>
          </p:cNvSpPr>
          <p:nvPr/>
        </p:nvSpPr>
        <p:spPr>
          <a:xfrm xmlns:a="http://schemas.openxmlformats.org/drawingml/2006/main">
            <a:off x="7962900" y="4171950"/>
            <a:ext cx="2724150" cy="47625"/>
          </a:xfrm>
          <a:prstGeom xmlns:a="http://schemas.openxmlformats.org/drawingml/2006/main" prst="rect">
            <a:avLst/>
          </a:prstGeom>
          <a:solidFill xmlns:a="http://schemas.openxmlformats.org/drawingml/2006/main">
            <a:srgbClr val="C94C46"/>
          </a:solidFill>
          <a:ln xmlns:a="http://schemas.openxmlformats.org/drawingml/2006/main" w="0">
            <a:noFill/>
            <a:prstDash val="solid"/>
          </a:ln>
        </p:spPr>
      </p:sp>
      <p:sp>
        <p:nvSpPr>
          <p:cNvPr id="13" name="retrieval-strip">
            <a:extLst xmlns:a="http://schemas.openxmlformats.org/drawingml/2006/main">
              <a:ext uri="{FF2B5EF4-FFF2-40B4-BE49-F238E27FC236}">
                <a16:creationId xmlns:a16="http://schemas.microsoft.com/office/drawing/2014/main" id="{B0C8096A-E5EB-49E3-9B5F-C2954DBDD524}"/>
              </a:ext>
            </a:extLst>
          </p:cNvPr>
          <p:cNvSpPr>
            <a:spLocks xmlns:a="http://schemas.openxmlformats.org/drawingml/2006/main" noGrp="1"/>
          </p:cNvSpPr>
          <p:nvPr/>
        </p:nvSpPr>
        <p:spPr>
          <a:xfrm xmlns:a="http://schemas.openxmlformats.org/drawingml/2006/main">
            <a:off x="609600" y="4914900"/>
            <a:ext cx="10972800" cy="990600"/>
          </a:xfrm>
          <a:prstGeom xmlns:a="http://schemas.openxmlformats.org/drawingml/2006/main" prst="roundRect">
            <a:avLst>
              <a:gd name="adj" fmla="val 17308"/>
            </a:avLst>
          </a:prstGeom>
          <a:solidFill xmlns:a="http://schemas.openxmlformats.org/drawingml/2006/main">
            <a:srgbClr val="721735"/>
          </a:solidFill>
          <a:ln xmlns:a="http://schemas.openxmlformats.org/drawingml/2006/main" w="0">
            <a:noFill/>
            <a:prstDash val="solid"/>
          </a:ln>
        </p:spPr>
      </p:sp>
      <p:sp>
        <p:nvSpPr>
          <p:cNvPr id="14" name="warm-up-label">
            <a:extLst xmlns:a="http://schemas.openxmlformats.org/drawingml/2006/main">
              <a:ext uri="{FF2B5EF4-FFF2-40B4-BE49-F238E27FC236}">
                <a16:creationId xmlns:a16="http://schemas.microsoft.com/office/drawing/2014/main" id="{19B21A82-9B81-4D8D-BA2D-B35B7930D01E}"/>
              </a:ext>
            </a:extLst>
          </p:cNvPr>
          <p:cNvSpPr>
            <a:spLocks xmlns:a="http://schemas.openxmlformats.org/drawingml/2006/main" noGrp="1"/>
          </p:cNvSpPr>
          <p:nvPr/>
        </p:nvSpPr>
        <p:spPr>
          <a:xfrm xmlns:a="http://schemas.openxmlformats.org/drawingml/2006/main">
            <a:off x="876300" y="51054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6A238"/>
                </a:solidFill>
              </a:defRPr>
            </a:pPr>
            <a:r>
              <a:rPr sz="1200" b="1">
                <a:solidFill>
                  <a:srgbClr val="D6A238"/>
                </a:solidFill>
              </a:rPr>
              <a:t>RETRIEVAL WARM-UP</a:t>
            </a:r>
          </a:p>
        </p:txBody>
      </p:sp>
      <p:sp>
        <p:nvSpPr>
          <p:cNvPr id="15" name="warm-up-question">
            <a:extLst xmlns:a="http://schemas.openxmlformats.org/drawingml/2006/main">
              <a:ext uri="{FF2B5EF4-FFF2-40B4-BE49-F238E27FC236}">
                <a16:creationId xmlns:a16="http://schemas.microsoft.com/office/drawing/2014/main" id="{B03644E1-6F21-448B-9A61-42E572B8A515}"/>
              </a:ext>
            </a:extLst>
          </p:cNvPr>
          <p:cNvSpPr>
            <a:spLocks xmlns:a="http://schemas.openxmlformats.org/drawingml/2006/main" noGrp="1"/>
          </p:cNvSpPr>
          <p:nvPr/>
        </p:nvSpPr>
        <p:spPr>
          <a:xfrm xmlns:a="http://schemas.openxmlformats.org/drawingml/2006/main">
            <a:off x="876300" y="5429250"/>
            <a:ext cx="9763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Which idea feels most familiar—and what evidence supports what you think you know?</a:t>
            </a:r>
          </a:p>
        </p:txBody>
      </p:sp>
      <p:sp>
        <p:nvSpPr>
          <p:cNvPr id="16" name="footer-module-2">
            <a:extLst xmlns:a="http://schemas.openxmlformats.org/drawingml/2006/main">
              <a:ext uri="{FF2B5EF4-FFF2-40B4-BE49-F238E27FC236}">
                <a16:creationId xmlns:a16="http://schemas.microsoft.com/office/drawing/2014/main" id="{FDCE2DB3-051D-45F7-8009-E55C394C5BEA}"/>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05 · YEAR 8 TEXTILES TECHNOLOGY</a:t>
            </a:r>
          </a:p>
        </p:txBody>
      </p:sp>
      <p:sp>
        <p:nvSpPr>
          <p:cNvPr id="17" name="footer-number-2">
            <a:extLst xmlns:a="http://schemas.openxmlformats.org/drawingml/2006/main">
              <a:ext uri="{FF2B5EF4-FFF2-40B4-BE49-F238E27FC236}">
                <a16:creationId xmlns:a16="http://schemas.microsoft.com/office/drawing/2014/main" id="{30E5DFDB-3521-40E7-898C-41DFCF84D73A}"/>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02</a:t>
            </a:r>
          </a:p>
        </p:txBody>
      </p:sp>
    </p:spTree>
    <p:extLst>
      <p:ext uri="{BB962C8B-B14F-4D97-AF65-F5344CB8AC3E}">
        <p14:creationId xmlns:p14="http://schemas.microsoft.com/office/powerpoint/2010/main" val="536480298"/>
      </p:ext>
    </p:extLst>
  </p:cSld>
</p:sld>
</file>

<file path=ppt/slides/slide3.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4817F090-B926-4EFA-8808-4EBE688BBE6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F86A6E9B-200B-43FB-8F91-3828F60CD312}"/>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AC2254"/>
                </a:solidFill>
              </a:defRPr>
            </a:pPr>
            <a:r>
              <a:rPr sz="1125" b="1">
                <a:solidFill>
                  <a:srgbClr val="AC2254"/>
                </a:solidFill>
              </a:rPr>
              <a:t>5.1 · FIND THE DECISION-MAKING INFORMATION</a:t>
            </a:r>
          </a:p>
        </p:txBody>
      </p:sp>
      <p:sp>
        <p:nvSpPr>
          <p:cNvPr id="3" name="slide-title">
            <a:extLst xmlns:a="http://schemas.openxmlformats.org/drawingml/2006/main">
              <a:ext uri="{FF2B5EF4-FFF2-40B4-BE49-F238E27FC236}">
                <a16:creationId xmlns:a16="http://schemas.microsoft.com/office/drawing/2014/main" id="{82753C9B-E656-4BB7-841B-1CB80B146543}"/>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Design brief and user</a:t>
            </a:r>
          </a:p>
        </p:txBody>
      </p:sp>
      <p:sp>
        <p:nvSpPr>
          <p:cNvPr id="4" name="image-frame">
            <a:extLst xmlns:a="http://schemas.openxmlformats.org/drawingml/2006/main">
              <a:ext uri="{FF2B5EF4-FFF2-40B4-BE49-F238E27FC236}">
                <a16:creationId xmlns:a16="http://schemas.microsoft.com/office/drawing/2014/main" id="{AC178468-7586-4592-9ED1-647F0FF631B2}"/>
              </a:ext>
            </a:extLst>
          </p:cNvPr>
          <p:cNvSpPr>
            <a:spLocks xmlns:a="http://schemas.openxmlformats.org/drawingml/2006/main" noGrp="1"/>
          </p:cNvSpPr>
          <p:nvPr/>
        </p:nvSpPr>
        <p:spPr>
          <a:xfrm xmlns:a="http://schemas.openxmlformats.org/drawingml/2006/main">
            <a:off x="552450" y="1504950"/>
            <a:ext cx="4953000" cy="3448050"/>
          </a:xfrm>
          <a:prstGeom xmlns:a="http://schemas.openxmlformats.org/drawingml/2006/main" prst="roundRect">
            <a:avLst>
              <a:gd name="adj" fmla="val 4972"/>
            </a:avLst>
          </a:prstGeom>
          <a:solidFill xmlns:a="http://schemas.openxmlformats.org/drawingml/2006/main">
            <a:srgbClr val="AC2254"/>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611d82d7e5b4553"/>
          <a:srcRect xmlns:a="http://schemas.openxmlformats.org/drawingml/2006/main" l="1619" t="0" r="1619" b="0"/>
          <a:stretch xmlns:a="http://schemas.openxmlformats.org/drawingml/2006/main">
            <a:fillRect l="0" t="0" r="0" b="0"/>
          </a:stretch>
        </p:blipFill>
        <p:spPr>
          <a:xfrm xmlns:a="http://schemas.openxmlformats.org/drawingml/2006/main">
            <a:off x="6096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1D3B0BD9-7C7D-4D08-9CA5-81639DFE4E3A}"/>
              </a:ext>
            </a:extLst>
          </p:cNvPr>
          <p:cNvSpPr>
            <a:spLocks xmlns:a="http://schemas.openxmlformats.org/drawingml/2006/main" noGrp="1"/>
          </p:cNvSpPr>
          <p:nvPr/>
        </p:nvSpPr>
        <p:spPr>
          <a:xfrm xmlns:a="http://schemas.openxmlformats.org/drawingml/2006/main">
            <a:off x="6096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A design brief provides the problem, purpose, user, context and confirmed limits.</a:t>
            </a:r>
          </a:p>
        </p:txBody>
      </p:sp>
      <p:sp>
        <p:nvSpPr>
          <p:cNvPr id="7" name="key-idea-label">
            <a:extLst xmlns:a="http://schemas.openxmlformats.org/drawingml/2006/main">
              <a:ext uri="{FF2B5EF4-FFF2-40B4-BE49-F238E27FC236}">
                <a16:creationId xmlns:a16="http://schemas.microsoft.com/office/drawing/2014/main" id="{5364EC66-8835-45B1-9640-95E78485B323}"/>
              </a:ext>
            </a:extLst>
          </p:cNvPr>
          <p:cNvSpPr>
            <a:spLocks xmlns:a="http://schemas.openxmlformats.org/drawingml/2006/main" noGrp="1"/>
          </p:cNvSpPr>
          <p:nvPr/>
        </p:nvSpPr>
        <p:spPr>
          <a:xfrm xmlns:a="http://schemas.openxmlformats.org/drawingml/2006/main">
            <a:off x="5943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C2254"/>
                </a:solidFill>
              </a:defRPr>
            </a:pPr>
            <a:r>
              <a:rPr sz="1200" b="1">
                <a:solidFill>
                  <a:srgbClr val="AC2254"/>
                </a:solidFill>
              </a:rPr>
              <a:t>THE KEY IDEA</a:t>
            </a:r>
          </a:p>
        </p:txBody>
      </p:sp>
      <p:sp>
        <p:nvSpPr>
          <p:cNvPr id="8" name="key-idea-copy">
            <a:extLst xmlns:a="http://schemas.openxmlformats.org/drawingml/2006/main">
              <a:ext uri="{FF2B5EF4-FFF2-40B4-BE49-F238E27FC236}">
                <a16:creationId xmlns:a16="http://schemas.microsoft.com/office/drawing/2014/main" id="{94B02388-3C82-480F-B189-E410544068CE}"/>
              </a:ext>
            </a:extLst>
          </p:cNvPr>
          <p:cNvSpPr>
            <a:spLocks xmlns:a="http://schemas.openxmlformats.org/drawingml/2006/main" noGrp="1"/>
          </p:cNvSpPr>
          <p:nvPr/>
        </p:nvSpPr>
        <p:spPr>
          <a:xfrm xmlns:a="http://schemas.openxmlformats.org/drawingml/2006/main">
            <a:off x="5943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A design brief provides the problem, purpose, user, context and confirmed limits. User questions should collect only information that can influence a design decision. Preferences, needs and target-market patterns are related but not identical. Confirmed constraints guide creativity; rumours and assumptions remain questions.</a:t>
            </a:r>
          </a:p>
        </p:txBody>
      </p:sp>
      <p:sp>
        <p:nvSpPr>
          <p:cNvPr id="9" name="application-block">
            <a:extLst xmlns:a="http://schemas.openxmlformats.org/drawingml/2006/main">
              <a:ext uri="{FF2B5EF4-FFF2-40B4-BE49-F238E27FC236}">
                <a16:creationId xmlns:a16="http://schemas.microsoft.com/office/drawing/2014/main" id="{A9C8ADE8-03D7-4895-AF0C-228531ACF6F6}"/>
              </a:ext>
            </a:extLst>
          </p:cNvPr>
          <p:cNvSpPr>
            <a:spLocks xmlns:a="http://schemas.openxmlformats.org/drawingml/2006/main" noGrp="1"/>
          </p:cNvSpPr>
          <p:nvPr/>
        </p:nvSpPr>
        <p:spPr>
          <a:xfrm xmlns:a="http://schemas.openxmlformats.org/drawingml/2006/main">
            <a:off x="5943600" y="4114800"/>
            <a:ext cx="4838700" cy="1524000"/>
          </a:xfrm>
          <a:prstGeom xmlns:a="http://schemas.openxmlformats.org/drawingml/2006/main" prst="roundRect">
            <a:avLst>
              <a:gd name="adj" fmla="val 10000"/>
            </a:avLst>
          </a:prstGeom>
          <a:solidFill xmlns:a="http://schemas.openxmlformats.org/drawingml/2006/main">
            <a:srgbClr val="F1D5DE"/>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E02AEC0D-F207-480F-BA0D-1455A057C3D3}"/>
              </a:ext>
            </a:extLst>
          </p:cNvPr>
          <p:cNvSpPr>
            <a:spLocks xmlns:a="http://schemas.openxmlformats.org/drawingml/2006/main" noGrp="1"/>
          </p:cNvSpPr>
          <p:nvPr/>
        </p:nvSpPr>
        <p:spPr>
          <a:xfrm xmlns:a="http://schemas.openxmlformats.org/drawingml/2006/main">
            <a:off x="6172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C2254"/>
                </a:solidFill>
              </a:defRPr>
            </a:pPr>
            <a:r>
              <a:rPr sz="1200" b="1">
                <a:solidFill>
                  <a:srgbClr val="AC2254"/>
                </a:solidFill>
              </a:rPr>
              <a:t>USE THIS IDEA</a:t>
            </a:r>
          </a:p>
        </p:txBody>
      </p:sp>
      <p:sp>
        <p:nvSpPr>
          <p:cNvPr id="11" name="application-copy">
            <a:extLst xmlns:a="http://schemas.openxmlformats.org/drawingml/2006/main">
              <a:ext uri="{FF2B5EF4-FFF2-40B4-BE49-F238E27FC236}">
                <a16:creationId xmlns:a16="http://schemas.microsoft.com/office/drawing/2014/main" id="{0C1C2AEC-FC26-462F-BD3B-638D858BFA7C}"/>
              </a:ext>
            </a:extLst>
          </p:cNvPr>
          <p:cNvSpPr>
            <a:spLocks xmlns:a="http://schemas.openxmlformats.org/drawingml/2006/main" noGrp="1"/>
          </p:cNvSpPr>
          <p:nvPr/>
        </p:nvSpPr>
        <p:spPr>
          <a:xfrm xmlns:a="http://schemas.openxmlformats.org/drawingml/2006/main">
            <a:off x="6172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Create a brief audit with four headings: confirmed facts, user evidence, constraints and questions. Rewrite the challenge as one open design question, then state which two decisions the current user evidence can genuinely influence.</a:t>
            </a:r>
          </a:p>
        </p:txBody>
      </p:sp>
      <p:sp>
        <p:nvSpPr>
          <p:cNvPr id="12" name="footer-module-3">
            <a:extLst xmlns:a="http://schemas.openxmlformats.org/drawingml/2006/main">
              <a:ext uri="{FF2B5EF4-FFF2-40B4-BE49-F238E27FC236}">
                <a16:creationId xmlns:a16="http://schemas.microsoft.com/office/drawing/2014/main" id="{BD46DB67-C6B9-41D6-A14B-C9469C0DB94F}"/>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05 · YEAR 8 TEXTILES TECHNOLOGY</a:t>
            </a:r>
          </a:p>
        </p:txBody>
      </p:sp>
      <p:sp>
        <p:nvSpPr>
          <p:cNvPr id="13" name="footer-number-3">
            <a:extLst xmlns:a="http://schemas.openxmlformats.org/drawingml/2006/main">
              <a:ext uri="{FF2B5EF4-FFF2-40B4-BE49-F238E27FC236}">
                <a16:creationId xmlns:a16="http://schemas.microsoft.com/office/drawing/2014/main" id="{00FAE4E2-25EA-47BA-9517-6CC18A4E9DE9}"/>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03</a:t>
            </a:r>
          </a:p>
        </p:txBody>
      </p:sp>
    </p:spTree>
    <p:extLst>
      <p:ext uri="{BB962C8B-B14F-4D97-AF65-F5344CB8AC3E}">
        <p14:creationId xmlns:p14="http://schemas.microsoft.com/office/powerpoint/2010/main" val="579371989"/>
      </p:ext>
    </p:extLst>
  </p:cSld>
</p:sld>
</file>

<file path=ppt/slides/slide4.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18CDEB0D-4788-48EF-982E-06030C2679A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26A61"/>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1D836278-4253-453E-B4D0-34BE48E67DC7}"/>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6A61"/>
                </a:solidFill>
              </a:defRPr>
            </a:pPr>
            <a:r>
              <a:rPr sz="1125" b="1">
                <a:solidFill>
                  <a:srgbClr val="226A61"/>
                </a:solidFill>
              </a:rPr>
              <a:t>5.2 · BUILD A BOARD AROUND ONE DIRECTION</a:t>
            </a:r>
          </a:p>
        </p:txBody>
      </p:sp>
      <p:sp>
        <p:nvSpPr>
          <p:cNvPr id="3" name="slide-title">
            <a:extLst xmlns:a="http://schemas.openxmlformats.org/drawingml/2006/main">
              <a:ext uri="{FF2B5EF4-FFF2-40B4-BE49-F238E27FC236}">
                <a16:creationId xmlns:a16="http://schemas.microsoft.com/office/drawing/2014/main" id="{5A8D0C76-CAF4-452E-A13C-2BA51181BAC1}"/>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Mood boards, colour and texture</a:t>
            </a:r>
          </a:p>
        </p:txBody>
      </p:sp>
      <p:sp>
        <p:nvSpPr>
          <p:cNvPr id="4" name="image-frame">
            <a:extLst xmlns:a="http://schemas.openxmlformats.org/drawingml/2006/main">
              <a:ext uri="{FF2B5EF4-FFF2-40B4-BE49-F238E27FC236}">
                <a16:creationId xmlns:a16="http://schemas.microsoft.com/office/drawing/2014/main" id="{3CF23218-D1E5-46B3-88A6-4120ABEB8164}"/>
              </a:ext>
            </a:extLst>
          </p:cNvPr>
          <p:cNvSpPr>
            <a:spLocks xmlns:a="http://schemas.openxmlformats.org/drawingml/2006/main" noGrp="1"/>
          </p:cNvSpPr>
          <p:nvPr/>
        </p:nvSpPr>
        <p:spPr>
          <a:xfrm xmlns:a="http://schemas.openxmlformats.org/drawingml/2006/main">
            <a:off x="6686550" y="1504950"/>
            <a:ext cx="4953000" cy="3448050"/>
          </a:xfrm>
          <a:prstGeom xmlns:a="http://schemas.openxmlformats.org/drawingml/2006/main" prst="roundRect">
            <a:avLst>
              <a:gd name="adj" fmla="val 4972"/>
            </a:avLst>
          </a:prstGeom>
          <a:solidFill xmlns:a="http://schemas.openxmlformats.org/drawingml/2006/main">
            <a:srgbClr val="226A61"/>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10fe738b8ba4d7d"/>
          <a:srcRect xmlns:a="http://schemas.openxmlformats.org/drawingml/2006/main" l="1619" t="0" r="1619" b="0"/>
          <a:stretch xmlns:a="http://schemas.openxmlformats.org/drawingml/2006/main">
            <a:fillRect l="0" t="0" r="0" b="0"/>
          </a:stretch>
        </p:blipFill>
        <p:spPr>
          <a:xfrm xmlns:a="http://schemas.openxmlformats.org/drawingml/2006/main">
            <a:off x="67437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DB91933B-6366-4928-9E7C-B8C17C9413E3}"/>
              </a:ext>
            </a:extLst>
          </p:cNvPr>
          <p:cNvSpPr>
            <a:spLocks xmlns:a="http://schemas.openxmlformats.org/drawingml/2006/main" noGrp="1"/>
          </p:cNvSpPr>
          <p:nvPr/>
        </p:nvSpPr>
        <p:spPr>
          <a:xfrm xmlns:a="http://schemas.openxmlformats.org/drawingml/2006/main">
            <a:off x="67437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A mood board communicates a focused design direction rather than a collection of finished products to copy.</a:t>
            </a:r>
          </a:p>
        </p:txBody>
      </p:sp>
      <p:sp>
        <p:nvSpPr>
          <p:cNvPr id="7" name="key-idea-label">
            <a:extLst xmlns:a="http://schemas.openxmlformats.org/drawingml/2006/main">
              <a:ext uri="{FF2B5EF4-FFF2-40B4-BE49-F238E27FC236}">
                <a16:creationId xmlns:a16="http://schemas.microsoft.com/office/drawing/2014/main" id="{EE7977CD-8FD3-42AB-8870-9560B2559B48}"/>
              </a:ext>
            </a:extLst>
          </p:cNvPr>
          <p:cNvSpPr>
            <a:spLocks xmlns:a="http://schemas.openxmlformats.org/drawingml/2006/main" noGrp="1"/>
          </p:cNvSpPr>
          <p:nvPr/>
        </p:nvSpPr>
        <p:spPr>
          <a:xfrm xmlns:a="http://schemas.openxmlformats.org/drawingml/2006/main">
            <a:off x="609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26A61"/>
                </a:solidFill>
              </a:defRPr>
            </a:pPr>
            <a:r>
              <a:rPr sz="1200" b="1">
                <a:solidFill>
                  <a:srgbClr val="226A61"/>
                </a:solidFill>
              </a:rPr>
              <a:t>THE KEY IDEA</a:t>
            </a:r>
          </a:p>
        </p:txBody>
      </p:sp>
      <p:sp>
        <p:nvSpPr>
          <p:cNvPr id="8" name="key-idea-copy">
            <a:extLst xmlns:a="http://schemas.openxmlformats.org/drawingml/2006/main">
              <a:ext uri="{FF2B5EF4-FFF2-40B4-BE49-F238E27FC236}">
                <a16:creationId xmlns:a16="http://schemas.microsoft.com/office/drawing/2014/main" id="{67A34CED-E0A9-40A4-8F6B-ADABE1C3D06F}"/>
              </a:ext>
            </a:extLst>
          </p:cNvPr>
          <p:cNvSpPr>
            <a:spLocks xmlns:a="http://schemas.openxmlformats.org/drawingml/2006/main" noGrp="1"/>
          </p:cNvSpPr>
          <p:nvPr/>
        </p:nvSpPr>
        <p:spPr>
          <a:xfrm xmlns:a="http://schemas.openxmlformats.org/drawingml/2006/main">
            <a:off x="609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A mood board communicates a focused design direction rather than a collection of finished products to copy. The class guide uses six to ten images, four to six colours, three textile samples and four to six keywords. Colour roles and texture evidence help turn inspiration into design decisions. Curation removes weak items and makes relationships, evidence and unanswered questions visible.</a:t>
            </a:r>
          </a:p>
        </p:txBody>
      </p:sp>
      <p:sp>
        <p:nvSpPr>
          <p:cNvPr id="9" name="application-block">
            <a:extLst xmlns:a="http://schemas.openxmlformats.org/drawingml/2006/main">
              <a:ext uri="{FF2B5EF4-FFF2-40B4-BE49-F238E27FC236}">
                <a16:creationId xmlns:a16="http://schemas.microsoft.com/office/drawing/2014/main" id="{C6D39914-BE43-4F68-B81A-3FBF3FAAC54F}"/>
              </a:ext>
            </a:extLst>
          </p:cNvPr>
          <p:cNvSpPr>
            <a:spLocks xmlns:a="http://schemas.openxmlformats.org/drawingml/2006/main" noGrp="1"/>
          </p:cNvSpPr>
          <p:nvPr/>
        </p:nvSpPr>
        <p:spPr>
          <a:xfrm xmlns:a="http://schemas.openxmlformats.org/drawingml/2006/main">
            <a:off x="609600" y="4114800"/>
            <a:ext cx="4838700" cy="1524000"/>
          </a:xfrm>
          <a:prstGeom xmlns:a="http://schemas.openxmlformats.org/drawingml/2006/main" prst="roundRect">
            <a:avLst>
              <a:gd name="adj" fmla="val 10000"/>
            </a:avLst>
          </a:prstGeom>
          <a:solidFill xmlns:a="http://schemas.openxmlformats.org/drawingml/2006/main">
            <a:srgbClr val="DCE9E4"/>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18A62A54-B9DD-46BA-BE70-399819C6BC07}"/>
              </a:ext>
            </a:extLst>
          </p:cNvPr>
          <p:cNvSpPr>
            <a:spLocks xmlns:a="http://schemas.openxmlformats.org/drawingml/2006/main" noGrp="1"/>
          </p:cNvSpPr>
          <p:nvPr/>
        </p:nvSpPr>
        <p:spPr>
          <a:xfrm xmlns:a="http://schemas.openxmlformats.org/drawingml/2006/main">
            <a:off x="838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26A61"/>
                </a:solidFill>
              </a:defRPr>
            </a:pPr>
            <a:r>
              <a:rPr sz="1200" b="1">
                <a:solidFill>
                  <a:srgbClr val="226A61"/>
                </a:solidFill>
              </a:rPr>
              <a:t>USE THIS IDEA</a:t>
            </a:r>
          </a:p>
        </p:txBody>
      </p:sp>
      <p:sp>
        <p:nvSpPr>
          <p:cNvPr id="11" name="application-copy">
            <a:extLst xmlns:a="http://schemas.openxmlformats.org/drawingml/2006/main">
              <a:ext uri="{FF2B5EF4-FFF2-40B4-BE49-F238E27FC236}">
                <a16:creationId xmlns:a16="http://schemas.microsoft.com/office/drawing/2014/main" id="{44B91D74-A68F-432A-8601-C2793FE76ACB}"/>
              </a:ext>
            </a:extLst>
          </p:cNvPr>
          <p:cNvSpPr>
            <a:spLocks xmlns:a="http://schemas.openxmlformats.org/drawingml/2006/main" noGrp="1"/>
          </p:cNvSpPr>
          <p:nvPr/>
        </p:nvSpPr>
        <p:spPr>
          <a:xfrm xmlns:a="http://schemas.openxmlformats.org/drawingml/2006/main">
            <a:off x="838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Create or refine your Canva mood board using the authorised quantities. Add source records outside the visual composition, then write two sentences explaining how the palette and textile samples respond to the user and brief.</a:t>
            </a:r>
          </a:p>
        </p:txBody>
      </p:sp>
      <p:sp>
        <p:nvSpPr>
          <p:cNvPr id="12" name="footer-module-4">
            <a:extLst xmlns:a="http://schemas.openxmlformats.org/drawingml/2006/main">
              <a:ext uri="{FF2B5EF4-FFF2-40B4-BE49-F238E27FC236}">
                <a16:creationId xmlns:a16="http://schemas.microsoft.com/office/drawing/2014/main" id="{7A3D8235-ED3B-4569-B066-CFE95E8304CE}"/>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05 · YEAR 8 TEXTILES TECHNOLOGY</a:t>
            </a:r>
          </a:p>
        </p:txBody>
      </p:sp>
      <p:sp>
        <p:nvSpPr>
          <p:cNvPr id="13" name="footer-number-4">
            <a:extLst xmlns:a="http://schemas.openxmlformats.org/drawingml/2006/main">
              <a:ext uri="{FF2B5EF4-FFF2-40B4-BE49-F238E27FC236}">
                <a16:creationId xmlns:a16="http://schemas.microsoft.com/office/drawing/2014/main" id="{026704BD-D11C-4CD5-B2DE-C51B8DC7340E}"/>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04</a:t>
            </a:r>
          </a:p>
        </p:txBody>
      </p:sp>
    </p:spTree>
    <p:extLst>
      <p:ext uri="{BB962C8B-B14F-4D97-AF65-F5344CB8AC3E}">
        <p14:creationId xmlns:p14="http://schemas.microsoft.com/office/powerpoint/2010/main" val="689976104"/>
      </p:ext>
    </p:extLst>
  </p:cSld>
</p:sld>
</file>

<file path=ppt/slides/slide5.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D7F87BC6-E20C-4D1D-8A3B-7B839C7A452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C94C46"/>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5B76F50B-6A4E-481E-91A1-FBF1B6F2ED6E}"/>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C94C46"/>
                </a:solidFill>
              </a:defRPr>
            </a:pPr>
            <a:r>
              <a:rPr sz="1125" b="1">
                <a:solidFill>
                  <a:srgbClr val="C94C46"/>
                </a:solidFill>
              </a:rPr>
              <a:t>5.3 · RECORD AND CHECK THE SOURCE</a:t>
            </a:r>
          </a:p>
        </p:txBody>
      </p:sp>
      <p:sp>
        <p:nvSpPr>
          <p:cNvPr id="3" name="slide-title">
            <a:extLst xmlns:a="http://schemas.openxmlformats.org/drawingml/2006/main">
              <a:ext uri="{FF2B5EF4-FFF2-40B4-BE49-F238E27FC236}">
                <a16:creationId xmlns:a16="http://schemas.microsoft.com/office/drawing/2014/main" id="{52EBD7A2-ADC3-497C-93D8-798E9A2460B9}"/>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Ethical digital inspiration</a:t>
            </a:r>
          </a:p>
        </p:txBody>
      </p:sp>
      <p:sp>
        <p:nvSpPr>
          <p:cNvPr id="4" name="image-frame">
            <a:extLst xmlns:a="http://schemas.openxmlformats.org/drawingml/2006/main">
              <a:ext uri="{FF2B5EF4-FFF2-40B4-BE49-F238E27FC236}">
                <a16:creationId xmlns:a16="http://schemas.microsoft.com/office/drawing/2014/main" id="{1E407B01-4B65-496B-83F4-78A23FC779AB}"/>
              </a:ext>
            </a:extLst>
          </p:cNvPr>
          <p:cNvSpPr>
            <a:spLocks xmlns:a="http://schemas.openxmlformats.org/drawingml/2006/main" noGrp="1"/>
          </p:cNvSpPr>
          <p:nvPr/>
        </p:nvSpPr>
        <p:spPr>
          <a:xfrm xmlns:a="http://schemas.openxmlformats.org/drawingml/2006/main">
            <a:off x="552450" y="1504950"/>
            <a:ext cx="4953000" cy="3448050"/>
          </a:xfrm>
          <a:prstGeom xmlns:a="http://schemas.openxmlformats.org/drawingml/2006/main" prst="roundRect">
            <a:avLst>
              <a:gd name="adj" fmla="val 4972"/>
            </a:avLst>
          </a:prstGeom>
          <a:solidFill xmlns:a="http://schemas.openxmlformats.org/drawingml/2006/main">
            <a:srgbClr val="C94C46"/>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ee2058137d44f48"/>
          <a:srcRect xmlns:a="http://schemas.openxmlformats.org/drawingml/2006/main" l="1619" t="0" r="1619" b="0"/>
          <a:stretch xmlns:a="http://schemas.openxmlformats.org/drawingml/2006/main">
            <a:fillRect l="0" t="0" r="0" b="0"/>
          </a:stretch>
        </p:blipFill>
        <p:spPr>
          <a:xfrm xmlns:a="http://schemas.openxmlformats.org/drawingml/2006/main">
            <a:off x="6096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DD33A3A7-A695-4F66-8B06-68D8627D2DB6}"/>
              </a:ext>
            </a:extLst>
          </p:cNvPr>
          <p:cNvSpPr>
            <a:spLocks xmlns:a="http://schemas.openxmlformats.org/drawingml/2006/main" noGrp="1"/>
          </p:cNvSpPr>
          <p:nvPr/>
        </p:nvSpPr>
        <p:spPr>
          <a:xfrm xmlns:a="http://schemas.openxmlformats.org/drawingml/2006/main">
            <a:off x="6096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A searchable or downloadable image is not automatically licensed for reuse.</a:t>
            </a:r>
          </a:p>
        </p:txBody>
      </p:sp>
      <p:sp>
        <p:nvSpPr>
          <p:cNvPr id="7" name="key-idea-label">
            <a:extLst xmlns:a="http://schemas.openxmlformats.org/drawingml/2006/main">
              <a:ext uri="{FF2B5EF4-FFF2-40B4-BE49-F238E27FC236}">
                <a16:creationId xmlns:a16="http://schemas.microsoft.com/office/drawing/2014/main" id="{62C3EB59-4C70-40A7-8F33-6B640B78693E}"/>
              </a:ext>
            </a:extLst>
          </p:cNvPr>
          <p:cNvSpPr>
            <a:spLocks xmlns:a="http://schemas.openxmlformats.org/drawingml/2006/main" noGrp="1"/>
          </p:cNvSpPr>
          <p:nvPr/>
        </p:nvSpPr>
        <p:spPr>
          <a:xfrm xmlns:a="http://schemas.openxmlformats.org/drawingml/2006/main">
            <a:off x="5943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94C46"/>
                </a:solidFill>
              </a:defRPr>
            </a:pPr>
            <a:r>
              <a:rPr sz="1200" b="1">
                <a:solidFill>
                  <a:srgbClr val="C94C46"/>
                </a:solidFill>
              </a:rPr>
              <a:t>THE KEY IDEA</a:t>
            </a:r>
          </a:p>
        </p:txBody>
      </p:sp>
      <p:sp>
        <p:nvSpPr>
          <p:cNvPr id="8" name="key-idea-copy">
            <a:extLst xmlns:a="http://schemas.openxmlformats.org/drawingml/2006/main">
              <a:ext uri="{FF2B5EF4-FFF2-40B4-BE49-F238E27FC236}">
                <a16:creationId xmlns:a16="http://schemas.microsoft.com/office/drawing/2014/main" id="{E1D7AB93-78FB-4114-B98F-BCF8CC038687}"/>
              </a:ext>
            </a:extLst>
          </p:cNvPr>
          <p:cNvSpPr>
            <a:spLocks xmlns:a="http://schemas.openxmlformats.org/drawingml/2006/main" noGrp="1"/>
          </p:cNvSpPr>
          <p:nvPr/>
        </p:nvSpPr>
        <p:spPr>
          <a:xfrm xmlns:a="http://schemas.openxmlformats.org/drawingml/2006/main">
            <a:off x="5943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A searchable or downloadable image is not automatically licensed for reuse. Source records support acknowledgement, fact checking and later rights decisions. ICIP requires respect for the relevant peoples, knowledge, protocols and permissions. Original design development transforms an underlying quality through the brief, user evidence and experimentation.</a:t>
            </a:r>
          </a:p>
        </p:txBody>
      </p:sp>
      <p:sp>
        <p:nvSpPr>
          <p:cNvPr id="9" name="application-block">
            <a:extLst xmlns:a="http://schemas.openxmlformats.org/drawingml/2006/main">
              <a:ext uri="{FF2B5EF4-FFF2-40B4-BE49-F238E27FC236}">
                <a16:creationId xmlns:a16="http://schemas.microsoft.com/office/drawing/2014/main" id="{D608455F-ADAB-4776-90B0-83E2FA5E11F6}"/>
              </a:ext>
            </a:extLst>
          </p:cNvPr>
          <p:cNvSpPr>
            <a:spLocks xmlns:a="http://schemas.openxmlformats.org/drawingml/2006/main" noGrp="1"/>
          </p:cNvSpPr>
          <p:nvPr/>
        </p:nvSpPr>
        <p:spPr>
          <a:xfrm xmlns:a="http://schemas.openxmlformats.org/drawingml/2006/main">
            <a:off x="5943600" y="4114800"/>
            <a:ext cx="4838700" cy="1524000"/>
          </a:xfrm>
          <a:prstGeom xmlns:a="http://schemas.openxmlformats.org/drawingml/2006/main" prst="roundRect">
            <a:avLst>
              <a:gd name="adj" fmla="val 10000"/>
            </a:avLst>
          </a:prstGeom>
          <a:solidFill xmlns:a="http://schemas.openxmlformats.org/drawingml/2006/main">
            <a:srgbClr val="F1D5DE"/>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E3788F88-2C79-41C5-8FA3-68616158876A}"/>
              </a:ext>
            </a:extLst>
          </p:cNvPr>
          <p:cNvSpPr>
            <a:spLocks xmlns:a="http://schemas.openxmlformats.org/drawingml/2006/main" noGrp="1"/>
          </p:cNvSpPr>
          <p:nvPr/>
        </p:nvSpPr>
        <p:spPr>
          <a:xfrm xmlns:a="http://schemas.openxmlformats.org/drawingml/2006/main">
            <a:off x="6172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94C46"/>
                </a:solidFill>
              </a:defRPr>
            </a:pPr>
            <a:r>
              <a:rPr sz="1200" b="1">
                <a:solidFill>
                  <a:srgbClr val="C94C46"/>
                </a:solidFill>
              </a:rPr>
              <a:t>USE THIS IDEA</a:t>
            </a:r>
          </a:p>
        </p:txBody>
      </p:sp>
      <p:sp>
        <p:nvSpPr>
          <p:cNvPr id="11" name="application-copy">
            <a:extLst xmlns:a="http://schemas.openxmlformats.org/drawingml/2006/main">
              <a:ext uri="{FF2B5EF4-FFF2-40B4-BE49-F238E27FC236}">
                <a16:creationId xmlns:a16="http://schemas.microsoft.com/office/drawing/2014/main" id="{BE1F7D5F-D4B7-4487-86C6-F7E0FF9C47C6}"/>
              </a:ext>
            </a:extLst>
          </p:cNvPr>
          <p:cNvSpPr>
            <a:spLocks xmlns:a="http://schemas.openxmlformats.org/drawingml/2006/main" noGrp="1"/>
          </p:cNvSpPr>
          <p:nvPr/>
        </p:nvSpPr>
        <p:spPr>
          <a:xfrm xmlns:a="http://schemas.openxmlformats.org/drawingml/2006/main">
            <a:off x="6172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Audit three items in your inspiration collection. For each, record the source, reuse status and underlying design quality. Replace any unclear public-use image in the final folio export, then develop one quality through three original thumbnails.</a:t>
            </a:r>
          </a:p>
        </p:txBody>
      </p:sp>
      <p:sp>
        <p:nvSpPr>
          <p:cNvPr id="12" name="footer-module-5">
            <a:extLst xmlns:a="http://schemas.openxmlformats.org/drawingml/2006/main">
              <a:ext uri="{FF2B5EF4-FFF2-40B4-BE49-F238E27FC236}">
                <a16:creationId xmlns:a16="http://schemas.microsoft.com/office/drawing/2014/main" id="{FB9F8FD2-B194-4692-B5F1-E89B37394362}"/>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05 · YEAR 8 TEXTILES TECHNOLOGY</a:t>
            </a:r>
          </a:p>
        </p:txBody>
      </p:sp>
      <p:sp>
        <p:nvSpPr>
          <p:cNvPr id="13" name="footer-number-5">
            <a:extLst xmlns:a="http://schemas.openxmlformats.org/drawingml/2006/main">
              <a:ext uri="{FF2B5EF4-FFF2-40B4-BE49-F238E27FC236}">
                <a16:creationId xmlns:a16="http://schemas.microsoft.com/office/drawing/2014/main" id="{9B802E64-F5C5-43F4-B83C-2C20895198EF}"/>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05</a:t>
            </a:r>
          </a:p>
        </p:txBody>
      </p:sp>
    </p:spTree>
    <p:extLst>
      <p:ext uri="{BB962C8B-B14F-4D97-AF65-F5344CB8AC3E}">
        <p14:creationId xmlns:p14="http://schemas.microsoft.com/office/powerpoint/2010/main" val="2066789856"/>
      </p:ext>
    </p:extLst>
  </p:cSld>
</p:sld>
</file>

<file path=ppt/slides/slide6.xml><?xml version="1.0" encoding="utf-8"?>
<p:sld xmlns:p="http://schemas.openxmlformats.org/presentationml/2006/main">
  <p:cSld>
    <p:bg>
      <p:bgPr>
        <a:solidFill xmlns:a="http://schemas.openxmlformats.org/drawingml/2006/main">
          <a:srgbClr val="721735"/>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584C5CD8-5824-4801-9297-34872725E16F}"/>
              </a:ext>
            </a:extLst>
          </p:cNvPr>
          <p:cNvSpPr>
            <a:spLocks xmlns:a="http://schemas.openxmlformats.org/drawingml/2006/main" noGrp="1"/>
          </p:cNvSpPr>
          <p:nvPr/>
        </p:nvSpPr>
        <p:spPr>
          <a:xfrm xmlns:a="http://schemas.openxmlformats.org/drawingml/2006/main">
            <a:off x="609600" y="5524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FFF"/>
                </a:solidFill>
              </a:defRPr>
            </a:pPr>
            <a:r>
              <a:rPr sz="3300" b="1">
                <a:solidFill>
                  <a:srgbClr val="FFFFFF"/>
                </a:solidFill>
              </a:rPr>
              <a:t>Stop. Think. Explain.</a:t>
            </a:r>
          </a:p>
        </p:txBody>
      </p:sp>
      <p:sp>
        <p:nvSpPr>
          <p:cNvPr id="2" name="retrieval-instruction">
            <a:extLst xmlns:a="http://schemas.openxmlformats.org/drawingml/2006/main">
              <a:ext uri="{FF2B5EF4-FFF2-40B4-BE49-F238E27FC236}">
                <a16:creationId xmlns:a16="http://schemas.microsoft.com/office/drawing/2014/main" id="{0380E378-2061-4B19-A27C-BF6E34DC016B}"/>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3DCE5"/>
                </a:solidFill>
              </a:defRPr>
            </a:pPr>
            <a:r>
              <a:rPr sz="1500" b="0">
                <a:solidFill>
                  <a:srgbClr val="F3DCE5"/>
                </a:solidFill>
              </a:rPr>
              <a:t>Correct or improve each claim, then support your answer with evidence from the module.</a:t>
            </a:r>
          </a:p>
        </p:txBody>
      </p:sp>
      <p:sp>
        <p:nvSpPr>
          <p:cNvPr id="3" name="retrieval-number-bg-1">
            <a:extLst xmlns:a="http://schemas.openxmlformats.org/drawingml/2006/main">
              <a:ext uri="{FF2B5EF4-FFF2-40B4-BE49-F238E27FC236}">
                <a16:creationId xmlns:a16="http://schemas.microsoft.com/office/drawing/2014/main" id="{64A50145-9FB5-443C-B5B9-5582121753C3}"/>
              </a:ext>
            </a:extLst>
          </p:cNvPr>
          <p:cNvSpPr>
            <a:spLocks xmlns:a="http://schemas.openxmlformats.org/drawingml/2006/main" noGrp="1"/>
          </p:cNvSpPr>
          <p:nvPr/>
        </p:nvSpPr>
        <p:spPr>
          <a:xfrm xmlns:a="http://schemas.openxmlformats.org/drawingml/2006/main">
            <a:off x="685800" y="1924050"/>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4" name="retrieval-number-1">
            <a:extLst xmlns:a="http://schemas.openxmlformats.org/drawingml/2006/main">
              <a:ext uri="{FF2B5EF4-FFF2-40B4-BE49-F238E27FC236}">
                <a16:creationId xmlns:a16="http://schemas.microsoft.com/office/drawing/2014/main" id="{4E28D4F4-D2C8-495C-9BE8-BAE96BF5BE68}"/>
              </a:ext>
            </a:extLst>
          </p:cNvPr>
          <p:cNvSpPr>
            <a:spLocks xmlns:a="http://schemas.openxmlformats.org/drawingml/2006/main" noGrp="1"/>
          </p:cNvSpPr>
          <p:nvPr/>
        </p:nvSpPr>
        <p:spPr>
          <a:xfrm xmlns:a="http://schemas.openxmlformats.org/drawingml/2006/main">
            <a:off x="685800" y="200977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1</a:t>
            </a:r>
          </a:p>
        </p:txBody>
      </p:sp>
      <p:sp>
        <p:nvSpPr>
          <p:cNvPr id="5" name="retrieval-question-1">
            <a:extLst xmlns:a="http://schemas.openxmlformats.org/drawingml/2006/main">
              <a:ext uri="{FF2B5EF4-FFF2-40B4-BE49-F238E27FC236}">
                <a16:creationId xmlns:a16="http://schemas.microsoft.com/office/drawing/2014/main" id="{A70AAB4B-8984-4D35-B1BA-231856A5C3E4}"/>
              </a:ext>
            </a:extLst>
          </p:cNvPr>
          <p:cNvSpPr>
            <a:spLocks xmlns:a="http://schemas.openxmlformats.org/drawingml/2006/main" noGrp="1"/>
          </p:cNvSpPr>
          <p:nvPr/>
        </p:nvSpPr>
        <p:spPr>
          <a:xfrm xmlns:a="http://schemas.openxmlformats.org/drawingml/2006/main">
            <a:off x="1428750" y="1943100"/>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“Designing for myself means user research is unnecessary.”</a:t>
            </a:r>
          </a:p>
        </p:txBody>
      </p:sp>
      <p:sp>
        <p:nvSpPr>
          <p:cNvPr id="6" name="retrieval-rule-1">
            <a:extLst xmlns:a="http://schemas.openxmlformats.org/drawingml/2006/main">
              <a:ext uri="{FF2B5EF4-FFF2-40B4-BE49-F238E27FC236}">
                <a16:creationId xmlns:a16="http://schemas.microsoft.com/office/drawing/2014/main" id="{D12EA89F-28DD-49E7-A23F-6CDD8B3780F0}"/>
              </a:ext>
            </a:extLst>
          </p:cNvPr>
          <p:cNvSpPr>
            <a:spLocks xmlns:a="http://schemas.openxmlformats.org/drawingml/2006/main" noGrp="1"/>
          </p:cNvSpPr>
          <p:nvPr/>
        </p:nvSpPr>
        <p:spPr>
          <a:xfrm xmlns:a="http://schemas.openxmlformats.org/drawingml/2006/main">
            <a:off x="1428750" y="2657475"/>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7" name="retrieval-number-bg-2">
            <a:extLst xmlns:a="http://schemas.openxmlformats.org/drawingml/2006/main">
              <a:ext uri="{FF2B5EF4-FFF2-40B4-BE49-F238E27FC236}">
                <a16:creationId xmlns:a16="http://schemas.microsoft.com/office/drawing/2014/main" id="{4F6CD35E-8CAE-4EF8-8EA8-E04A0840E6E0}"/>
              </a:ext>
            </a:extLst>
          </p:cNvPr>
          <p:cNvSpPr>
            <a:spLocks xmlns:a="http://schemas.openxmlformats.org/drawingml/2006/main" noGrp="1"/>
          </p:cNvSpPr>
          <p:nvPr/>
        </p:nvSpPr>
        <p:spPr>
          <a:xfrm xmlns:a="http://schemas.openxmlformats.org/drawingml/2006/main">
            <a:off x="685800" y="2924175"/>
            <a:ext cx="457200" cy="457200"/>
          </a:xfrm>
          <a:prstGeom xmlns:a="http://schemas.openxmlformats.org/drawingml/2006/main" prst="roundRect">
            <a:avLst>
              <a:gd name="adj" fmla="val 50000"/>
            </a:avLst>
          </a:prstGeom>
          <a:solidFill xmlns:a="http://schemas.openxmlformats.org/drawingml/2006/main">
            <a:srgbClr val="D6A238"/>
          </a:solidFill>
          <a:ln xmlns:a="http://schemas.openxmlformats.org/drawingml/2006/main" w="0">
            <a:noFill/>
            <a:prstDash val="solid"/>
          </a:ln>
        </p:spPr>
      </p:sp>
      <p:sp>
        <p:nvSpPr>
          <p:cNvPr id="8" name="retrieval-number-2">
            <a:extLst xmlns:a="http://schemas.openxmlformats.org/drawingml/2006/main">
              <a:ext uri="{FF2B5EF4-FFF2-40B4-BE49-F238E27FC236}">
                <a16:creationId xmlns:a16="http://schemas.microsoft.com/office/drawing/2014/main" id="{DBBC9C1E-CD61-40D4-8A91-6A9B3B87971A}"/>
              </a:ext>
            </a:extLst>
          </p:cNvPr>
          <p:cNvSpPr>
            <a:spLocks xmlns:a="http://schemas.openxmlformats.org/drawingml/2006/main" noGrp="1"/>
          </p:cNvSpPr>
          <p:nvPr/>
        </p:nvSpPr>
        <p:spPr>
          <a:xfrm xmlns:a="http://schemas.openxmlformats.org/drawingml/2006/main">
            <a:off x="685800" y="30099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2</a:t>
            </a:r>
          </a:p>
        </p:txBody>
      </p:sp>
      <p:sp>
        <p:nvSpPr>
          <p:cNvPr id="9" name="retrieval-question-2">
            <a:extLst xmlns:a="http://schemas.openxmlformats.org/drawingml/2006/main">
              <a:ext uri="{FF2B5EF4-FFF2-40B4-BE49-F238E27FC236}">
                <a16:creationId xmlns:a16="http://schemas.microsoft.com/office/drawing/2014/main" id="{32371B8E-A39D-4148-9B25-0AA2205D6195}"/>
              </a:ext>
            </a:extLst>
          </p:cNvPr>
          <p:cNvSpPr>
            <a:spLocks xmlns:a="http://schemas.openxmlformats.org/drawingml/2006/main" noGrp="1"/>
          </p:cNvSpPr>
          <p:nvPr/>
        </p:nvSpPr>
        <p:spPr>
          <a:xfrm xmlns:a="http://schemas.openxmlformats.org/drawingml/2006/main">
            <a:off x="1428750" y="2943225"/>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“A mood board should contain as many images as possible.”</a:t>
            </a:r>
          </a:p>
        </p:txBody>
      </p:sp>
      <p:sp>
        <p:nvSpPr>
          <p:cNvPr id="10" name="retrieval-rule-2">
            <a:extLst xmlns:a="http://schemas.openxmlformats.org/drawingml/2006/main">
              <a:ext uri="{FF2B5EF4-FFF2-40B4-BE49-F238E27FC236}">
                <a16:creationId xmlns:a16="http://schemas.microsoft.com/office/drawing/2014/main" id="{E9E39861-ED4C-47B1-9D82-220E6EDF1D08}"/>
              </a:ext>
            </a:extLst>
          </p:cNvPr>
          <p:cNvSpPr>
            <a:spLocks xmlns:a="http://schemas.openxmlformats.org/drawingml/2006/main" noGrp="1"/>
          </p:cNvSpPr>
          <p:nvPr/>
        </p:nvSpPr>
        <p:spPr>
          <a:xfrm xmlns:a="http://schemas.openxmlformats.org/drawingml/2006/main">
            <a:off x="1428750" y="3657600"/>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11" name="retrieval-number-bg-3">
            <a:extLst xmlns:a="http://schemas.openxmlformats.org/drawingml/2006/main">
              <a:ext uri="{FF2B5EF4-FFF2-40B4-BE49-F238E27FC236}">
                <a16:creationId xmlns:a16="http://schemas.microsoft.com/office/drawing/2014/main" id="{BD57B57B-ED43-448C-B7D9-BD39553F9C7A}"/>
              </a:ext>
            </a:extLst>
          </p:cNvPr>
          <p:cNvSpPr>
            <a:spLocks xmlns:a="http://schemas.openxmlformats.org/drawingml/2006/main" noGrp="1"/>
          </p:cNvSpPr>
          <p:nvPr/>
        </p:nvSpPr>
        <p:spPr>
          <a:xfrm xmlns:a="http://schemas.openxmlformats.org/drawingml/2006/main">
            <a:off x="685800" y="3924300"/>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2" name="retrieval-number-3">
            <a:extLst xmlns:a="http://schemas.openxmlformats.org/drawingml/2006/main">
              <a:ext uri="{FF2B5EF4-FFF2-40B4-BE49-F238E27FC236}">
                <a16:creationId xmlns:a16="http://schemas.microsoft.com/office/drawing/2014/main" id="{51DF717A-B6FA-4534-AFAF-4EA979D6982F}"/>
              </a:ext>
            </a:extLst>
          </p:cNvPr>
          <p:cNvSpPr>
            <a:spLocks xmlns:a="http://schemas.openxmlformats.org/drawingml/2006/main" noGrp="1"/>
          </p:cNvSpPr>
          <p:nvPr/>
        </p:nvSpPr>
        <p:spPr>
          <a:xfrm xmlns:a="http://schemas.openxmlformats.org/drawingml/2006/main">
            <a:off x="685800" y="40100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3</a:t>
            </a:r>
          </a:p>
        </p:txBody>
      </p:sp>
      <p:sp>
        <p:nvSpPr>
          <p:cNvPr id="13" name="retrieval-question-3">
            <a:extLst xmlns:a="http://schemas.openxmlformats.org/drawingml/2006/main">
              <a:ext uri="{FF2B5EF4-FFF2-40B4-BE49-F238E27FC236}">
                <a16:creationId xmlns:a16="http://schemas.microsoft.com/office/drawing/2014/main" id="{F573B4E0-E8CE-4605-B36A-F6613004660C}"/>
              </a:ext>
            </a:extLst>
          </p:cNvPr>
          <p:cNvSpPr>
            <a:spLocks xmlns:a="http://schemas.openxmlformats.org/drawingml/2006/main" noGrp="1"/>
          </p:cNvSpPr>
          <p:nvPr/>
        </p:nvSpPr>
        <p:spPr>
          <a:xfrm xmlns:a="http://schemas.openxmlformats.org/drawingml/2006/main">
            <a:off x="1428750" y="3943350"/>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“Giving credit means I can use any image publicly.”</a:t>
            </a:r>
          </a:p>
        </p:txBody>
      </p:sp>
      <p:sp>
        <p:nvSpPr>
          <p:cNvPr id="14" name="retrieval-rule-3">
            <a:extLst xmlns:a="http://schemas.openxmlformats.org/drawingml/2006/main">
              <a:ext uri="{FF2B5EF4-FFF2-40B4-BE49-F238E27FC236}">
                <a16:creationId xmlns:a16="http://schemas.microsoft.com/office/drawing/2014/main" id="{54AFF472-ED62-427A-99B3-778410C229DF}"/>
              </a:ext>
            </a:extLst>
          </p:cNvPr>
          <p:cNvSpPr>
            <a:spLocks xmlns:a="http://schemas.openxmlformats.org/drawingml/2006/main" noGrp="1"/>
          </p:cNvSpPr>
          <p:nvPr/>
        </p:nvSpPr>
        <p:spPr>
          <a:xfrm xmlns:a="http://schemas.openxmlformats.org/drawingml/2006/main">
            <a:off x="1428750" y="4657725"/>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15" name="retrieval-number-bg-4">
            <a:extLst xmlns:a="http://schemas.openxmlformats.org/drawingml/2006/main">
              <a:ext uri="{FF2B5EF4-FFF2-40B4-BE49-F238E27FC236}">
                <a16:creationId xmlns:a16="http://schemas.microsoft.com/office/drawing/2014/main" id="{50BDA32A-1E5C-46BD-871C-FE178BE8E286}"/>
              </a:ext>
            </a:extLst>
          </p:cNvPr>
          <p:cNvSpPr>
            <a:spLocks xmlns:a="http://schemas.openxmlformats.org/drawingml/2006/main" noGrp="1"/>
          </p:cNvSpPr>
          <p:nvPr/>
        </p:nvSpPr>
        <p:spPr>
          <a:xfrm xmlns:a="http://schemas.openxmlformats.org/drawingml/2006/main">
            <a:off x="685800" y="4924425"/>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6" name="retrieval-number-4">
            <a:extLst xmlns:a="http://schemas.openxmlformats.org/drawingml/2006/main">
              <a:ext uri="{FF2B5EF4-FFF2-40B4-BE49-F238E27FC236}">
                <a16:creationId xmlns:a16="http://schemas.microsoft.com/office/drawing/2014/main" id="{8F7B1A3A-A5E2-4B7C-B75C-B31AEAF6018E}"/>
              </a:ext>
            </a:extLst>
          </p:cNvPr>
          <p:cNvSpPr>
            <a:spLocks xmlns:a="http://schemas.openxmlformats.org/drawingml/2006/main" noGrp="1"/>
          </p:cNvSpPr>
          <p:nvPr/>
        </p:nvSpPr>
        <p:spPr>
          <a:xfrm xmlns:a="http://schemas.openxmlformats.org/drawingml/2006/main">
            <a:off x="685800" y="50101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4</a:t>
            </a:r>
          </a:p>
        </p:txBody>
      </p:sp>
      <p:sp>
        <p:nvSpPr>
          <p:cNvPr id="17" name="retrieval-question-4">
            <a:extLst xmlns:a="http://schemas.openxmlformats.org/drawingml/2006/main">
              <a:ext uri="{FF2B5EF4-FFF2-40B4-BE49-F238E27FC236}">
                <a16:creationId xmlns:a16="http://schemas.microsoft.com/office/drawing/2014/main" id="{C736FFE8-47D5-4F3E-A448-BA7D53824663}"/>
              </a:ext>
            </a:extLst>
          </p:cNvPr>
          <p:cNvSpPr>
            <a:spLocks xmlns:a="http://schemas.openxmlformats.org/drawingml/2006/main" noGrp="1"/>
          </p:cNvSpPr>
          <p:nvPr/>
        </p:nvSpPr>
        <p:spPr>
          <a:xfrm xmlns:a="http://schemas.openxmlformats.org/drawingml/2006/main">
            <a:off x="1428750" y="4943475"/>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Connect two ideas: how could one change a decision made with the other?</a:t>
            </a:r>
          </a:p>
        </p:txBody>
      </p:sp>
      <p:sp>
        <p:nvSpPr>
          <p:cNvPr id="18" name="footer-module-6">
            <a:extLst xmlns:a="http://schemas.openxmlformats.org/drawingml/2006/main">
              <a:ext uri="{FF2B5EF4-FFF2-40B4-BE49-F238E27FC236}">
                <a16:creationId xmlns:a16="http://schemas.microsoft.com/office/drawing/2014/main" id="{4033BA34-0270-430C-A7C8-D6A338256DC2}"/>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5DCE5"/>
                </a:solidFill>
              </a:defRPr>
            </a:pPr>
            <a:r>
              <a:rPr sz="900" b="1">
                <a:solidFill>
                  <a:srgbClr val="F5DCE5"/>
                </a:solidFill>
              </a:rPr>
              <a:t>MODULE 05 · YEAR 8 TEXTILES TECHNOLOGY</a:t>
            </a:r>
          </a:p>
        </p:txBody>
      </p:sp>
      <p:sp>
        <p:nvSpPr>
          <p:cNvPr id="19" name="footer-number-6">
            <a:extLst xmlns:a="http://schemas.openxmlformats.org/drawingml/2006/main">
              <a:ext uri="{FF2B5EF4-FFF2-40B4-BE49-F238E27FC236}">
                <a16:creationId xmlns:a16="http://schemas.microsoft.com/office/drawing/2014/main" id="{2EC82EC3-CC25-4A6C-B95B-EA43B2CF4417}"/>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5DCE5"/>
                </a:solidFill>
              </a:defRPr>
            </a:pPr>
            <a:r>
              <a:rPr sz="900" b="1">
                <a:solidFill>
                  <a:srgbClr val="F5DCE5"/>
                </a:solidFill>
              </a:rPr>
              <a:t>06</a:t>
            </a:r>
          </a:p>
        </p:txBody>
      </p:sp>
    </p:spTree>
    <p:extLst>
      <p:ext uri="{BB962C8B-B14F-4D97-AF65-F5344CB8AC3E}">
        <p14:creationId xmlns:p14="http://schemas.microsoft.com/office/powerpoint/2010/main" val="1353386500"/>
      </p:ext>
    </p:extLst>
  </p:cSld>
</p:sld>
</file>

<file path=ppt/slides/slide7.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24" name="top-accent">
            <a:extLst xmlns:a="http://schemas.openxmlformats.org/drawingml/2006/main">
              <a:ext uri="{FF2B5EF4-FFF2-40B4-BE49-F238E27FC236}">
                <a16:creationId xmlns:a16="http://schemas.microsoft.com/office/drawing/2014/main" id="{4E9DBFD9-DC9B-4D79-AC19-93C2E059580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D6A238"/>
          </a:solidFill>
          <a:ln xmlns:a="http://schemas.openxmlformats.org/drawingml/2006/main" w="0">
            <a:noFill/>
            <a:prstDash val="solid"/>
          </a:ln>
        </p:spPr>
      </p:sp>
      <p:sp>
        <p:nvSpPr>
          <p:cNvPr id="2" name="slide-title">
            <a:extLst xmlns:a="http://schemas.openxmlformats.org/drawingml/2006/main">
              <a:ext uri="{FF2B5EF4-FFF2-40B4-BE49-F238E27FC236}">
                <a16:creationId xmlns:a16="http://schemas.microsoft.com/office/drawing/2014/main" id="{FF1E99A6-43E6-4339-88BA-4AC88BE6EA20}"/>
              </a:ext>
            </a:extLst>
          </p:cNvPr>
          <p:cNvSpPr>
            <a:spLocks xmlns:a="http://schemas.openxmlformats.org/drawingml/2006/main" noGrp="1"/>
          </p:cNvSpPr>
          <p:nvPr/>
        </p:nvSpPr>
        <p:spPr>
          <a:xfrm xmlns:a="http://schemas.openxmlformats.org/drawingml/2006/main">
            <a:off x="609600" y="495300"/>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2A101C"/>
                </a:solidFill>
              </a:defRPr>
            </a:pPr>
            <a:r>
              <a:rPr sz="3000" b="1">
                <a:solidFill>
                  <a:srgbClr val="2A101C"/>
                </a:solidFill>
              </a:rPr>
              <a:t>Read → Select → Explain → Check</a:t>
            </a:r>
          </a:p>
        </p:txBody>
      </p:sp>
      <p:sp>
        <p:nvSpPr>
          <p:cNvPr id="3" name="guided-question">
            <a:extLst xmlns:a="http://schemas.openxmlformats.org/drawingml/2006/main">
              <a:ext uri="{FF2B5EF4-FFF2-40B4-BE49-F238E27FC236}">
                <a16:creationId xmlns:a16="http://schemas.microsoft.com/office/drawing/2014/main" id="{77999748-BF0C-46BD-8602-AF7A4EE4A45F}"/>
              </a:ext>
            </a:extLst>
          </p:cNvPr>
          <p:cNvSpPr>
            <a:spLocks xmlns:a="http://schemas.openxmlformats.org/drawingml/2006/main" noGrp="1"/>
          </p:cNvSpPr>
          <p:nvPr/>
        </p:nvSpPr>
        <p:spPr>
          <a:xfrm xmlns:a="http://schemas.openxmlformats.org/drawingml/2006/main">
            <a:off x="609600" y="1200150"/>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C5357"/>
                </a:solidFill>
              </a:defRPr>
            </a:pPr>
            <a:r>
              <a:rPr sz="1500" b="0">
                <a:solidFill>
                  <a:srgbClr val="5C5357"/>
                </a:solidFill>
              </a:rPr>
              <a:t>Explain how one recorded source influenced an original design direction, what rights or protocol checks were required and how the idea was transformed.</a:t>
            </a:r>
          </a:p>
        </p:txBody>
      </p:sp>
      <p:sp>
        <p:nvSpPr>
          <p:cNvPr id="4" name="response-number-1">
            <a:extLst xmlns:a="http://schemas.openxmlformats.org/drawingml/2006/main">
              <a:ext uri="{FF2B5EF4-FFF2-40B4-BE49-F238E27FC236}">
                <a16:creationId xmlns:a16="http://schemas.microsoft.com/office/drawing/2014/main" id="{925A331C-9DE5-455B-9E39-97A578CB5E6D}"/>
              </a:ext>
            </a:extLst>
          </p:cNvPr>
          <p:cNvSpPr>
            <a:spLocks xmlns:a="http://schemas.openxmlformats.org/drawingml/2006/main" noGrp="1"/>
          </p:cNvSpPr>
          <p:nvPr/>
        </p:nvSpPr>
        <p:spPr>
          <a:xfrm xmlns:a="http://schemas.openxmlformats.org/drawingml/2006/main">
            <a:off x="60960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721735"/>
                </a:solidFill>
              </a:defRPr>
            </a:pPr>
            <a:r>
              <a:rPr sz="2700" b="1">
                <a:solidFill>
                  <a:srgbClr val="721735"/>
                </a:solidFill>
              </a:rPr>
              <a:t>1</a:t>
            </a:r>
          </a:p>
        </p:txBody>
      </p:sp>
      <p:sp>
        <p:nvSpPr>
          <p:cNvPr id="5" name="response-label-1">
            <a:extLst xmlns:a="http://schemas.openxmlformats.org/drawingml/2006/main">
              <a:ext uri="{FF2B5EF4-FFF2-40B4-BE49-F238E27FC236}">
                <a16:creationId xmlns:a16="http://schemas.microsoft.com/office/drawing/2014/main" id="{6AB74010-682A-4765-9F37-9AB954CB98AE}"/>
              </a:ext>
            </a:extLst>
          </p:cNvPr>
          <p:cNvSpPr>
            <a:spLocks xmlns:a="http://schemas.openxmlformats.org/drawingml/2006/main" noGrp="1"/>
          </p:cNvSpPr>
          <p:nvPr/>
        </p:nvSpPr>
        <p:spPr>
          <a:xfrm xmlns:a="http://schemas.openxmlformats.org/drawingml/2006/main">
            <a:off x="60960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21735"/>
                </a:solidFill>
              </a:defRPr>
            </a:pPr>
            <a:r>
              <a:rPr sz="1650" b="1">
                <a:solidFill>
                  <a:srgbClr val="721735"/>
                </a:solidFill>
              </a:rPr>
              <a:t>READ</a:t>
            </a:r>
          </a:p>
        </p:txBody>
      </p:sp>
      <p:sp>
        <p:nvSpPr>
          <p:cNvPr id="6" name="response-step-1">
            <a:extLst xmlns:a="http://schemas.openxmlformats.org/drawingml/2006/main">
              <a:ext uri="{FF2B5EF4-FFF2-40B4-BE49-F238E27FC236}">
                <a16:creationId xmlns:a16="http://schemas.microsoft.com/office/drawing/2014/main" id="{114FE512-57D9-4A06-9D18-98FDBED50996}"/>
              </a:ext>
            </a:extLst>
          </p:cNvPr>
          <p:cNvSpPr>
            <a:spLocks xmlns:a="http://schemas.openxmlformats.org/drawingml/2006/main" noGrp="1"/>
          </p:cNvSpPr>
          <p:nvPr/>
        </p:nvSpPr>
        <p:spPr>
          <a:xfrm xmlns:a="http://schemas.openxmlformats.org/drawingml/2006/main">
            <a:off x="60960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Underline the task word and the exact context.</a:t>
            </a:r>
          </a:p>
        </p:txBody>
      </p:sp>
      <p:sp>
        <p:nvSpPr>
          <p:cNvPr id="7" name="response-arrow-1">
            <a:extLst xmlns:a="http://schemas.openxmlformats.org/drawingml/2006/main">
              <a:ext uri="{FF2B5EF4-FFF2-40B4-BE49-F238E27FC236}">
                <a16:creationId xmlns:a16="http://schemas.microsoft.com/office/drawing/2014/main" id="{B7C42718-CED0-4634-BB7A-21A97E09D266}"/>
              </a:ext>
            </a:extLst>
          </p:cNvPr>
          <p:cNvSpPr>
            <a:spLocks xmlns:a="http://schemas.openxmlformats.org/drawingml/2006/main" noGrp="1"/>
          </p:cNvSpPr>
          <p:nvPr/>
        </p:nvSpPr>
        <p:spPr>
          <a:xfrm xmlns:a="http://schemas.openxmlformats.org/drawingml/2006/main">
            <a:off x="294322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8" name="response-number-2">
            <a:extLst xmlns:a="http://schemas.openxmlformats.org/drawingml/2006/main">
              <a:ext uri="{FF2B5EF4-FFF2-40B4-BE49-F238E27FC236}">
                <a16:creationId xmlns:a16="http://schemas.microsoft.com/office/drawing/2014/main" id="{9EDA2769-6B5E-4EC0-B7F8-99CDEA187A3F}"/>
              </a:ext>
            </a:extLst>
          </p:cNvPr>
          <p:cNvSpPr>
            <a:spLocks xmlns:a="http://schemas.openxmlformats.org/drawingml/2006/main" noGrp="1"/>
          </p:cNvSpPr>
          <p:nvPr/>
        </p:nvSpPr>
        <p:spPr>
          <a:xfrm xmlns:a="http://schemas.openxmlformats.org/drawingml/2006/main">
            <a:off x="333375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AC2254"/>
                </a:solidFill>
              </a:defRPr>
            </a:pPr>
            <a:r>
              <a:rPr sz="2700" b="1">
                <a:solidFill>
                  <a:srgbClr val="AC2254"/>
                </a:solidFill>
              </a:rPr>
              <a:t>2</a:t>
            </a:r>
          </a:p>
        </p:txBody>
      </p:sp>
      <p:sp>
        <p:nvSpPr>
          <p:cNvPr id="9" name="response-label-2">
            <a:extLst xmlns:a="http://schemas.openxmlformats.org/drawingml/2006/main">
              <a:ext uri="{FF2B5EF4-FFF2-40B4-BE49-F238E27FC236}">
                <a16:creationId xmlns:a16="http://schemas.microsoft.com/office/drawing/2014/main" id="{EA525E81-2C79-4802-85D0-D2F8EB3EB0CD}"/>
              </a:ext>
            </a:extLst>
          </p:cNvPr>
          <p:cNvSpPr>
            <a:spLocks xmlns:a="http://schemas.openxmlformats.org/drawingml/2006/main" noGrp="1"/>
          </p:cNvSpPr>
          <p:nvPr/>
        </p:nvSpPr>
        <p:spPr>
          <a:xfrm xmlns:a="http://schemas.openxmlformats.org/drawingml/2006/main">
            <a:off x="333375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AC2254"/>
                </a:solidFill>
              </a:defRPr>
            </a:pPr>
            <a:r>
              <a:rPr sz="1650" b="1">
                <a:solidFill>
                  <a:srgbClr val="AC2254"/>
                </a:solidFill>
              </a:rPr>
              <a:t>SELECT</a:t>
            </a:r>
          </a:p>
        </p:txBody>
      </p:sp>
      <p:sp>
        <p:nvSpPr>
          <p:cNvPr id="10" name="response-step-2">
            <a:extLst xmlns:a="http://schemas.openxmlformats.org/drawingml/2006/main">
              <a:ext uri="{FF2B5EF4-FFF2-40B4-BE49-F238E27FC236}">
                <a16:creationId xmlns:a16="http://schemas.microsoft.com/office/drawing/2014/main" id="{D6D2D0AA-9FDD-4D97-9A94-47685E4E87AF}"/>
              </a:ext>
            </a:extLst>
          </p:cNvPr>
          <p:cNvSpPr>
            <a:spLocks xmlns:a="http://schemas.openxmlformats.org/drawingml/2006/main" noGrp="1"/>
          </p:cNvSpPr>
          <p:nvPr/>
        </p:nvSpPr>
        <p:spPr>
          <a:xfrm xmlns:a="http://schemas.openxmlformats.org/drawingml/2006/main">
            <a:off x="333375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Choose theory and project evidence that answers it.</a:t>
            </a:r>
          </a:p>
        </p:txBody>
      </p:sp>
      <p:sp>
        <p:nvSpPr>
          <p:cNvPr id="11" name="response-arrow-2">
            <a:extLst xmlns:a="http://schemas.openxmlformats.org/drawingml/2006/main">
              <a:ext uri="{FF2B5EF4-FFF2-40B4-BE49-F238E27FC236}">
                <a16:creationId xmlns:a16="http://schemas.microsoft.com/office/drawing/2014/main" id="{BC2FB9CF-A1BB-46D2-8878-B1781F119D5A}"/>
              </a:ext>
            </a:extLst>
          </p:cNvPr>
          <p:cNvSpPr>
            <a:spLocks xmlns:a="http://schemas.openxmlformats.org/drawingml/2006/main" noGrp="1"/>
          </p:cNvSpPr>
          <p:nvPr/>
        </p:nvSpPr>
        <p:spPr>
          <a:xfrm xmlns:a="http://schemas.openxmlformats.org/drawingml/2006/main">
            <a:off x="566737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12" name="response-number-3">
            <a:extLst xmlns:a="http://schemas.openxmlformats.org/drawingml/2006/main">
              <a:ext uri="{FF2B5EF4-FFF2-40B4-BE49-F238E27FC236}">
                <a16:creationId xmlns:a16="http://schemas.microsoft.com/office/drawing/2014/main" id="{EA89F231-DDD0-45D0-B69D-46BFD75BCC44}"/>
              </a:ext>
            </a:extLst>
          </p:cNvPr>
          <p:cNvSpPr>
            <a:spLocks xmlns:a="http://schemas.openxmlformats.org/drawingml/2006/main" noGrp="1"/>
          </p:cNvSpPr>
          <p:nvPr/>
        </p:nvSpPr>
        <p:spPr>
          <a:xfrm xmlns:a="http://schemas.openxmlformats.org/drawingml/2006/main">
            <a:off x="605790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D6A238"/>
                </a:solidFill>
              </a:defRPr>
            </a:pPr>
            <a:r>
              <a:rPr sz="2700" b="1">
                <a:solidFill>
                  <a:srgbClr val="D6A238"/>
                </a:solidFill>
              </a:rPr>
              <a:t>3</a:t>
            </a:r>
          </a:p>
        </p:txBody>
      </p:sp>
      <p:sp>
        <p:nvSpPr>
          <p:cNvPr id="13" name="response-label-3">
            <a:extLst xmlns:a="http://schemas.openxmlformats.org/drawingml/2006/main">
              <a:ext uri="{FF2B5EF4-FFF2-40B4-BE49-F238E27FC236}">
                <a16:creationId xmlns:a16="http://schemas.microsoft.com/office/drawing/2014/main" id="{455A641E-C862-49C1-BBB9-B83DA5925429}"/>
              </a:ext>
            </a:extLst>
          </p:cNvPr>
          <p:cNvSpPr>
            <a:spLocks xmlns:a="http://schemas.openxmlformats.org/drawingml/2006/main" noGrp="1"/>
          </p:cNvSpPr>
          <p:nvPr/>
        </p:nvSpPr>
        <p:spPr>
          <a:xfrm xmlns:a="http://schemas.openxmlformats.org/drawingml/2006/main">
            <a:off x="605790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6A238"/>
                </a:solidFill>
              </a:defRPr>
            </a:pPr>
            <a:r>
              <a:rPr sz="1650" b="1">
                <a:solidFill>
                  <a:srgbClr val="D6A238"/>
                </a:solidFill>
              </a:rPr>
              <a:t>EXPLAIN</a:t>
            </a:r>
          </a:p>
        </p:txBody>
      </p:sp>
      <p:sp>
        <p:nvSpPr>
          <p:cNvPr id="14" name="response-step-3">
            <a:extLst xmlns:a="http://schemas.openxmlformats.org/drawingml/2006/main">
              <a:ext uri="{FF2B5EF4-FFF2-40B4-BE49-F238E27FC236}">
                <a16:creationId xmlns:a16="http://schemas.microsoft.com/office/drawing/2014/main" id="{89CB0203-1FB8-437D-9374-58DD3D6E6686}"/>
              </a:ext>
            </a:extLst>
          </p:cNvPr>
          <p:cNvSpPr>
            <a:spLocks xmlns:a="http://schemas.openxmlformats.org/drawingml/2006/main" noGrp="1"/>
          </p:cNvSpPr>
          <p:nvPr/>
        </p:nvSpPr>
        <p:spPr>
          <a:xfrm xmlns:a="http://schemas.openxmlformats.org/drawingml/2006/main">
            <a:off x="605790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Connect the evidence to a reason, effect or judgement.</a:t>
            </a:r>
          </a:p>
        </p:txBody>
      </p:sp>
      <p:sp>
        <p:nvSpPr>
          <p:cNvPr id="15" name="response-arrow-3">
            <a:extLst xmlns:a="http://schemas.openxmlformats.org/drawingml/2006/main">
              <a:ext uri="{FF2B5EF4-FFF2-40B4-BE49-F238E27FC236}">
                <a16:creationId xmlns:a16="http://schemas.microsoft.com/office/drawing/2014/main" id="{15BE8098-8D72-4039-BA40-8792CD5F863B}"/>
              </a:ext>
            </a:extLst>
          </p:cNvPr>
          <p:cNvSpPr>
            <a:spLocks xmlns:a="http://schemas.openxmlformats.org/drawingml/2006/main" noGrp="1"/>
          </p:cNvSpPr>
          <p:nvPr/>
        </p:nvSpPr>
        <p:spPr>
          <a:xfrm xmlns:a="http://schemas.openxmlformats.org/drawingml/2006/main">
            <a:off x="839152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16" name="response-number-4">
            <a:extLst xmlns:a="http://schemas.openxmlformats.org/drawingml/2006/main">
              <a:ext uri="{FF2B5EF4-FFF2-40B4-BE49-F238E27FC236}">
                <a16:creationId xmlns:a16="http://schemas.microsoft.com/office/drawing/2014/main" id="{500213C7-9583-4244-BEFE-CC1DA616CD7C}"/>
              </a:ext>
            </a:extLst>
          </p:cNvPr>
          <p:cNvSpPr>
            <a:spLocks xmlns:a="http://schemas.openxmlformats.org/drawingml/2006/main" noGrp="1"/>
          </p:cNvSpPr>
          <p:nvPr/>
        </p:nvSpPr>
        <p:spPr>
          <a:xfrm xmlns:a="http://schemas.openxmlformats.org/drawingml/2006/main">
            <a:off x="878205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226A61"/>
                </a:solidFill>
              </a:defRPr>
            </a:pPr>
            <a:r>
              <a:rPr sz="2700" b="1">
                <a:solidFill>
                  <a:srgbClr val="226A61"/>
                </a:solidFill>
              </a:rPr>
              <a:t>4</a:t>
            </a:r>
          </a:p>
        </p:txBody>
      </p:sp>
      <p:sp>
        <p:nvSpPr>
          <p:cNvPr id="17" name="response-label-4">
            <a:extLst xmlns:a="http://schemas.openxmlformats.org/drawingml/2006/main">
              <a:ext uri="{FF2B5EF4-FFF2-40B4-BE49-F238E27FC236}">
                <a16:creationId xmlns:a16="http://schemas.microsoft.com/office/drawing/2014/main" id="{944A72CC-0EDD-40DA-8F6D-4253AA37DE18}"/>
              </a:ext>
            </a:extLst>
          </p:cNvPr>
          <p:cNvSpPr>
            <a:spLocks xmlns:a="http://schemas.openxmlformats.org/drawingml/2006/main" noGrp="1"/>
          </p:cNvSpPr>
          <p:nvPr/>
        </p:nvSpPr>
        <p:spPr>
          <a:xfrm xmlns:a="http://schemas.openxmlformats.org/drawingml/2006/main">
            <a:off x="878205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26A61"/>
                </a:solidFill>
              </a:defRPr>
            </a:pPr>
            <a:r>
              <a:rPr sz="1650" b="1">
                <a:solidFill>
                  <a:srgbClr val="226A61"/>
                </a:solidFill>
              </a:rPr>
              <a:t>CHECK</a:t>
            </a:r>
          </a:p>
        </p:txBody>
      </p:sp>
      <p:sp>
        <p:nvSpPr>
          <p:cNvPr id="18" name="response-step-4">
            <a:extLst xmlns:a="http://schemas.openxmlformats.org/drawingml/2006/main">
              <a:ext uri="{FF2B5EF4-FFF2-40B4-BE49-F238E27FC236}">
                <a16:creationId xmlns:a16="http://schemas.microsoft.com/office/drawing/2014/main" id="{1BECCA62-2C57-4DE8-A626-7177C08A4350}"/>
              </a:ext>
            </a:extLst>
          </p:cNvPr>
          <p:cNvSpPr>
            <a:spLocks xmlns:a="http://schemas.openxmlformats.org/drawingml/2006/main" noGrp="1"/>
          </p:cNvSpPr>
          <p:nvPr/>
        </p:nvSpPr>
        <p:spPr>
          <a:xfrm xmlns:a="http://schemas.openxmlformats.org/drawingml/2006/main">
            <a:off x="878205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Compare the response with the two success criteria.</a:t>
            </a:r>
          </a:p>
        </p:txBody>
      </p:sp>
      <p:sp>
        <p:nvSpPr>
          <p:cNvPr id="19" name="sentence-support">
            <a:extLst xmlns:a="http://schemas.openxmlformats.org/drawingml/2006/main">
              <a:ext uri="{FF2B5EF4-FFF2-40B4-BE49-F238E27FC236}">
                <a16:creationId xmlns:a16="http://schemas.microsoft.com/office/drawing/2014/main" id="{B136D17C-1D68-4C12-B275-8E539B6DC381}"/>
              </a:ext>
            </a:extLst>
          </p:cNvPr>
          <p:cNvSpPr>
            <a:spLocks xmlns:a="http://schemas.openxmlformats.org/drawingml/2006/main" noGrp="1"/>
          </p:cNvSpPr>
          <p:nvPr/>
        </p:nvSpPr>
        <p:spPr>
          <a:xfrm xmlns:a="http://schemas.openxmlformats.org/drawingml/2006/main">
            <a:off x="609600" y="4895850"/>
            <a:ext cx="10972800" cy="1123950"/>
          </a:xfrm>
          <a:prstGeom xmlns:a="http://schemas.openxmlformats.org/drawingml/2006/main" prst="roundRect">
            <a:avLst>
              <a:gd name="adj" fmla="val 13559"/>
            </a:avLst>
          </a:prstGeom>
          <a:solidFill xmlns:a="http://schemas.openxmlformats.org/drawingml/2006/main">
            <a:srgbClr val="721735"/>
          </a:solidFill>
          <a:ln xmlns:a="http://schemas.openxmlformats.org/drawingml/2006/main" w="0">
            <a:noFill/>
            <a:prstDash val="solid"/>
          </a:ln>
        </p:spPr>
      </p:sp>
      <p:sp>
        <p:nvSpPr>
          <p:cNvPr id="20" name="sentence-support-label">
            <a:extLst xmlns:a="http://schemas.openxmlformats.org/drawingml/2006/main">
              <a:ext uri="{FF2B5EF4-FFF2-40B4-BE49-F238E27FC236}">
                <a16:creationId xmlns:a16="http://schemas.microsoft.com/office/drawing/2014/main" id="{6CB6DEA5-CE60-4186-9931-A687B0C4686E}"/>
              </a:ext>
            </a:extLst>
          </p:cNvPr>
          <p:cNvSpPr>
            <a:spLocks xmlns:a="http://schemas.openxmlformats.org/drawingml/2006/main" noGrp="1"/>
          </p:cNvSpPr>
          <p:nvPr/>
        </p:nvSpPr>
        <p:spPr>
          <a:xfrm xmlns:a="http://schemas.openxmlformats.org/drawingml/2006/main">
            <a:off x="838200" y="50863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A238"/>
                </a:solidFill>
              </a:defRPr>
            </a:pPr>
            <a:r>
              <a:rPr sz="1125" b="1">
                <a:solidFill>
                  <a:srgbClr val="D6A238"/>
                </a:solidFill>
              </a:rPr>
              <a:t>SENTENCE SUPPORT</a:t>
            </a:r>
          </a:p>
        </p:txBody>
      </p:sp>
      <p:sp>
        <p:nvSpPr>
          <p:cNvPr id="21" name="sentence-stem">
            <a:extLst xmlns:a="http://schemas.openxmlformats.org/drawingml/2006/main">
              <a:ext uri="{FF2B5EF4-FFF2-40B4-BE49-F238E27FC236}">
                <a16:creationId xmlns:a16="http://schemas.microsoft.com/office/drawing/2014/main" id="{2477E164-DF0C-4758-BDC2-7A71C368F450}"/>
              </a:ext>
            </a:extLst>
          </p:cNvPr>
          <p:cNvSpPr>
            <a:spLocks xmlns:a="http://schemas.openxmlformats.org/drawingml/2006/main" noGrp="1"/>
          </p:cNvSpPr>
          <p:nvPr/>
        </p:nvSpPr>
        <p:spPr>
          <a:xfrm xmlns:a="http://schemas.openxmlformats.org/drawingml/2006/main">
            <a:off x="838200" y="5438775"/>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One decision I would make is ___ because evidence from ___ shows ___. I would check it by ___.</a:t>
            </a:r>
          </a:p>
        </p:txBody>
      </p:sp>
      <p:sp>
        <p:nvSpPr>
          <p:cNvPr id="22" name="footer-module-7">
            <a:extLst xmlns:a="http://schemas.openxmlformats.org/drawingml/2006/main">
              <a:ext uri="{FF2B5EF4-FFF2-40B4-BE49-F238E27FC236}">
                <a16:creationId xmlns:a16="http://schemas.microsoft.com/office/drawing/2014/main" id="{13F275D2-8CFA-46EA-860B-36AF9CFDCCA1}"/>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05 · YEAR 8 TEXTILES TECHNOLOGY</a:t>
            </a:r>
          </a:p>
        </p:txBody>
      </p:sp>
      <p:sp>
        <p:nvSpPr>
          <p:cNvPr id="23" name="footer-number-7">
            <a:extLst xmlns:a="http://schemas.openxmlformats.org/drawingml/2006/main">
              <a:ext uri="{FF2B5EF4-FFF2-40B4-BE49-F238E27FC236}">
                <a16:creationId xmlns:a16="http://schemas.microsoft.com/office/drawing/2014/main" id="{40536A0C-99C7-40D6-A86F-FEC2F9C5F3D4}"/>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07</a:t>
            </a:r>
          </a:p>
        </p:txBody>
      </p:sp>
    </p:spTree>
    <p:extLst>
      <p:ext uri="{BB962C8B-B14F-4D97-AF65-F5344CB8AC3E}">
        <p14:creationId xmlns:p14="http://schemas.microsoft.com/office/powerpoint/2010/main" val="776020235"/>
      </p:ext>
    </p:extLst>
  </p:cSld>
</p:sld>
</file>

<file path=ppt/slides/slide8.xml><?xml version="1.0" encoding="utf-8"?>
<p:sld xmlns:p="http://schemas.openxmlformats.org/presentationml/2006/main">
  <p:cSld>
    <p:bg>
      <p:bgPr>
        <a:solidFill xmlns:a="http://schemas.openxmlformats.org/drawingml/2006/main">
          <a:srgbClr val="C94C46"/>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5B0D4FD7-E697-4218-BFDD-BA67591BDF3D}"/>
              </a:ext>
            </a:extLst>
          </p:cNvPr>
          <p:cNvSpPr>
            <a:spLocks xmlns:a="http://schemas.openxmlformats.org/drawingml/2006/main" noGrp="1"/>
          </p:cNvSpPr>
          <p:nvPr/>
        </p:nvSpPr>
        <p:spPr>
          <a:xfrm xmlns:a="http://schemas.openxmlformats.org/drawingml/2006/main">
            <a:off x="609600" y="5524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FFF"/>
                </a:solidFill>
              </a:defRPr>
            </a:pPr>
            <a:r>
              <a:rPr sz="3300" b="1">
                <a:solidFill>
                  <a:srgbClr val="FFFFFF"/>
                </a:solidFill>
              </a:rPr>
              <a:t>Before you leave…</a:t>
            </a:r>
          </a:p>
        </p:txBody>
      </p:sp>
      <p:sp>
        <p:nvSpPr>
          <p:cNvPr id="2" name="exit-number-1">
            <a:extLst xmlns:a="http://schemas.openxmlformats.org/drawingml/2006/main">
              <a:ext uri="{FF2B5EF4-FFF2-40B4-BE49-F238E27FC236}">
                <a16:creationId xmlns:a16="http://schemas.microsoft.com/office/drawing/2014/main" id="{100D3C81-A2EA-474C-AC2D-81DD15CF76DB}"/>
              </a:ext>
            </a:extLst>
          </p:cNvPr>
          <p:cNvSpPr>
            <a:spLocks xmlns:a="http://schemas.openxmlformats.org/drawingml/2006/main" noGrp="1"/>
          </p:cNvSpPr>
          <p:nvPr/>
        </p:nvSpPr>
        <p:spPr>
          <a:xfrm xmlns:a="http://schemas.openxmlformats.org/drawingml/2006/main">
            <a:off x="666750" y="167640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1.</a:t>
            </a:r>
          </a:p>
        </p:txBody>
      </p:sp>
      <p:sp>
        <p:nvSpPr>
          <p:cNvPr id="3" name="exit-prompt-1">
            <a:extLst xmlns:a="http://schemas.openxmlformats.org/drawingml/2006/main">
              <a:ext uri="{FF2B5EF4-FFF2-40B4-BE49-F238E27FC236}">
                <a16:creationId xmlns:a16="http://schemas.microsoft.com/office/drawing/2014/main" id="{8A88007F-3641-43A7-8287-73609AF54EA7}"/>
              </a:ext>
            </a:extLst>
          </p:cNvPr>
          <p:cNvSpPr>
            <a:spLocks xmlns:a="http://schemas.openxmlformats.org/drawingml/2006/main" noGrp="1"/>
          </p:cNvSpPr>
          <p:nvPr/>
        </p:nvSpPr>
        <p:spPr>
          <a:xfrm xmlns:a="http://schemas.openxmlformats.org/drawingml/2006/main">
            <a:off x="1295400" y="16764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idea I can now explain is…</a:t>
            </a:r>
          </a:p>
        </p:txBody>
      </p:sp>
      <p:sp>
        <p:nvSpPr>
          <p:cNvPr id="4" name="exit-rule-1">
            <a:extLst xmlns:a="http://schemas.openxmlformats.org/drawingml/2006/main">
              <a:ext uri="{FF2B5EF4-FFF2-40B4-BE49-F238E27FC236}">
                <a16:creationId xmlns:a16="http://schemas.microsoft.com/office/drawing/2014/main" id="{9D8F9E97-F2BC-4C6C-9D79-FA5056A47724}"/>
              </a:ext>
            </a:extLst>
          </p:cNvPr>
          <p:cNvSpPr>
            <a:spLocks xmlns:a="http://schemas.openxmlformats.org/drawingml/2006/main" noGrp="1"/>
          </p:cNvSpPr>
          <p:nvPr/>
        </p:nvSpPr>
        <p:spPr>
          <a:xfrm xmlns:a="http://schemas.openxmlformats.org/drawingml/2006/main">
            <a:off x="1295400" y="2190750"/>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5" name="exit-number-2">
            <a:extLst xmlns:a="http://schemas.openxmlformats.org/drawingml/2006/main">
              <a:ext uri="{FF2B5EF4-FFF2-40B4-BE49-F238E27FC236}">
                <a16:creationId xmlns:a16="http://schemas.microsoft.com/office/drawing/2014/main" id="{7AF01CCA-9D0E-4DB7-BE59-07E51318A267}"/>
              </a:ext>
            </a:extLst>
          </p:cNvPr>
          <p:cNvSpPr>
            <a:spLocks xmlns:a="http://schemas.openxmlformats.org/drawingml/2006/main" noGrp="1"/>
          </p:cNvSpPr>
          <p:nvPr/>
        </p:nvSpPr>
        <p:spPr>
          <a:xfrm xmlns:a="http://schemas.openxmlformats.org/drawingml/2006/main">
            <a:off x="666750" y="2676525"/>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2.</a:t>
            </a:r>
          </a:p>
        </p:txBody>
      </p:sp>
      <p:sp>
        <p:nvSpPr>
          <p:cNvPr id="6" name="exit-prompt-2">
            <a:extLst xmlns:a="http://schemas.openxmlformats.org/drawingml/2006/main">
              <a:ext uri="{FF2B5EF4-FFF2-40B4-BE49-F238E27FC236}">
                <a16:creationId xmlns:a16="http://schemas.microsoft.com/office/drawing/2014/main" id="{9562C283-5B08-460B-8DA4-D2C500DB541D}"/>
              </a:ext>
            </a:extLst>
          </p:cNvPr>
          <p:cNvSpPr>
            <a:spLocks xmlns:a="http://schemas.openxmlformats.org/drawingml/2006/main" noGrp="1"/>
          </p:cNvSpPr>
          <p:nvPr/>
        </p:nvSpPr>
        <p:spPr>
          <a:xfrm xmlns:a="http://schemas.openxmlformats.org/drawingml/2006/main">
            <a:off x="1295400" y="267652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practical or design decision this changes is…</a:t>
            </a:r>
          </a:p>
        </p:txBody>
      </p:sp>
      <p:sp>
        <p:nvSpPr>
          <p:cNvPr id="7" name="exit-rule-2">
            <a:extLst xmlns:a="http://schemas.openxmlformats.org/drawingml/2006/main">
              <a:ext uri="{FF2B5EF4-FFF2-40B4-BE49-F238E27FC236}">
                <a16:creationId xmlns:a16="http://schemas.microsoft.com/office/drawing/2014/main" id="{5157825D-D566-4AE7-B6BE-74A921A91A90}"/>
              </a:ext>
            </a:extLst>
          </p:cNvPr>
          <p:cNvSpPr>
            <a:spLocks xmlns:a="http://schemas.openxmlformats.org/drawingml/2006/main" noGrp="1"/>
          </p:cNvSpPr>
          <p:nvPr/>
        </p:nvSpPr>
        <p:spPr>
          <a:xfrm xmlns:a="http://schemas.openxmlformats.org/drawingml/2006/main">
            <a:off x="1295400" y="3190875"/>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8" name="exit-number-3">
            <a:extLst xmlns:a="http://schemas.openxmlformats.org/drawingml/2006/main">
              <a:ext uri="{FF2B5EF4-FFF2-40B4-BE49-F238E27FC236}">
                <a16:creationId xmlns:a16="http://schemas.microsoft.com/office/drawing/2014/main" id="{F8924468-D0C3-4970-BDDE-55207C25EDBF}"/>
              </a:ext>
            </a:extLst>
          </p:cNvPr>
          <p:cNvSpPr>
            <a:spLocks xmlns:a="http://schemas.openxmlformats.org/drawingml/2006/main" noGrp="1"/>
          </p:cNvSpPr>
          <p:nvPr/>
        </p:nvSpPr>
        <p:spPr>
          <a:xfrm xmlns:a="http://schemas.openxmlformats.org/drawingml/2006/main">
            <a:off x="666750" y="36766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3.</a:t>
            </a:r>
          </a:p>
        </p:txBody>
      </p:sp>
      <p:sp>
        <p:nvSpPr>
          <p:cNvPr id="9" name="exit-prompt-3">
            <a:extLst xmlns:a="http://schemas.openxmlformats.org/drawingml/2006/main">
              <a:ext uri="{FF2B5EF4-FFF2-40B4-BE49-F238E27FC236}">
                <a16:creationId xmlns:a16="http://schemas.microsoft.com/office/drawing/2014/main" id="{5494BD37-0FCD-430F-8C65-6B9442AE7C61}"/>
              </a:ext>
            </a:extLst>
          </p:cNvPr>
          <p:cNvSpPr>
            <a:spLocks xmlns:a="http://schemas.openxmlformats.org/drawingml/2006/main" noGrp="1"/>
          </p:cNvSpPr>
          <p:nvPr/>
        </p:nvSpPr>
        <p:spPr>
          <a:xfrm xmlns:a="http://schemas.openxmlformats.org/drawingml/2006/main">
            <a:off x="1295400" y="36766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question or check I still need is…</a:t>
            </a:r>
          </a:p>
        </p:txBody>
      </p:sp>
      <p:sp>
        <p:nvSpPr>
          <p:cNvPr id="10" name="exit-rule-3">
            <a:extLst xmlns:a="http://schemas.openxmlformats.org/drawingml/2006/main">
              <a:ext uri="{FF2B5EF4-FFF2-40B4-BE49-F238E27FC236}">
                <a16:creationId xmlns:a16="http://schemas.microsoft.com/office/drawing/2014/main" id="{B64E64CD-0405-4F02-9753-234F49175CEC}"/>
              </a:ext>
            </a:extLst>
          </p:cNvPr>
          <p:cNvSpPr>
            <a:spLocks xmlns:a="http://schemas.openxmlformats.org/drawingml/2006/main" noGrp="1"/>
          </p:cNvSpPr>
          <p:nvPr/>
        </p:nvSpPr>
        <p:spPr>
          <a:xfrm xmlns:a="http://schemas.openxmlformats.org/drawingml/2006/main">
            <a:off x="1295400" y="4191000"/>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11" name="evidence-destination">
            <a:extLst xmlns:a="http://schemas.openxmlformats.org/drawingml/2006/main">
              <a:ext uri="{FF2B5EF4-FFF2-40B4-BE49-F238E27FC236}">
                <a16:creationId xmlns:a16="http://schemas.microsoft.com/office/drawing/2014/main" id="{2ACF9A5D-1150-4C80-9D54-1C47E1D71F03}"/>
              </a:ext>
            </a:extLst>
          </p:cNvPr>
          <p:cNvSpPr>
            <a:spLocks xmlns:a="http://schemas.openxmlformats.org/drawingml/2006/main" noGrp="1"/>
          </p:cNvSpPr>
          <p:nvPr/>
        </p:nvSpPr>
        <p:spPr>
          <a:xfrm xmlns:a="http://schemas.openxmlformats.org/drawingml/2006/main">
            <a:off x="609600" y="4819650"/>
            <a:ext cx="8572500" cy="990600"/>
          </a:xfrm>
          <a:prstGeom xmlns:a="http://schemas.openxmlformats.org/drawingml/2006/main" prst="roundRect">
            <a:avLst>
              <a:gd name="adj" fmla="val 15385"/>
            </a:avLst>
          </a:prstGeom>
          <a:solidFill xmlns:a="http://schemas.openxmlformats.org/drawingml/2006/main">
            <a:srgbClr val="2A101C"/>
          </a:solidFill>
          <a:ln xmlns:a="http://schemas.openxmlformats.org/drawingml/2006/main" w="0">
            <a:noFill/>
            <a:prstDash val="solid"/>
          </a:ln>
        </p:spPr>
      </p:sp>
      <p:sp>
        <p:nvSpPr>
          <p:cNvPr id="12" name="evidence-label">
            <a:extLst xmlns:a="http://schemas.openxmlformats.org/drawingml/2006/main">
              <a:ext uri="{FF2B5EF4-FFF2-40B4-BE49-F238E27FC236}">
                <a16:creationId xmlns:a16="http://schemas.microsoft.com/office/drawing/2014/main" id="{4EC9CFA0-3E51-4C81-84DA-3337028DF4EB}"/>
              </a:ext>
            </a:extLst>
          </p:cNvPr>
          <p:cNvSpPr>
            <a:spLocks xmlns:a="http://schemas.openxmlformats.org/drawingml/2006/main" noGrp="1"/>
          </p:cNvSpPr>
          <p:nvPr/>
        </p:nvSpPr>
        <p:spPr>
          <a:xfrm xmlns:a="http://schemas.openxmlformats.org/drawingml/2006/main">
            <a:off x="838200" y="50101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A238"/>
                </a:solidFill>
              </a:defRPr>
            </a:pPr>
            <a:r>
              <a:rPr sz="1125" b="1">
                <a:solidFill>
                  <a:srgbClr val="D6A238"/>
                </a:solidFill>
              </a:rPr>
              <a:t>EVIDENCE DESTINATION</a:t>
            </a:r>
          </a:p>
        </p:txBody>
      </p:sp>
      <p:sp>
        <p:nvSpPr>
          <p:cNvPr id="13" name="evidence-copy">
            <a:extLst xmlns:a="http://schemas.openxmlformats.org/drawingml/2006/main">
              <a:ext uri="{FF2B5EF4-FFF2-40B4-BE49-F238E27FC236}">
                <a16:creationId xmlns:a16="http://schemas.microsoft.com/office/drawing/2014/main" id="{2C693811-F47B-4A64-9E3D-4A9C678D84A3}"/>
              </a:ext>
            </a:extLst>
          </p:cNvPr>
          <p:cNvSpPr>
            <a:spLocks xmlns:a="http://schemas.openxmlformats.org/drawingml/2006/main" noGrp="1"/>
          </p:cNvSpPr>
          <p:nvPr/>
        </p:nvSpPr>
        <p:spPr>
          <a:xfrm xmlns:a="http://schemas.openxmlformats.org/drawingml/2006/main">
            <a:off x="838200" y="534352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Complete the three learning packages and save your response on this module page.</a:t>
            </a:r>
          </a:p>
        </p:txBody>
      </p:sp>
      <p:sp>
        <p:nvSpPr>
          <p:cNvPr id="14" name="save-work-circle">
            <a:extLst xmlns:a="http://schemas.openxmlformats.org/drawingml/2006/main">
              <a:ext uri="{FF2B5EF4-FFF2-40B4-BE49-F238E27FC236}">
                <a16:creationId xmlns:a16="http://schemas.microsoft.com/office/drawing/2014/main" id="{9053FCE7-1158-46BE-A331-F9BDB3280CFB}"/>
              </a:ext>
            </a:extLst>
          </p:cNvPr>
          <p:cNvSpPr>
            <a:spLocks xmlns:a="http://schemas.openxmlformats.org/drawingml/2006/main" noGrp="1"/>
          </p:cNvSpPr>
          <p:nvPr/>
        </p:nvSpPr>
        <p:spPr>
          <a:xfrm xmlns:a="http://schemas.openxmlformats.org/drawingml/2006/main">
            <a:off x="9810750" y="2038350"/>
            <a:ext cx="1428750" cy="1428750"/>
          </a:xfrm>
          <a:prstGeom xmlns:a="http://schemas.openxmlformats.org/drawingml/2006/main" prst="roundRect">
            <a:avLst>
              <a:gd name="adj" fmla="val 50000"/>
            </a:avLst>
          </a:prstGeom>
          <a:solidFill xmlns:a="http://schemas.openxmlformats.org/drawingml/2006/main">
            <a:srgbClr val="D6A238"/>
          </a:solidFill>
          <a:ln xmlns:a="http://schemas.openxmlformats.org/drawingml/2006/main" w="0">
            <a:noFill/>
            <a:prstDash val="solid"/>
          </a:ln>
        </p:spPr>
      </p:sp>
      <p:sp>
        <p:nvSpPr>
          <p:cNvPr id="15" name="save-work-text">
            <a:extLst xmlns:a="http://schemas.openxmlformats.org/drawingml/2006/main">
              <a:ext uri="{FF2B5EF4-FFF2-40B4-BE49-F238E27FC236}">
                <a16:creationId xmlns:a16="http://schemas.microsoft.com/office/drawing/2014/main" id="{B1318F9B-EF11-403E-8DBF-AD0F7D37C8B3}"/>
              </a:ext>
            </a:extLst>
          </p:cNvPr>
          <p:cNvSpPr>
            <a:spLocks xmlns:a="http://schemas.openxmlformats.org/drawingml/2006/main" noGrp="1"/>
          </p:cNvSpPr>
          <p:nvPr/>
        </p:nvSpPr>
        <p:spPr>
          <a:xfrm xmlns:a="http://schemas.openxmlformats.org/drawingml/2006/main">
            <a:off x="10039350" y="2333625"/>
            <a:ext cx="971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2A101C"/>
                </a:solidFill>
              </a:defRPr>
            </a:pPr>
            <a:r>
              <a:rPr sz="1650" b="1">
                <a:solidFill>
                  <a:srgbClr val="2A101C"/>
                </a:solidFill>
              </a:rPr>
              <a:t>SAVE</a:t>
            </a:r>
          </a:p>
          <a:p xmlns:a="http://schemas.openxmlformats.org/drawingml/2006/main">
            <a:pPr algn="ctr">
              <a:defRPr sz="1650" b="1">
                <a:solidFill>
                  <a:srgbClr val="2A101C"/>
                </a:solidFill>
              </a:defRPr>
            </a:pPr>
            <a:r>
              <a:rPr sz="1650" b="1">
                <a:solidFill>
                  <a:srgbClr val="2A101C"/>
                </a:solidFill>
              </a:rPr>
              <a:t>YOUR</a:t>
            </a:r>
          </a:p>
          <a:p xmlns:a="http://schemas.openxmlformats.org/drawingml/2006/main">
            <a:pPr algn="ctr">
              <a:defRPr sz="1650" b="1">
                <a:solidFill>
                  <a:srgbClr val="2A101C"/>
                </a:solidFill>
              </a:defRPr>
            </a:pPr>
            <a:r>
              <a:rPr sz="1650" b="1">
                <a:solidFill>
                  <a:srgbClr val="2A101C"/>
                </a:solidFill>
              </a:rPr>
              <a:t>WORK</a:t>
            </a:r>
          </a:p>
        </p:txBody>
      </p:sp>
      <p:sp>
        <p:nvSpPr>
          <p:cNvPr id="16" name="next-step">
            <a:extLst xmlns:a="http://schemas.openxmlformats.org/drawingml/2006/main">
              <a:ext uri="{FF2B5EF4-FFF2-40B4-BE49-F238E27FC236}">
                <a16:creationId xmlns:a16="http://schemas.microsoft.com/office/drawing/2014/main" id="{834EE760-059E-4149-AB21-4B93464EBDB6}"/>
              </a:ext>
            </a:extLst>
          </p:cNvPr>
          <p:cNvSpPr>
            <a:spLocks xmlns:a="http://schemas.openxmlformats.org/drawingml/2006/main" noGrp="1"/>
          </p:cNvSpPr>
          <p:nvPr/>
        </p:nvSpPr>
        <p:spPr>
          <a:xfrm xmlns:a="http://schemas.openxmlformats.org/drawingml/2006/main">
            <a:off x="609600" y="60579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Next: Fibres, Yarns and Fabrics</a:t>
            </a:r>
          </a:p>
        </p:txBody>
      </p:sp>
      <p:sp>
        <p:nvSpPr>
          <p:cNvPr id="17" name="footer-module-8">
            <a:extLst xmlns:a="http://schemas.openxmlformats.org/drawingml/2006/main">
              <a:ext uri="{FF2B5EF4-FFF2-40B4-BE49-F238E27FC236}">
                <a16:creationId xmlns:a16="http://schemas.microsoft.com/office/drawing/2014/main" id="{8503C868-C696-4BCA-938B-836FC9157631}"/>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5DCE5"/>
                </a:solidFill>
              </a:defRPr>
            </a:pPr>
            <a:r>
              <a:rPr sz="900" b="1">
                <a:solidFill>
                  <a:srgbClr val="F5DCE5"/>
                </a:solidFill>
              </a:rPr>
              <a:t>MODULE 05 · YEAR 8 TEXTILES TECHNOLOGY</a:t>
            </a:r>
          </a:p>
        </p:txBody>
      </p:sp>
      <p:sp>
        <p:nvSpPr>
          <p:cNvPr id="18" name="footer-number-8">
            <a:extLst xmlns:a="http://schemas.openxmlformats.org/drawingml/2006/main">
              <a:ext uri="{FF2B5EF4-FFF2-40B4-BE49-F238E27FC236}">
                <a16:creationId xmlns:a16="http://schemas.microsoft.com/office/drawing/2014/main" id="{8511FB03-62F6-4D0B-B4E8-FA9DDC40FE3E}"/>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5DCE5"/>
                </a:solidFill>
              </a:defRPr>
            </a:pPr>
            <a:r>
              <a:rPr sz="900" b="1">
                <a:solidFill>
                  <a:srgbClr val="F5DCE5"/>
                </a:solidFill>
              </a:rPr>
              <a:t>08</a:t>
            </a:r>
          </a:p>
        </p:txBody>
      </p:sp>
    </p:spTree>
    <p:extLst>
      <p:ext uri="{BB962C8B-B14F-4D97-AF65-F5344CB8AC3E}">
        <p14:creationId xmlns:p14="http://schemas.microsoft.com/office/powerpoint/2010/main" val="7257954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2026-08-27T11:20:24.5640000Z</dcterms:created>
  <dcterms:modified xsi:type="dcterms:W3CDTF">2026-08-27T11:20:24.5640000Z</dcterms:modified>
</coreProperties>
</file>